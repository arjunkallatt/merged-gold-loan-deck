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 Kallatt" userId="53ba808f-2122-488a-8dcf-38670c1944ca" providerId="ADAL" clId="{AF3B7544-2F3F-4163-BAD7-875C7692C6C3}"/>
    <pc:docChg chg="custSel modSld">
      <pc:chgData name="Arjun Kallatt" userId="53ba808f-2122-488a-8dcf-38670c1944ca" providerId="ADAL" clId="{AF3B7544-2F3F-4163-BAD7-875C7692C6C3}" dt="2026-08-25T03:22:31.386" v="2" actId="478"/>
      <pc:docMkLst>
        <pc:docMk/>
      </pc:docMkLst>
      <pc:sldChg chg="delSp mod">
        <pc:chgData name="Arjun Kallatt" userId="53ba808f-2122-488a-8dcf-38670c1944ca" providerId="ADAL" clId="{AF3B7544-2F3F-4163-BAD7-875C7692C6C3}" dt="2026-08-25T03:22:31.386" v="2" actId="478"/>
        <pc:sldMkLst>
          <pc:docMk/>
          <pc:sldMk cId="152839324" sldId="261"/>
        </pc:sldMkLst>
        <pc:spChg chg="del">
          <ac:chgData name="Arjun Kallatt" userId="53ba808f-2122-488a-8dcf-38670c1944ca" providerId="ADAL" clId="{AF3B7544-2F3F-4163-BAD7-875C7692C6C3}" dt="2026-08-25T03:22:18.011" v="0" actId="478"/>
          <ac:spMkLst>
            <pc:docMk/>
            <pc:sldMk cId="152839324" sldId="261"/>
            <ac:spMk id="57" creationId="{09E09608-5369-4DEA-8ECE-5605869E1F8F}"/>
          </ac:spMkLst>
        </pc:spChg>
        <pc:spChg chg="del">
          <ac:chgData name="Arjun Kallatt" userId="53ba808f-2122-488a-8dcf-38670c1944ca" providerId="ADAL" clId="{AF3B7544-2F3F-4163-BAD7-875C7692C6C3}" dt="2026-08-25T03:22:21.883" v="1" actId="478"/>
          <ac:spMkLst>
            <pc:docMk/>
            <pc:sldMk cId="152839324" sldId="261"/>
            <ac:spMk id="58" creationId="{253DF54E-F811-431D-88E3-EB50FC5BB254}"/>
          </ac:spMkLst>
        </pc:spChg>
        <pc:spChg chg="del">
          <ac:chgData name="Arjun Kallatt" userId="53ba808f-2122-488a-8dcf-38670c1944ca" providerId="ADAL" clId="{AF3B7544-2F3F-4163-BAD7-875C7692C6C3}" dt="2026-08-25T03:22:31.386" v="2" actId="478"/>
          <ac:spMkLst>
            <pc:docMk/>
            <pc:sldMk cId="152839324" sldId="261"/>
            <ac:spMk id="60" creationId="{406066E0-C38C-4CC0-9CCA-7076082B9D35}"/>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AUM</c:v>
          </c:tx>
          <c:spPr>
            <a:ln w="38100">
              <a:solidFill>
                <a:srgbClr val="1473E6"/>
              </a:solidFill>
              <a:prstDash val="solid"/>
            </a:ln>
          </c:spPr>
          <c:marker>
            <c:symbol val="diamond"/>
            <c:size val="9"/>
            <c:spPr>
              <a:solidFill>
                <a:srgbClr val="1473E6"/>
              </a:solidFill>
            </c:spPr>
          </c:marker>
          <c:dLbls>
            <c:spPr>
              <a:noFill/>
              <a:ln>
                <a:noFill/>
              </a:ln>
              <a:effectLst/>
            </c:spPr>
            <c:txPr>
              <a:bodyPr anchorCtr="1"/>
              <a:lstStyle/>
              <a:p>
                <a:pPr>
                  <a:defRPr sz="1050" b="1">
                    <a:solidFill>
                      <a:srgbClr val="0B1F3A"/>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FY24</c:v>
              </c:pt>
              <c:pt idx="1">
                <c:v>FY25</c:v>
              </c:pt>
              <c:pt idx="2">
                <c:v>FY26</c:v>
              </c:pt>
              <c:pt idx="3">
                <c:v>FY27E</c:v>
              </c:pt>
              <c:pt idx="4">
                <c:v>FY28E</c:v>
              </c:pt>
            </c:strLit>
          </c:cat>
          <c:val>
            <c:numLit>
              <c:formatCode>General</c:formatCode>
              <c:ptCount val="5"/>
              <c:pt idx="0">
                <c:v>9.5</c:v>
              </c:pt>
              <c:pt idx="1">
                <c:v>12</c:v>
              </c:pt>
              <c:pt idx="2">
                <c:v>18</c:v>
              </c:pt>
              <c:pt idx="3">
                <c:v>23.4</c:v>
              </c:pt>
              <c:pt idx="4">
                <c:v>30.4</c:v>
              </c:pt>
            </c:numLit>
          </c:val>
          <c:smooth val="1"/>
          <c:extLst>
            <c:ext xmlns:c16="http://schemas.microsoft.com/office/drawing/2014/chart" uri="{C3380CC4-5D6E-409C-BE32-E72D297353CC}">
              <c16:uniqueId val="{00000000-4558-40DD-96B7-2020CBD57CC0}"/>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8DEE6"/>
            </a:solidFill>
            <a:prstDash val="solid"/>
          </a:ln>
        </c:spPr>
        <c:txPr>
          <a:bodyPr anchorCtr="1"/>
          <a:lstStyle/>
          <a:p>
            <a:pPr>
              <a:defRPr sz="1050">
                <a:solidFill>
                  <a:srgbClr val="5E6B78"/>
                </a:solidFill>
              </a:defRPr>
            </a:pPr>
            <a:endParaRPr lang="en-US"/>
          </a:p>
        </c:txPr>
        <c:crossAx val="48672768"/>
        <c:crosses val="autoZero"/>
        <c:auto val="1"/>
        <c:lblAlgn val="ctr"/>
        <c:lblOffset val="100"/>
        <c:noMultiLvlLbl val="1"/>
      </c:catAx>
      <c:valAx>
        <c:axId val="48672768"/>
        <c:scaling>
          <c:orientation val="minMax"/>
          <c:max val="35"/>
          <c:min val="0"/>
        </c:scaling>
        <c:delete val="0"/>
        <c:axPos val="l"/>
        <c:majorGridlines>
          <c:spPr>
            <a:ln w="9525">
              <a:solidFill>
                <a:srgbClr val="D8DEE6"/>
              </a:solidFill>
              <a:prstDash val="solid"/>
            </a:ln>
          </c:spPr>
        </c:majorGridlines>
        <c:numFmt formatCode="General" sourceLinked="1"/>
        <c:majorTickMark val="none"/>
        <c:minorTickMark val="none"/>
        <c:tickLblPos val="nextTo"/>
        <c:spPr>
          <a:ln w="0">
            <a:noFill/>
            <a:prstDash val="solid"/>
          </a:ln>
        </c:spPr>
        <c:txPr>
          <a:bodyPr anchorCtr="1"/>
          <a:lstStyle/>
          <a:p>
            <a:pPr>
              <a:defRPr sz="975">
                <a:solidFill>
                  <a:srgbClr val="5E6B78"/>
                </a:solidFill>
              </a:defRPr>
            </a:pPr>
            <a:endParaRPr lang="en-US"/>
          </a:p>
        </c:txPr>
        <c:crossAx val="48650112"/>
        <c:crosses val="autoZero"/>
        <c:crossBetween val="between"/>
        <c:majorUnit val="5"/>
      </c:valAx>
    </c:plotArea>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 Cr</c:v>
          </c:tx>
          <c:spPr>
            <a:solidFill>
              <a:srgbClr val="1473E6"/>
            </a:solidFill>
          </c:spPr>
          <c:invertIfNegative val="1"/>
          <c:dLbls>
            <c:spPr>
              <a:noFill/>
              <a:ln>
                <a:noFill/>
              </a:ln>
              <a:effectLst/>
            </c:spPr>
            <c:txPr>
              <a:bodyPr anchorCtr="1"/>
              <a:lstStyle/>
              <a:p>
                <a:pPr>
                  <a:defRPr sz="1050" b="1">
                    <a:solidFill>
                      <a:srgbClr val="0B1F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Technology TAM</c:v>
              </c:pt>
              <c:pt idx="1">
                <c:v>Serviceable SAM</c:v>
              </c:pt>
              <c:pt idx="2">
                <c:v>Base-case SOM</c:v>
              </c:pt>
            </c:strLit>
          </c:cat>
          <c:val>
            <c:numLit>
              <c:formatCode>General</c:formatCode>
              <c:ptCount val="3"/>
              <c:pt idx="0">
                <c:v>1250</c:v>
              </c:pt>
              <c:pt idx="1">
                <c:v>900</c:v>
              </c:pt>
              <c:pt idx="2">
                <c:v>149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A4D-4680-BE38-469207D2B845}"/>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noFill/>
            <a:prstDash val="solid"/>
          </a:ln>
        </c:spPr>
        <c:txPr>
          <a:bodyPr anchorCtr="1"/>
          <a:lstStyle/>
          <a:p>
            <a:pPr>
              <a:defRPr sz="1050">
                <a:solidFill>
                  <a:srgbClr val="5E6B78"/>
                </a:solidFill>
              </a:defRPr>
            </a:pPr>
            <a:endParaRPr lang="en-US"/>
          </a:p>
        </c:txPr>
        <c:crossAx val="48650112"/>
        <c:crosses val="autoZero"/>
        <c:crossBetween val="between"/>
      </c:valAx>
    </c:plotArea>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Revenue</c:v>
          </c:tx>
          <c:spPr>
            <a:solidFill>
              <a:srgbClr val="1473E6"/>
            </a:solidFill>
          </c:spPr>
          <c:invertIfNegative val="1"/>
          <c:dLbls>
            <c:spPr>
              <a:noFill/>
              <a:ln>
                <a:noFill/>
              </a:ln>
              <a:effectLst/>
            </c:spPr>
            <c:txPr>
              <a:bodyPr anchorCtr="1"/>
              <a:lstStyle/>
              <a:p>
                <a:pPr>
                  <a:defRPr sz="900" b="1">
                    <a:solidFill>
                      <a:srgbClr val="0B1F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Y0</c:v>
              </c:pt>
              <c:pt idx="1">
                <c:v>Y1</c:v>
              </c:pt>
              <c:pt idx="2">
                <c:v>Y2</c:v>
              </c:pt>
              <c:pt idx="3">
                <c:v>Y3</c:v>
              </c:pt>
              <c:pt idx="4">
                <c:v>Y4</c:v>
              </c:pt>
              <c:pt idx="5">
                <c:v>Y5</c:v>
              </c:pt>
            </c:strLit>
          </c:cat>
          <c:val>
            <c:numLit>
              <c:formatCode>General</c:formatCode>
              <c:ptCount val="6"/>
              <c:pt idx="0">
                <c:v>0</c:v>
              </c:pt>
              <c:pt idx="1">
                <c:v>1</c:v>
              </c:pt>
              <c:pt idx="2">
                <c:v>12</c:v>
              </c:pt>
              <c:pt idx="3">
                <c:v>28</c:v>
              </c:pt>
              <c:pt idx="4">
                <c:v>46</c:v>
              </c:pt>
              <c:pt idx="5">
                <c:v>62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D04-4EF0-AF62-BF7F87A1E289}"/>
            </c:ext>
          </c:extLst>
        </c:ser>
        <c:ser>
          <c:idx val="1"/>
          <c:order val="1"/>
          <c:tx>
            <c:v>Cost</c:v>
          </c:tx>
          <c:spPr>
            <a:solidFill>
              <a:srgbClr val="8793A0"/>
            </a:solidFill>
          </c:spPr>
          <c:invertIfNegative val="1"/>
          <c:dLbls>
            <c:spPr>
              <a:noFill/>
              <a:ln>
                <a:noFill/>
              </a:ln>
              <a:effectLst/>
            </c:spPr>
            <c:txPr>
              <a:bodyPr anchorCtr="1"/>
              <a:lstStyle/>
              <a:p>
                <a:pPr>
                  <a:defRPr sz="900" b="1">
                    <a:solidFill>
                      <a:srgbClr val="0B1F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Y0</c:v>
              </c:pt>
              <c:pt idx="1">
                <c:v>Y1</c:v>
              </c:pt>
              <c:pt idx="2">
                <c:v>Y2</c:v>
              </c:pt>
              <c:pt idx="3">
                <c:v>Y3</c:v>
              </c:pt>
              <c:pt idx="4">
                <c:v>Y4</c:v>
              </c:pt>
              <c:pt idx="5">
                <c:v>Y5</c:v>
              </c:pt>
            </c:strLit>
          </c:cat>
          <c:val>
            <c:numLit>
              <c:formatCode>General</c:formatCode>
              <c:ptCount val="6"/>
              <c:pt idx="0">
                <c:v>28</c:v>
              </c:pt>
              <c:pt idx="1">
                <c:v>9</c:v>
              </c:pt>
              <c:pt idx="2">
                <c:v>11</c:v>
              </c:pt>
              <c:pt idx="3">
                <c:v>13</c:v>
              </c:pt>
              <c:pt idx="4">
                <c:v>15</c:v>
              </c:pt>
              <c:pt idx="5">
                <c:v>18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D04-4EF0-AF62-BF7F87A1E289}"/>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8DEE6"/>
            </a:solidFill>
            <a:prstDash val="solid"/>
          </a:ln>
        </c:spPr>
        <c:txPr>
          <a:bodyPr anchorCtr="1"/>
          <a:lstStyle/>
          <a:p>
            <a:pPr>
              <a:defRPr sz="1050">
                <a:solidFill>
                  <a:srgbClr val="5E6B78"/>
                </a:solidFill>
              </a:defRPr>
            </a:pPr>
            <a:endParaRPr lang="en-US"/>
          </a:p>
        </c:txPr>
        <c:crossAx val="48672768"/>
        <c:crosses val="autoZero"/>
        <c:auto val="1"/>
        <c:lblAlgn val="ctr"/>
        <c:lblOffset val="100"/>
        <c:noMultiLvlLbl val="1"/>
      </c:catAx>
      <c:valAx>
        <c:axId val="48672768"/>
        <c:scaling>
          <c:orientation val="minMax"/>
          <c:max val="70"/>
          <c:min val="0"/>
        </c:scaling>
        <c:delete val="0"/>
        <c:axPos val="l"/>
        <c:majorGridlines>
          <c:spPr>
            <a:ln w="9525">
              <a:solidFill>
                <a:srgbClr val="D8DEE6"/>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900">
                <a:solidFill>
                  <a:srgbClr val="5E6B78"/>
                </a:solidFill>
              </a:defRPr>
            </a:pPr>
            <a:endParaRPr lang="en-US"/>
          </a:p>
        </c:txPr>
        <c:crossAx val="48650112"/>
        <c:crosses val="autoZero"/>
        <c:crossBetween val="between"/>
        <c:majorUnit val="10"/>
      </c:valAx>
    </c:plotArea>
    <c:legend>
      <c:legendPos val="b"/>
      <c:overlay val="0"/>
      <c:txPr>
        <a:bodyPr anchorCtr="1"/>
        <a:lstStyle/>
        <a:p>
          <a:pPr>
            <a:defRPr sz="975">
              <a:solidFill>
                <a:srgbClr val="5E6B78"/>
              </a:solidFill>
            </a:defRPr>
          </a:pPr>
          <a:endParaRPr lang="en-US"/>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scale and depth: ₹18 lakh crore of organized AUM in FY26, with ICRA forecasting more than ₹30 lakh crore by FY28. The formal market is still small relative to the estimated value of household gold, so the practical opportunity is converting latent collateral through a controlled operating model.</a:t>
            </a:r>
          </a:p>
          <a:p>
            <a:endParaRPr/>
          </a:p>
          <a:p>
            <a:r>
              <a:t>[Sources]</a:t>
            </a:r>
          </a:p>
          <a:p>
            <a:r>
              <a:t>- https://www.icra.in/CommonService/OpenMediaS3?Key=edfc7b8a-92e7-4f59-9480-0cdcb5b58172</a:t>
            </a:r>
          </a:p>
          <a:p>
            <a:r>
              <a:t>- https://www.rbi.org.in/Scripts/PublicationReportDetails.aspx?ID=1324&amp;UrlPage=</a:t>
            </a:r>
          </a:p>
          <a:p>
            <a:r>
              <a:t>- https://www.gold.org/goldhub/research/gold-investment-market-and-financialisation-india-gold-market-series</a:t>
            </a:r>
          </a:p>
          <a:p>
            <a:r>
              <a:t>- https://newsroom.transunioncibil.com/gold-loan-portfolio-grows-38x-since-march-2022-becoming-indias-second-largest-retail-credit-product/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target list is ordered by buying urgency. These six accounts face an immediate platform decision because they are entering, integrating or scaling. Mature incumbents remain strategic, but should be wave two after proof from lighthouse customers.</a:t>
            </a:r>
          </a:p>
          <a:p>
            <a:endParaRPr/>
          </a:p>
          <a:p>
            <a:r>
              <a:t>[Sources]</a:t>
            </a:r>
          </a:p>
          <a:p>
            <a:r>
              <a:t>- https://www.reuters.com/world/india/indias-aditya-birla-capital-enter-gold-loan-market-target-1000-branches-3-years-2026-08-20/</a:t>
            </a:r>
          </a:p>
          <a:p>
            <a:r>
              <a:t>- https://www.tatacapital.com/media-center/press-releases.html</a:t>
            </a:r>
          </a:p>
          <a:p>
            <a:r>
              <a:t>- https://nsearchives.nseindia.com/corporate/naguiyer_09062025113756_BSENSEINTIMATION.pdf</a:t>
            </a:r>
          </a:p>
          <a:p>
            <a:r>
              <a:t>- https://www.financialexpress.com/business/banking-finance-godrej-capital-targets-rs-5k-cr-gold-loan-aum-by-2031-4301094/</a:t>
            </a:r>
          </a:p>
          <a:p>
            <a:r>
              <a:t>- https://nsearchives.nseindia.com/corporate/FEDFINA_15072026121257_Intimation_Investor_presentation.pdf</a:t>
            </a:r>
          </a:p>
          <a:p>
            <a:r>
              <a:t>- Internal customer intelligence for Cholamandalam, Jul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product opportunity is intentionally narrower than the loan market: ₹1,100–1,400 crore of five-year technology spending, of which ₹800–1,000 crore is serviceable. The base case assumes seven wins and ₹149 crore of revenue, with Tier 1 providing the proof point and Tier 2 providing repeatability.</a:t>
            </a:r>
          </a:p>
          <a:p>
            <a:endParaRPr/>
          </a:p>
          <a:p>
            <a:r>
              <a:t>[Sources]</a:t>
            </a:r>
          </a:p>
          <a:p>
            <a:r>
              <a:t>- https://www.icra.in/CommonService/OpenMediaS3?Key=edfc7b8a-92e7-4f59-9480-0cdcb5b58172</a:t>
            </a:r>
          </a:p>
          <a:p>
            <a:r>
              <a:t>- Management assumptions and derived product-market model, Aug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for a phased envelope, not an unconditional full build. The base case produces ₹149 crore of five-year revenue, 58.5% ROI and 25.9% IRR, with payback in 3.6 years. The board gate protects downside: scale only after two lighthouse wins or ₹15–20 crore of contracted value.</a:t>
            </a:r>
          </a:p>
          <a:p>
            <a:endParaRPr/>
          </a:p>
          <a:p>
            <a:r>
              <a:t>[Sources]</a:t>
            </a:r>
          </a:p>
          <a:p>
            <a:r>
              <a:t>- Management business-case assumptions and calculations prepared for this deck, Aug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as a market map rather than a comprehensive lender directory. The priority groups reflect disclosed gold-loan scale and current platform-change events.</a:t>
            </a:r>
          </a:p>
          <a:p>
            <a:endParaRPr/>
          </a:p>
          <a:p>
            <a:r>
              <a:t>[Sources]</a:t>
            </a:r>
          </a:p>
          <a:p>
            <a:r>
              <a:t>- https://sbi.co.in/</a:t>
            </a:r>
          </a:p>
          <a:p>
            <a:r>
              <a:t>- https://canarabank.com/</a:t>
            </a:r>
          </a:p>
          <a:p>
            <a:r>
              <a:t>- https://indianbank.in/</a:t>
            </a:r>
          </a:p>
          <a:p>
            <a:r>
              <a:t>- https://www.federalbank.co.in/</a:t>
            </a:r>
          </a:p>
          <a:p>
            <a:r>
              <a:t>- https://www.kvb.co.in/</a:t>
            </a:r>
          </a:p>
          <a:p>
            <a:r>
              <a:t>- https://www.tmb.in/</a:t>
            </a:r>
          </a:p>
          <a:p>
            <a:r>
              <a:t>- https://www.southindianbank.com/</a:t>
            </a:r>
          </a:p>
          <a:p>
            <a:r>
              <a:t>- https://www.csb.co.in/</a:t>
            </a:r>
          </a:p>
          <a:p>
            <a:r>
              <a:t>- https://www.muthootfinance.com/</a:t>
            </a:r>
          </a:p>
          <a:p>
            <a:r>
              <a:t>- https://www.manappuram.com/</a:t>
            </a:r>
          </a:p>
          <a:p>
            <a:r>
              <a:t>- https://www.iifl.com/</a:t>
            </a:r>
          </a:p>
          <a:p>
            <a:r>
              <a:t>- https://www.muthootfincorp.com/</a:t>
            </a:r>
          </a:p>
          <a:p>
            <a:r>
              <a:t>- https://www.fedfina.com/</a:t>
            </a:r>
          </a:p>
          <a:p>
            <a:r>
              <a:t>- https://www.cholamandalam.com/</a:t>
            </a:r>
          </a:p>
          <a:p>
            <a:r>
              <a:t>- https://www.ltfs.com/</a:t>
            </a:r>
          </a:p>
          <a:p>
            <a:r>
              <a:t>- https://www.adityabirlacapital.com/</a:t>
            </a:r>
          </a:p>
          <a:p>
            <a:r>
              <a:t>- https://www.tatacapital.com/</a:t>
            </a:r>
          </a:p>
          <a:p>
            <a:r>
              <a:t>- https://www.godrejcapital.com/</a:t>
            </a:r>
          </a:p>
          <a:p>
            <a:r>
              <a:t>- https://toppng.com/uploads/preview/indian-bank-vector-logo-11574257518rzf67vkcxd.png</a:t>
            </a:r>
          </a:p>
          <a:p>
            <a:r>
              <a:t>- https://cdn.imgbin.com/22/7/1/imgbin-karur-vysya-bank-loan-state-bank-of-india-bank-PBePgtfqdQt8iJ1d8EHxW7KAQ.jpg</a:t>
            </a:r>
          </a:p>
          <a:p>
            <a:r>
              <a:t>- https://images.seeklogo.com/logo-png/30/1/tmb-logo-png_seeklogo-304226.png</a:t>
            </a:r>
          </a:p>
          <a:p>
            <a:r>
              <a:t>- https://media.fortuneindia.com/fortune-india/import/2022-09/9d31f362-48db-4e5e-a504-ccf6d1bd2beb/federal_bank.jpg</a:t>
            </a:r>
          </a:p>
          <a:p>
            <a:r>
              <a:t>- https://etimg.etb2bimg.com/photo/123281847.cms</a:t>
            </a:r>
          </a:p>
          <a:p>
            <a:r>
              <a:t>- https://images.seeklogo.com/logo-png/30/1/cholamandalam-finance-logo-png_seeklogo-304688.png</a:t>
            </a:r>
          </a:p>
          <a:p>
            <a:r>
              <a:t>- https://smest.in/_next/image?q=75&amp;url=https%3A%2F%2Fissuer-master-article-logos.s3.ap-south-1.amazonaws.com%2FFedbankFinancialServices.png&amp;w=3840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 World Gold Council, Gold demand and supply by country: https://www.gold.org/goldhub/data/gold-demand-by-country</a:t>
            </a:r>
          </a:p>
          <a:p>
            <a:r>
              <a:t>- CBUAE, Finance Companies Regulation: https://rulebook.centralbank.ae/en/rulebook/finance-companies-regulation-0</a:t>
            </a:r>
          </a:p>
          <a:p>
            <a:r>
              <a:t>- Finance House UAE, Gold Loan: https://www.financehouse.ae/en/goldloan/</a:t>
            </a:r>
          </a:p>
          <a:p>
            <a:r>
              <a:t>- Saudi Central Bank, Regulations for Consumer Financing: https://rulebook.sama.gov.sa/en/regulations-consumer-financing</a:t>
            </a:r>
          </a:p>
          <a:p>
            <a:r>
              <a:t>- Vietnam Decree 232/2025/ND-CP: https://english.luatvietnam.vn/decree-no-232-2025-nd-cp-dated-august-26-2025-of-the-government-amending-and-supplementing-a-number-of-articles-of-the-governments-decree-no-24-20-409841-doc1.html</a:t>
            </a:r>
          </a:p>
          <a:p>
            <a:r>
              <a:t>- Central Bank of the Republic of Türkiye, Gold Banking in Turkey: https://tcmbblog.org/wps/wcm/connect/blog/en/main%2Bmenu/analyses/gold%2Bbanking%2Bin%2Bturkey</a:t>
            </a:r>
          </a:p>
          <a:p>
            <a:r>
              <a:t>- Indonesia OJK, pawnshop business licensing: https://ojk.go.id/en/berita-dan-kegiatan/pengumuman/Pages/PT-Pergadaian-Utama-Indonesia-Business-License.aspx</a:t>
            </a:r>
          </a:p>
          <a:p>
            <a:r>
              <a:t>- Bangko Sentral ng Pilipinas, Registration of Pawnshops and Money Service Businesses: https://www.bsp.gov.ph/Pages/Regulations/GuidelinesOnTheEstablishmentOfBanks/RegistrationOfPawnshopsAndMoneyServiceBusiness.aspx</a:t>
            </a:r>
          </a:p>
          <a:p>
            <a:r>
              <a:t>- Central Bank of Sri Lanka, maximum LTV for gold-backed lending: https://www.cbsl.gov.lk/en/news-20260524-msd-cbsl-introduces-a-ltv-ratio-e</a:t>
            </a:r>
          </a:p>
          <a:p>
            <a:r>
              <a:t>- Bank Negara Malaysia and Bank Islam Ar-Rahnu: https://www.bnm.gov.my/-/sac-194th-195th-meeting ; https://www.bankislam.com/personal-banking/arrahnu/</a:t>
            </a:r>
          </a:p>
          <a:p>
            <a:r>
              <a:t>[/Sources]</a:t>
            </a:r>
          </a:p>
          <a:p>
            <a:endParaRPr/>
          </a:p>
          <a:p>
            <a:r>
              <a:t>Board message: UAE provides the quickest compliant beachhead and regional proof point. Saudi Arabia is the highest-potential greenfield extension. Vietnam and Türkiye should enter discovery only after local regulatory and partner validation. Indonesia and the Philippines are established licensed pawnshop markets and should be targeted as LMS modernisation opportunities.</a:t>
            </a:r>
          </a:p>
          <a:p>
            <a:endParaRPr/>
          </a:p>
          <a:p>
            <a:r>
              <a:t>Method note: Launchability scores are an internal directional model, not official regulatory probabilities. Indonesia and the Philippines score highly on regulatory clarity, but their mature incumbent structures reduce greenfield category-creation potential.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54A162-35BC-01D9-EB82-1ADAE4D61933}"/>
              </a:ext>
            </a:extLst>
          </p:cNvPr>
          <p:cNvSpPr txBox="1"/>
          <p:nvPr userDrawn="1">
            <p:extLst>
              <p:ext uri="{1162E1C5-73C7-4A58-AE30-91384D911F3F}">
                <p184:classification xmlns:p184="http://schemas.microsoft.com/office/powerpoint/2018/4/main" val="ftr"/>
              </p:ext>
            </p:extLst>
          </p:nvPr>
        </p:nvSpPr>
        <p:spPr>
          <a:xfrm>
            <a:off x="63500" y="6642100"/>
            <a:ext cx="450850"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Internal</a:t>
            </a:r>
          </a:p>
        </p:txBody>
      </p:sp>
      <p:sp>
        <p:nvSpPr>
          <p:cNvPr id="5" name="TextBox 4">
            <a:extLst>
              <a:ext uri="{FF2B5EF4-FFF2-40B4-BE49-F238E27FC236}">
                <a16:creationId xmlns:a16="http://schemas.microsoft.com/office/drawing/2014/main" id="{C236A06E-471E-99F3-720C-199B93FA3CAB}"/>
              </a:ext>
            </a:extLst>
          </p:cNvPr>
          <p:cNvSpPr txBox="1"/>
          <p:nvPr userDrawn="1">
            <p:extLst>
              <p:ext uri="{1162E1C5-73C7-4A58-AE30-91384D911F3F}">
                <p184:classification xmlns:p184="http://schemas.microsoft.com/office/powerpoint/2018/4/main" val="watermark"/>
              </p:ext>
            </p:extLst>
          </p:nvPr>
        </p:nvSpPr>
        <p:spPr>
          <a:xfrm rot="-1800000">
            <a:off x="4041775" y="3154680"/>
            <a:ext cx="4202113" cy="548640"/>
          </a:xfrm>
          <a:prstGeom prst="rect">
            <a:avLst/>
          </a:prstGeom>
        </p:spPr>
        <p:txBody>
          <a:bodyPr horzOverflow="overflow" lIns="0" tIns="0" rIns="0" bIns="0">
            <a:spAutoFit/>
          </a:bodyPr>
          <a:lstStyle/>
          <a:p>
            <a:pPr algn="l"/>
            <a:r>
              <a:rPr lang="en-IN" sz="3600">
                <a:solidFill>
                  <a:srgbClr val="FFCCCC">
                    <a:alpha val="50000"/>
                  </a:srgbClr>
                </a:solidFill>
                <a:latin typeface="Aptos" panose="020B0004020202020204" pitchFamily="34" charset="0"/>
              </a:rPr>
              <a:t>NUCLEUS INTERNAL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5.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jpe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DC13810-161B-4EA2-BDA8-472C4E772503}"/>
              </a:ext>
            </a:extLst>
          </p:cNvPr>
          <p:cNvSpPr>
            <a:spLocks noGrp="1"/>
          </p:cNvSpPr>
          <p:nvPr/>
        </p:nvSpPr>
        <p:spPr>
          <a:xfrm>
            <a:off x="0" y="0"/>
            <a:ext cx="133350" cy="6858000"/>
          </a:xfrm>
          <a:prstGeom prst="rect">
            <a:avLst/>
          </a:prstGeom>
          <a:solidFill>
            <a:srgbClr val="0B1F3A"/>
          </a:solidFill>
          <a:ln w="0">
            <a:solidFill>
              <a:srgbClr val="0B1F3A"/>
            </a:solidFill>
            <a:prstDash val="solid"/>
          </a:ln>
        </p:spPr>
        <p:txBody>
          <a:bodyPr/>
          <a:lstStyle/>
          <a:p>
            <a:endParaRPr lang="en-IN"/>
          </a:p>
        </p:txBody>
      </p:sp>
      <p:sp>
        <p:nvSpPr>
          <p:cNvPr id="2" name="Rectangle 1">
            <a:extLst>
              <a:ext uri="{FF2B5EF4-FFF2-40B4-BE49-F238E27FC236}">
                <a16:creationId xmlns:a16="http://schemas.microsoft.com/office/drawing/2014/main" id="{0A4BC02D-82DD-491E-B1B2-A4B94A9D893C}"/>
              </a:ext>
            </a:extLst>
          </p:cNvPr>
          <p:cNvSpPr>
            <a:spLocks noGrp="1"/>
          </p:cNvSpPr>
          <p:nvPr/>
        </p:nvSpPr>
        <p:spPr>
          <a:xfrm>
            <a:off x="552450" y="228600"/>
            <a:ext cx="10953750" cy="628650"/>
          </a:xfrm>
          <a:prstGeom prst="rect">
            <a:avLst/>
          </a:prstGeom>
          <a:noFill/>
          <a:ln w="0">
            <a:noFill/>
            <a:prstDash val="solid"/>
          </a:ln>
        </p:spPr>
        <p:txBody>
          <a:bodyPr anchor="ctr"/>
          <a:lstStyle/>
          <a:p>
            <a:pPr algn="l">
              <a:buNone/>
              <a:defRPr sz="3000" b="1">
                <a:solidFill>
                  <a:srgbClr val="0B1F3A"/>
                </a:solidFill>
              </a:defRPr>
            </a:pPr>
            <a:r>
              <a:rPr sz="3000" b="1">
                <a:solidFill>
                  <a:srgbClr val="0B1F3A"/>
                </a:solidFill>
              </a:rPr>
              <a:t>India gold-loan AUM could exceed ₹30 lakh crore by FY28</a:t>
            </a:r>
          </a:p>
        </p:txBody>
      </p:sp>
      <p:sp>
        <p:nvSpPr>
          <p:cNvPr id="3" name="Rectangle 2">
            <a:extLst>
              <a:ext uri="{FF2B5EF4-FFF2-40B4-BE49-F238E27FC236}">
                <a16:creationId xmlns:a16="http://schemas.microsoft.com/office/drawing/2014/main" id="{A42A8FB7-4749-4898-928B-AD251FD5F748}"/>
              </a:ext>
            </a:extLst>
          </p:cNvPr>
          <p:cNvSpPr>
            <a:spLocks noGrp="1"/>
          </p:cNvSpPr>
          <p:nvPr/>
        </p:nvSpPr>
        <p:spPr>
          <a:xfrm>
            <a:off x="571500" y="914400"/>
            <a:ext cx="10668000" cy="314325"/>
          </a:xfrm>
          <a:prstGeom prst="rect">
            <a:avLst/>
          </a:prstGeom>
          <a:noFill/>
          <a:ln w="0">
            <a:noFill/>
            <a:prstDash val="solid"/>
          </a:ln>
        </p:spPr>
        <p:txBody>
          <a:bodyPr anchor="ctr"/>
          <a:lstStyle/>
          <a:p>
            <a:pPr algn="l">
              <a:buNone/>
              <a:defRPr sz="1575" b="0">
                <a:solidFill>
                  <a:srgbClr val="5E6B78"/>
                </a:solidFill>
              </a:defRPr>
            </a:pPr>
            <a:r>
              <a:rPr sz="1575" b="0">
                <a:solidFill>
                  <a:srgbClr val="5E6B78"/>
                </a:solidFill>
              </a:rPr>
              <a:t>Formal AUM is compounding rapidly, while household-gold penetration remains low</a:t>
            </a:r>
          </a:p>
        </p:txBody>
      </p:sp>
      <p:sp>
        <p:nvSpPr>
          <p:cNvPr id="4" name="Rectangle 3">
            <a:extLst>
              <a:ext uri="{FF2B5EF4-FFF2-40B4-BE49-F238E27FC236}">
                <a16:creationId xmlns:a16="http://schemas.microsoft.com/office/drawing/2014/main" id="{E1C488B6-FCCB-43D5-BCE2-9BC7CAD47B71}"/>
              </a:ext>
            </a:extLst>
          </p:cNvPr>
          <p:cNvSpPr>
            <a:spLocks noGrp="1"/>
          </p:cNvSpPr>
          <p:nvPr/>
        </p:nvSpPr>
        <p:spPr>
          <a:xfrm>
            <a:off x="571500" y="1323975"/>
            <a:ext cx="11029950" cy="19050"/>
          </a:xfrm>
          <a:prstGeom prst="rect">
            <a:avLst/>
          </a:prstGeom>
          <a:solidFill>
            <a:srgbClr val="0B1F3A"/>
          </a:solidFill>
          <a:ln w="0">
            <a:solidFill>
              <a:srgbClr val="0B1F3A"/>
            </a:solidFill>
            <a:prstDash val="solid"/>
          </a:ln>
        </p:spPr>
        <p:txBody>
          <a:bodyPr/>
          <a:lstStyle/>
          <a:p>
            <a:endParaRPr lang="en-IN"/>
          </a:p>
        </p:txBody>
      </p:sp>
      <p:sp>
        <p:nvSpPr>
          <p:cNvPr id="5" name="Rectangle 4">
            <a:extLst>
              <a:ext uri="{FF2B5EF4-FFF2-40B4-BE49-F238E27FC236}">
                <a16:creationId xmlns:a16="http://schemas.microsoft.com/office/drawing/2014/main" id="{7A017319-D7C2-4670-8F54-53AA0EA31271}"/>
              </a:ext>
            </a:extLst>
          </p:cNvPr>
          <p:cNvSpPr>
            <a:spLocks noGrp="1"/>
          </p:cNvSpPr>
          <p:nvPr/>
        </p:nvSpPr>
        <p:spPr>
          <a:xfrm>
            <a:off x="571500" y="6505575"/>
            <a:ext cx="3619500" cy="190500"/>
          </a:xfrm>
          <a:prstGeom prst="rect">
            <a:avLst/>
          </a:prstGeom>
          <a:noFill/>
          <a:ln w="0">
            <a:noFill/>
            <a:prstDash val="solid"/>
          </a:ln>
        </p:spPr>
        <p:txBody>
          <a:bodyPr anchor="ctr"/>
          <a:lstStyle/>
          <a:p>
            <a:pPr algn="l">
              <a:buNone/>
              <a:defRPr sz="975" b="1">
                <a:solidFill>
                  <a:srgbClr val="8793A0"/>
                </a:solidFill>
              </a:defRPr>
            </a:pPr>
            <a:r>
              <a:rPr sz="975" b="1">
                <a:solidFill>
                  <a:srgbClr val="8793A0"/>
                </a:solidFill>
              </a:rPr>
              <a:t>INDIA GOLD LOAN | BOARD DISCUSSION</a:t>
            </a:r>
          </a:p>
        </p:txBody>
      </p:sp>
      <p:sp>
        <p:nvSpPr>
          <p:cNvPr id="6" name="Rectangle 5">
            <a:extLst>
              <a:ext uri="{FF2B5EF4-FFF2-40B4-BE49-F238E27FC236}">
                <a16:creationId xmlns:a16="http://schemas.microsoft.com/office/drawing/2014/main" id="{C2AF78B5-C76A-4748-B48D-3F09E58B9EFD}"/>
              </a:ext>
            </a:extLst>
          </p:cNvPr>
          <p:cNvSpPr>
            <a:spLocks noGrp="1"/>
          </p:cNvSpPr>
          <p:nvPr/>
        </p:nvSpPr>
        <p:spPr>
          <a:xfrm>
            <a:off x="9810750" y="6505575"/>
            <a:ext cx="1143000"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24 AUG 2026</a:t>
            </a:r>
          </a:p>
        </p:txBody>
      </p:sp>
      <p:sp>
        <p:nvSpPr>
          <p:cNvPr id="7" name="Rectangle 6">
            <a:extLst>
              <a:ext uri="{FF2B5EF4-FFF2-40B4-BE49-F238E27FC236}">
                <a16:creationId xmlns:a16="http://schemas.microsoft.com/office/drawing/2014/main" id="{07012CC8-8642-4D28-8FCE-A3CF3167F9A8}"/>
              </a:ext>
            </a:extLst>
          </p:cNvPr>
          <p:cNvSpPr>
            <a:spLocks noGrp="1"/>
          </p:cNvSpPr>
          <p:nvPr/>
        </p:nvSpPr>
        <p:spPr>
          <a:xfrm>
            <a:off x="11144250" y="6505575"/>
            <a:ext cx="333375"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1</a:t>
            </a:r>
          </a:p>
        </p:txBody>
      </p:sp>
      <p:sp>
        <p:nvSpPr>
          <p:cNvPr id="8" name="Rectangle 7">
            <a:extLst>
              <a:ext uri="{FF2B5EF4-FFF2-40B4-BE49-F238E27FC236}">
                <a16:creationId xmlns:a16="http://schemas.microsoft.com/office/drawing/2014/main" id="{E1438A8D-F2FB-4E84-AC4B-9E7725136895}"/>
              </a:ext>
            </a:extLst>
          </p:cNvPr>
          <p:cNvSpPr>
            <a:spLocks noGrp="1"/>
          </p:cNvSpPr>
          <p:nvPr/>
        </p:nvSpPr>
        <p:spPr>
          <a:xfrm>
            <a:off x="638175" y="1495425"/>
            <a:ext cx="5238750" cy="257175"/>
          </a:xfrm>
          <a:prstGeom prst="rect">
            <a:avLst/>
          </a:prstGeom>
          <a:noFill/>
          <a:ln w="0">
            <a:noFill/>
            <a:prstDash val="solid"/>
          </a:ln>
        </p:spPr>
        <p:txBody>
          <a:bodyPr anchor="ctr"/>
          <a:lstStyle/>
          <a:p>
            <a:pPr algn="l">
              <a:buNone/>
              <a:defRPr sz="1425" b="1">
                <a:solidFill>
                  <a:srgbClr val="1C2733"/>
                </a:solidFill>
              </a:defRPr>
            </a:pPr>
            <a:r>
              <a:rPr sz="1425" b="1">
                <a:solidFill>
                  <a:srgbClr val="1C2733"/>
                </a:solidFill>
              </a:rPr>
              <a:t>Organized gold-loan AUM, ₹ lakh crore</a:t>
            </a:r>
          </a:p>
        </p:txBody>
      </p:sp>
      <p:graphicFrame>
        <p:nvGraphicFramePr>
          <p:cNvPr id="39" name="Chart"/>
          <p:cNvGraphicFramePr/>
          <p:nvPr/>
        </p:nvGraphicFramePr>
        <p:xfrm>
          <a:off x="619125" y="1790700"/>
          <a:ext cx="657225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B1963E5F-0AC4-408A-AADF-5AA6EA654E09}"/>
              </a:ext>
            </a:extLst>
          </p:cNvPr>
          <p:cNvSpPr>
            <a:spLocks noGrp="1"/>
          </p:cNvSpPr>
          <p:nvPr/>
        </p:nvSpPr>
        <p:spPr>
          <a:xfrm>
            <a:off x="4810125" y="1543050"/>
            <a:ext cx="2190750" cy="238125"/>
          </a:xfrm>
          <a:prstGeom prst="rect">
            <a:avLst/>
          </a:prstGeom>
          <a:noFill/>
          <a:ln w="0">
            <a:noFill/>
            <a:prstDash val="solid"/>
          </a:ln>
        </p:spPr>
        <p:txBody>
          <a:bodyPr anchor="ctr"/>
          <a:lstStyle/>
          <a:p>
            <a:pPr algn="r">
              <a:buNone/>
              <a:defRPr sz="1275" b="1">
                <a:solidFill>
                  <a:srgbClr val="C73E3A"/>
                </a:solidFill>
              </a:defRPr>
            </a:pPr>
            <a:r>
              <a:rPr sz="1275" b="1">
                <a:solidFill>
                  <a:srgbClr val="C73E3A"/>
                </a:solidFill>
              </a:rPr>
              <a:t>&gt;30% forecast CAGR</a:t>
            </a:r>
          </a:p>
        </p:txBody>
      </p:sp>
      <p:sp>
        <p:nvSpPr>
          <p:cNvPr id="11" name="Rectangle 10">
            <a:extLst>
              <a:ext uri="{FF2B5EF4-FFF2-40B4-BE49-F238E27FC236}">
                <a16:creationId xmlns:a16="http://schemas.microsoft.com/office/drawing/2014/main" id="{B14A1EF8-F3F5-425F-A193-462639C7E00A}"/>
              </a:ext>
            </a:extLst>
          </p:cNvPr>
          <p:cNvSpPr>
            <a:spLocks noGrp="1"/>
          </p:cNvSpPr>
          <p:nvPr/>
        </p:nvSpPr>
        <p:spPr>
          <a:xfrm>
            <a:off x="7524750" y="1676400"/>
            <a:ext cx="9525" cy="3429000"/>
          </a:xfrm>
          <a:prstGeom prst="rect">
            <a:avLst/>
          </a:prstGeom>
          <a:solidFill>
            <a:srgbClr val="D8DEE6"/>
          </a:solidFill>
          <a:ln w="0">
            <a:solidFill>
              <a:srgbClr val="D8DEE6"/>
            </a:solidFill>
            <a:prstDash val="solid"/>
          </a:ln>
        </p:spPr>
        <p:txBody>
          <a:bodyPr/>
          <a:lstStyle/>
          <a:p>
            <a:endParaRPr lang="en-IN"/>
          </a:p>
        </p:txBody>
      </p:sp>
      <p:sp>
        <p:nvSpPr>
          <p:cNvPr id="12" name="Rectangle 11">
            <a:extLst>
              <a:ext uri="{FF2B5EF4-FFF2-40B4-BE49-F238E27FC236}">
                <a16:creationId xmlns:a16="http://schemas.microsoft.com/office/drawing/2014/main" id="{B256CE2A-D122-4834-8308-E2172D606E19}"/>
              </a:ext>
            </a:extLst>
          </p:cNvPr>
          <p:cNvSpPr>
            <a:spLocks noGrp="1"/>
          </p:cNvSpPr>
          <p:nvPr/>
        </p:nvSpPr>
        <p:spPr>
          <a:xfrm>
            <a:off x="7858125" y="1647825"/>
            <a:ext cx="3143250" cy="457200"/>
          </a:xfrm>
          <a:prstGeom prst="rect">
            <a:avLst/>
          </a:prstGeom>
          <a:noFill/>
          <a:ln w="0">
            <a:noFill/>
            <a:prstDash val="solid"/>
          </a:ln>
        </p:spPr>
        <p:txBody>
          <a:bodyPr anchor="ctr"/>
          <a:lstStyle/>
          <a:p>
            <a:pPr algn="l">
              <a:buNone/>
              <a:defRPr sz="3000" b="1">
                <a:solidFill>
                  <a:srgbClr val="1473E6"/>
                </a:solidFill>
              </a:defRPr>
            </a:pPr>
            <a:r>
              <a:rPr sz="3000" b="1">
                <a:solidFill>
                  <a:srgbClr val="1473E6"/>
                </a:solidFill>
              </a:rPr>
              <a:t>₹18L Cr</a:t>
            </a:r>
          </a:p>
        </p:txBody>
      </p:sp>
      <p:sp>
        <p:nvSpPr>
          <p:cNvPr id="13" name="Rectangle 12">
            <a:extLst>
              <a:ext uri="{FF2B5EF4-FFF2-40B4-BE49-F238E27FC236}">
                <a16:creationId xmlns:a16="http://schemas.microsoft.com/office/drawing/2014/main" id="{57A7BBCD-5454-4EA7-BA40-3350CC2BF41A}"/>
              </a:ext>
            </a:extLst>
          </p:cNvPr>
          <p:cNvSpPr>
            <a:spLocks noGrp="1"/>
          </p:cNvSpPr>
          <p:nvPr/>
        </p:nvSpPr>
        <p:spPr>
          <a:xfrm>
            <a:off x="7858125" y="2076450"/>
            <a:ext cx="3143250"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Organized AUM at Mar-26</a:t>
            </a:r>
          </a:p>
        </p:txBody>
      </p:sp>
      <p:sp>
        <p:nvSpPr>
          <p:cNvPr id="14" name="Rectangle 13">
            <a:extLst>
              <a:ext uri="{FF2B5EF4-FFF2-40B4-BE49-F238E27FC236}">
                <a16:creationId xmlns:a16="http://schemas.microsoft.com/office/drawing/2014/main" id="{2382173D-9816-4308-ADDE-D11E910C2125}"/>
              </a:ext>
            </a:extLst>
          </p:cNvPr>
          <p:cNvSpPr>
            <a:spLocks noGrp="1"/>
          </p:cNvSpPr>
          <p:nvPr/>
        </p:nvSpPr>
        <p:spPr>
          <a:xfrm>
            <a:off x="7858125" y="2505075"/>
            <a:ext cx="3143250" cy="9525"/>
          </a:xfrm>
          <a:prstGeom prst="rect">
            <a:avLst/>
          </a:prstGeom>
          <a:solidFill>
            <a:srgbClr val="D8DEE6"/>
          </a:solidFill>
          <a:ln w="0">
            <a:solidFill>
              <a:srgbClr val="D8DEE6"/>
            </a:solidFill>
            <a:prstDash val="solid"/>
          </a:ln>
        </p:spPr>
        <p:txBody>
          <a:bodyPr/>
          <a:lstStyle/>
          <a:p>
            <a:endParaRPr lang="en-IN"/>
          </a:p>
        </p:txBody>
      </p:sp>
      <p:sp>
        <p:nvSpPr>
          <p:cNvPr id="15" name="Rectangle 14">
            <a:extLst>
              <a:ext uri="{FF2B5EF4-FFF2-40B4-BE49-F238E27FC236}">
                <a16:creationId xmlns:a16="http://schemas.microsoft.com/office/drawing/2014/main" id="{B38D25A2-087C-47BA-958C-3AB71BEAA303}"/>
              </a:ext>
            </a:extLst>
          </p:cNvPr>
          <p:cNvSpPr>
            <a:spLocks noGrp="1"/>
          </p:cNvSpPr>
          <p:nvPr/>
        </p:nvSpPr>
        <p:spPr>
          <a:xfrm>
            <a:off x="7858125" y="2667000"/>
            <a:ext cx="1428750" cy="457200"/>
          </a:xfrm>
          <a:prstGeom prst="rect">
            <a:avLst/>
          </a:prstGeom>
          <a:noFill/>
          <a:ln w="0">
            <a:noFill/>
            <a:prstDash val="solid"/>
          </a:ln>
        </p:spPr>
        <p:txBody>
          <a:bodyPr anchor="ctr"/>
          <a:lstStyle/>
          <a:p>
            <a:pPr algn="l">
              <a:buNone/>
              <a:defRPr sz="3000" b="1">
                <a:solidFill>
                  <a:srgbClr val="C73E3A"/>
                </a:solidFill>
              </a:defRPr>
            </a:pPr>
            <a:r>
              <a:rPr sz="3000" b="1">
                <a:solidFill>
                  <a:srgbClr val="C73E3A"/>
                </a:solidFill>
              </a:rPr>
              <a:t>50%</a:t>
            </a:r>
          </a:p>
        </p:txBody>
      </p:sp>
      <p:sp>
        <p:nvSpPr>
          <p:cNvPr id="16" name="Rectangle 15">
            <a:extLst>
              <a:ext uri="{FF2B5EF4-FFF2-40B4-BE49-F238E27FC236}">
                <a16:creationId xmlns:a16="http://schemas.microsoft.com/office/drawing/2014/main" id="{0CE0B40F-E94E-4232-89E2-CC0172C6AA20}"/>
              </a:ext>
            </a:extLst>
          </p:cNvPr>
          <p:cNvSpPr>
            <a:spLocks noGrp="1"/>
          </p:cNvSpPr>
          <p:nvPr/>
        </p:nvSpPr>
        <p:spPr>
          <a:xfrm>
            <a:off x="7858125" y="3095625"/>
            <a:ext cx="1428750"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FY26 market growth</a:t>
            </a:r>
          </a:p>
        </p:txBody>
      </p:sp>
      <p:sp>
        <p:nvSpPr>
          <p:cNvPr id="17" name="Rectangle 16">
            <a:extLst>
              <a:ext uri="{FF2B5EF4-FFF2-40B4-BE49-F238E27FC236}">
                <a16:creationId xmlns:a16="http://schemas.microsoft.com/office/drawing/2014/main" id="{1FF98095-883D-4DFE-B4EF-363CFD06A218}"/>
              </a:ext>
            </a:extLst>
          </p:cNvPr>
          <p:cNvSpPr>
            <a:spLocks noGrp="1"/>
          </p:cNvSpPr>
          <p:nvPr/>
        </p:nvSpPr>
        <p:spPr>
          <a:xfrm>
            <a:off x="9525000" y="2667000"/>
            <a:ext cx="1666875" cy="457200"/>
          </a:xfrm>
          <a:prstGeom prst="rect">
            <a:avLst/>
          </a:prstGeom>
          <a:noFill/>
          <a:ln w="0">
            <a:noFill/>
            <a:prstDash val="solid"/>
          </a:ln>
        </p:spPr>
        <p:txBody>
          <a:bodyPr anchor="ctr"/>
          <a:lstStyle/>
          <a:p>
            <a:pPr algn="l">
              <a:buNone/>
              <a:defRPr sz="3000" b="1">
                <a:solidFill>
                  <a:srgbClr val="0B1F3A"/>
                </a:solidFill>
              </a:defRPr>
            </a:pPr>
            <a:r>
              <a:rPr sz="3000" b="1">
                <a:solidFill>
                  <a:srgbClr val="0B1F3A"/>
                </a:solidFill>
              </a:rPr>
              <a:t>78 / 22</a:t>
            </a:r>
          </a:p>
        </p:txBody>
      </p:sp>
      <p:sp>
        <p:nvSpPr>
          <p:cNvPr id="18" name="Rectangle 17">
            <a:extLst>
              <a:ext uri="{FF2B5EF4-FFF2-40B4-BE49-F238E27FC236}">
                <a16:creationId xmlns:a16="http://schemas.microsoft.com/office/drawing/2014/main" id="{882F8243-3D66-4677-9FFF-5377556BCB15}"/>
              </a:ext>
            </a:extLst>
          </p:cNvPr>
          <p:cNvSpPr>
            <a:spLocks noGrp="1"/>
          </p:cNvSpPr>
          <p:nvPr/>
        </p:nvSpPr>
        <p:spPr>
          <a:xfrm>
            <a:off x="9525000" y="3095625"/>
            <a:ext cx="1666875"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Bank / NBFC share</a:t>
            </a:r>
          </a:p>
        </p:txBody>
      </p:sp>
      <p:sp>
        <p:nvSpPr>
          <p:cNvPr id="19" name="Rectangle 18">
            <a:extLst>
              <a:ext uri="{FF2B5EF4-FFF2-40B4-BE49-F238E27FC236}">
                <a16:creationId xmlns:a16="http://schemas.microsoft.com/office/drawing/2014/main" id="{6EB0D56E-D84C-4B3B-8232-C960840A0E2D}"/>
              </a:ext>
            </a:extLst>
          </p:cNvPr>
          <p:cNvSpPr>
            <a:spLocks noGrp="1"/>
          </p:cNvSpPr>
          <p:nvPr/>
        </p:nvSpPr>
        <p:spPr>
          <a:xfrm>
            <a:off x="7858125" y="3524250"/>
            <a:ext cx="3143250" cy="9525"/>
          </a:xfrm>
          <a:prstGeom prst="rect">
            <a:avLst/>
          </a:prstGeom>
          <a:solidFill>
            <a:srgbClr val="D8DEE6"/>
          </a:solidFill>
          <a:ln w="0">
            <a:solidFill>
              <a:srgbClr val="D8DEE6"/>
            </a:solidFill>
            <a:prstDash val="solid"/>
          </a:ln>
        </p:spPr>
        <p:txBody>
          <a:bodyPr/>
          <a:lstStyle/>
          <a:p>
            <a:endParaRPr lang="en-IN"/>
          </a:p>
        </p:txBody>
      </p:sp>
      <p:sp>
        <p:nvSpPr>
          <p:cNvPr id="20" name="Rectangle 19">
            <a:extLst>
              <a:ext uri="{FF2B5EF4-FFF2-40B4-BE49-F238E27FC236}">
                <a16:creationId xmlns:a16="http://schemas.microsoft.com/office/drawing/2014/main" id="{043E32B2-E424-48AE-855F-9A9C2C04CEF8}"/>
              </a:ext>
            </a:extLst>
          </p:cNvPr>
          <p:cNvSpPr>
            <a:spLocks noGrp="1"/>
          </p:cNvSpPr>
          <p:nvPr/>
        </p:nvSpPr>
        <p:spPr>
          <a:xfrm>
            <a:off x="7858125" y="3695700"/>
            <a:ext cx="3143250" cy="457200"/>
          </a:xfrm>
          <a:prstGeom prst="rect">
            <a:avLst/>
          </a:prstGeom>
          <a:noFill/>
          <a:ln w="0">
            <a:noFill/>
            <a:prstDash val="solid"/>
          </a:ln>
        </p:spPr>
        <p:txBody>
          <a:bodyPr anchor="ctr"/>
          <a:lstStyle/>
          <a:p>
            <a:pPr algn="l">
              <a:buNone/>
              <a:defRPr sz="3000" b="1">
                <a:solidFill>
                  <a:srgbClr val="1473E6"/>
                </a:solidFill>
              </a:defRPr>
            </a:pPr>
            <a:r>
              <a:rPr sz="3000" b="1">
                <a:solidFill>
                  <a:srgbClr val="1473E6"/>
                </a:solidFill>
              </a:rPr>
              <a:t>25,000 t</a:t>
            </a:r>
          </a:p>
        </p:txBody>
      </p:sp>
      <p:sp>
        <p:nvSpPr>
          <p:cNvPr id="21" name="Rectangle 20">
            <a:extLst>
              <a:ext uri="{FF2B5EF4-FFF2-40B4-BE49-F238E27FC236}">
                <a16:creationId xmlns:a16="http://schemas.microsoft.com/office/drawing/2014/main" id="{5C79A513-F560-4C8F-8153-425CF43F3F9C}"/>
              </a:ext>
            </a:extLst>
          </p:cNvPr>
          <p:cNvSpPr>
            <a:spLocks noGrp="1"/>
          </p:cNvSpPr>
          <p:nvPr/>
        </p:nvSpPr>
        <p:spPr>
          <a:xfrm>
            <a:off x="7858125" y="4124325"/>
            <a:ext cx="3143250"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Estimated household gold stock</a:t>
            </a:r>
          </a:p>
        </p:txBody>
      </p:sp>
      <p:sp>
        <p:nvSpPr>
          <p:cNvPr id="22" name="Rectangle 21">
            <a:extLst>
              <a:ext uri="{FF2B5EF4-FFF2-40B4-BE49-F238E27FC236}">
                <a16:creationId xmlns:a16="http://schemas.microsoft.com/office/drawing/2014/main" id="{820587A8-545A-465C-82B7-7E2ED694CFF4}"/>
              </a:ext>
            </a:extLst>
          </p:cNvPr>
          <p:cNvSpPr>
            <a:spLocks noGrp="1"/>
          </p:cNvSpPr>
          <p:nvPr/>
        </p:nvSpPr>
        <p:spPr>
          <a:xfrm>
            <a:off x="7858125" y="4552950"/>
            <a:ext cx="3143250" cy="9525"/>
          </a:xfrm>
          <a:prstGeom prst="rect">
            <a:avLst/>
          </a:prstGeom>
          <a:solidFill>
            <a:srgbClr val="D8DEE6"/>
          </a:solidFill>
          <a:ln w="0">
            <a:solidFill>
              <a:srgbClr val="D8DEE6"/>
            </a:solidFill>
            <a:prstDash val="solid"/>
          </a:ln>
        </p:spPr>
        <p:txBody>
          <a:bodyPr/>
          <a:lstStyle/>
          <a:p>
            <a:endParaRPr lang="en-IN"/>
          </a:p>
        </p:txBody>
      </p:sp>
      <p:sp>
        <p:nvSpPr>
          <p:cNvPr id="23" name="Rectangle 22">
            <a:extLst>
              <a:ext uri="{FF2B5EF4-FFF2-40B4-BE49-F238E27FC236}">
                <a16:creationId xmlns:a16="http://schemas.microsoft.com/office/drawing/2014/main" id="{C420DF88-4A26-4DCE-BA20-E8A34D3A97D1}"/>
              </a:ext>
            </a:extLst>
          </p:cNvPr>
          <p:cNvSpPr>
            <a:spLocks noGrp="1"/>
          </p:cNvSpPr>
          <p:nvPr/>
        </p:nvSpPr>
        <p:spPr>
          <a:xfrm>
            <a:off x="7858125" y="4648200"/>
            <a:ext cx="3143250" cy="457200"/>
          </a:xfrm>
          <a:prstGeom prst="rect">
            <a:avLst/>
          </a:prstGeom>
          <a:noFill/>
          <a:ln w="0">
            <a:noFill/>
            <a:prstDash val="solid"/>
          </a:ln>
        </p:spPr>
        <p:txBody>
          <a:bodyPr anchor="ctr"/>
          <a:lstStyle/>
          <a:p>
            <a:pPr algn="l">
              <a:buNone/>
              <a:defRPr sz="3000" b="1">
                <a:solidFill>
                  <a:srgbClr val="16835A"/>
                </a:solidFill>
              </a:defRPr>
            </a:pPr>
            <a:r>
              <a:rPr sz="3000" b="1">
                <a:solidFill>
                  <a:srgbClr val="16835A"/>
                </a:solidFill>
              </a:rPr>
              <a:t>5.4%</a:t>
            </a:r>
          </a:p>
        </p:txBody>
      </p:sp>
      <p:sp>
        <p:nvSpPr>
          <p:cNvPr id="24" name="Rectangle 23">
            <a:extLst>
              <a:ext uri="{FF2B5EF4-FFF2-40B4-BE49-F238E27FC236}">
                <a16:creationId xmlns:a16="http://schemas.microsoft.com/office/drawing/2014/main" id="{EC37FE8A-E90B-4890-9699-6414D5BEB888}"/>
              </a:ext>
            </a:extLst>
          </p:cNvPr>
          <p:cNvSpPr>
            <a:spLocks noGrp="1"/>
          </p:cNvSpPr>
          <p:nvPr/>
        </p:nvSpPr>
        <p:spPr>
          <a:xfrm>
            <a:off x="7858125" y="5076825"/>
            <a:ext cx="3143250"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Organized AUM / household-gold value</a:t>
            </a:r>
          </a:p>
        </p:txBody>
      </p:sp>
      <p:sp>
        <p:nvSpPr>
          <p:cNvPr id="25" name="Rectangle 24">
            <a:extLst>
              <a:ext uri="{FF2B5EF4-FFF2-40B4-BE49-F238E27FC236}">
                <a16:creationId xmlns:a16="http://schemas.microsoft.com/office/drawing/2014/main" id="{316BBB09-C460-49B7-9698-A175A09D3486}"/>
              </a:ext>
            </a:extLst>
          </p:cNvPr>
          <p:cNvSpPr>
            <a:spLocks noGrp="1"/>
          </p:cNvSpPr>
          <p:nvPr/>
        </p:nvSpPr>
        <p:spPr>
          <a:xfrm>
            <a:off x="571500" y="5505450"/>
            <a:ext cx="11029950" cy="742950"/>
          </a:xfrm>
          <a:prstGeom prst="rect">
            <a:avLst/>
          </a:prstGeom>
          <a:solidFill>
            <a:srgbClr val="EAF3FF"/>
          </a:solidFill>
          <a:ln w="0">
            <a:solidFill>
              <a:srgbClr val="EAF3FF"/>
            </a:solidFill>
            <a:prstDash val="solid"/>
          </a:ln>
        </p:spPr>
        <p:txBody>
          <a:bodyPr/>
          <a:lstStyle/>
          <a:p>
            <a:endParaRPr lang="en-IN"/>
          </a:p>
        </p:txBody>
      </p:sp>
      <p:sp>
        <p:nvSpPr>
          <p:cNvPr id="26" name="Rectangle 25">
            <a:extLst>
              <a:ext uri="{FF2B5EF4-FFF2-40B4-BE49-F238E27FC236}">
                <a16:creationId xmlns:a16="http://schemas.microsoft.com/office/drawing/2014/main" id="{A95F6404-35B4-4D68-B647-A361486D6E9F}"/>
              </a:ext>
            </a:extLst>
          </p:cNvPr>
          <p:cNvSpPr>
            <a:spLocks noGrp="1"/>
          </p:cNvSpPr>
          <p:nvPr/>
        </p:nvSpPr>
        <p:spPr>
          <a:xfrm>
            <a:off x="781050" y="5619750"/>
            <a:ext cx="1238250" cy="266700"/>
          </a:xfrm>
          <a:prstGeom prst="rect">
            <a:avLst/>
          </a:prstGeom>
          <a:noFill/>
          <a:ln w="0">
            <a:noFill/>
            <a:prstDash val="solid"/>
          </a:ln>
        </p:spPr>
        <p:txBody>
          <a:bodyPr anchor="ctr"/>
          <a:lstStyle/>
          <a:p>
            <a:pPr algn="l">
              <a:buNone/>
              <a:defRPr sz="1425" b="1">
                <a:solidFill>
                  <a:srgbClr val="1473E6"/>
                </a:solidFill>
              </a:defRPr>
            </a:pPr>
            <a:r>
              <a:rPr sz="1425" b="1">
                <a:solidFill>
                  <a:srgbClr val="1473E6"/>
                </a:solidFill>
              </a:rPr>
              <a:t>Implication</a:t>
            </a:r>
          </a:p>
        </p:txBody>
      </p:sp>
      <p:sp>
        <p:nvSpPr>
          <p:cNvPr id="27" name="Rectangle 26">
            <a:extLst>
              <a:ext uri="{FF2B5EF4-FFF2-40B4-BE49-F238E27FC236}">
                <a16:creationId xmlns:a16="http://schemas.microsoft.com/office/drawing/2014/main" id="{F458A837-8292-431A-A39B-965C4A4AD265}"/>
              </a:ext>
            </a:extLst>
          </p:cNvPr>
          <p:cNvSpPr>
            <a:spLocks noGrp="1"/>
          </p:cNvSpPr>
          <p:nvPr/>
        </p:nvSpPr>
        <p:spPr>
          <a:xfrm>
            <a:off x="2019300" y="5524500"/>
            <a:ext cx="9239250" cy="647700"/>
          </a:xfrm>
          <a:prstGeom prst="rect">
            <a:avLst/>
          </a:prstGeom>
          <a:noFill/>
          <a:ln w="0">
            <a:noFill/>
            <a:prstDash val="solid"/>
          </a:ln>
        </p:spPr>
        <p:txBody>
          <a:bodyPr anchor="ctr"/>
          <a:lstStyle/>
          <a:p>
            <a:pPr algn="l">
              <a:buNone/>
              <a:defRPr sz="1575" b="1">
                <a:solidFill>
                  <a:srgbClr val="0B1F3A"/>
                </a:solidFill>
              </a:defRPr>
            </a:pPr>
            <a:r>
              <a:rPr sz="1575" b="1">
                <a:solidFill>
                  <a:srgbClr val="0B1F3A"/>
                </a:solidFill>
              </a:rPr>
              <a:t>The market is deep enough to support a scaled platform; the constraint is conversion—distribution, collateral control, renewals and compliance—not collateral availability.</a:t>
            </a:r>
          </a:p>
        </p:txBody>
      </p:sp>
      <p:sp>
        <p:nvSpPr>
          <p:cNvPr id="28" name="Rectangle 27">
            <a:extLst>
              <a:ext uri="{FF2B5EF4-FFF2-40B4-BE49-F238E27FC236}">
                <a16:creationId xmlns:a16="http://schemas.microsoft.com/office/drawing/2014/main" id="{5D5D3937-A88B-4F88-A97A-B5555AD8C48D}"/>
              </a:ext>
            </a:extLst>
          </p:cNvPr>
          <p:cNvSpPr>
            <a:spLocks noGrp="1"/>
          </p:cNvSpPr>
          <p:nvPr/>
        </p:nvSpPr>
        <p:spPr>
          <a:xfrm>
            <a:off x="571500" y="6286500"/>
            <a:ext cx="9048750"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Source: ICRA; RBI; World Gold Council; TransUnion CIBIL; company filings; internal analysis</a:t>
            </a:r>
          </a:p>
        </p:txBody>
      </p:sp>
    </p:spTree>
    <p:extLst>
      <p:ext uri="{BB962C8B-B14F-4D97-AF65-F5344CB8AC3E}">
        <p14:creationId xmlns:p14="http://schemas.microsoft.com/office/powerpoint/2010/main" val="1972829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5E78426C-93D9-4C8F-A364-CA6D959C4618}"/>
              </a:ext>
            </a:extLst>
          </p:cNvPr>
          <p:cNvSpPr>
            <a:spLocks noGrp="1"/>
          </p:cNvSpPr>
          <p:nvPr/>
        </p:nvSpPr>
        <p:spPr>
          <a:xfrm>
            <a:off x="0" y="0"/>
            <a:ext cx="133350" cy="6858000"/>
          </a:xfrm>
          <a:prstGeom prst="rect">
            <a:avLst/>
          </a:prstGeom>
          <a:solidFill>
            <a:srgbClr val="0B1F3A"/>
          </a:solidFill>
          <a:ln w="0">
            <a:solidFill>
              <a:srgbClr val="0B1F3A"/>
            </a:solidFill>
            <a:prstDash val="solid"/>
          </a:ln>
        </p:spPr>
        <p:txBody>
          <a:bodyPr/>
          <a:lstStyle/>
          <a:p>
            <a:endParaRPr lang="en-IN"/>
          </a:p>
        </p:txBody>
      </p:sp>
      <p:sp>
        <p:nvSpPr>
          <p:cNvPr id="2" name="Rectangle 1">
            <a:extLst>
              <a:ext uri="{FF2B5EF4-FFF2-40B4-BE49-F238E27FC236}">
                <a16:creationId xmlns:a16="http://schemas.microsoft.com/office/drawing/2014/main" id="{8751723B-767E-476A-857B-9566582D8E86}"/>
              </a:ext>
            </a:extLst>
          </p:cNvPr>
          <p:cNvSpPr>
            <a:spLocks noGrp="1"/>
          </p:cNvSpPr>
          <p:nvPr/>
        </p:nvSpPr>
        <p:spPr>
          <a:xfrm>
            <a:off x="552450" y="228600"/>
            <a:ext cx="10953750" cy="628650"/>
          </a:xfrm>
          <a:prstGeom prst="rect">
            <a:avLst/>
          </a:prstGeom>
          <a:noFill/>
          <a:ln w="0">
            <a:noFill/>
            <a:prstDash val="solid"/>
          </a:ln>
        </p:spPr>
        <p:txBody>
          <a:bodyPr anchor="ctr"/>
          <a:lstStyle/>
          <a:p>
            <a:pPr algn="l">
              <a:buNone/>
              <a:defRPr sz="3000" b="1">
                <a:solidFill>
                  <a:srgbClr val="0B1F3A"/>
                </a:solidFill>
              </a:defRPr>
            </a:pPr>
            <a:r>
              <a:rPr sz="3000" b="1">
                <a:solidFill>
                  <a:srgbClr val="0B1F3A"/>
                </a:solidFill>
              </a:rPr>
              <a:t>Six change-event accounts should anchor the go-to-market</a:t>
            </a:r>
          </a:p>
        </p:txBody>
      </p:sp>
      <p:sp>
        <p:nvSpPr>
          <p:cNvPr id="3" name="Rectangle 2">
            <a:extLst>
              <a:ext uri="{FF2B5EF4-FFF2-40B4-BE49-F238E27FC236}">
                <a16:creationId xmlns:a16="http://schemas.microsoft.com/office/drawing/2014/main" id="{EBADAF38-853C-42E7-AFC2-167E503F1E02}"/>
              </a:ext>
            </a:extLst>
          </p:cNvPr>
          <p:cNvSpPr>
            <a:spLocks noGrp="1"/>
          </p:cNvSpPr>
          <p:nvPr/>
        </p:nvSpPr>
        <p:spPr>
          <a:xfrm>
            <a:off x="571500" y="914400"/>
            <a:ext cx="10668000" cy="314325"/>
          </a:xfrm>
          <a:prstGeom prst="rect">
            <a:avLst/>
          </a:prstGeom>
          <a:noFill/>
          <a:ln w="0">
            <a:noFill/>
            <a:prstDash val="solid"/>
          </a:ln>
        </p:spPr>
        <p:txBody>
          <a:bodyPr anchor="ctr"/>
          <a:lstStyle/>
          <a:p>
            <a:pPr algn="l">
              <a:buNone/>
              <a:defRPr sz="1575" b="0">
                <a:solidFill>
                  <a:srgbClr val="5E6B78"/>
                </a:solidFill>
              </a:defRPr>
            </a:pPr>
            <a:r>
              <a:rPr sz="1575" b="0">
                <a:solidFill>
                  <a:srgbClr val="5E6B78"/>
                </a:solidFill>
              </a:rPr>
              <a:t>Prioritize greenfield launches, acquisition integrations and hyper-growth platforms over mature incumbents</a:t>
            </a:r>
          </a:p>
        </p:txBody>
      </p:sp>
      <p:sp>
        <p:nvSpPr>
          <p:cNvPr id="4" name="Rectangle 3">
            <a:extLst>
              <a:ext uri="{FF2B5EF4-FFF2-40B4-BE49-F238E27FC236}">
                <a16:creationId xmlns:a16="http://schemas.microsoft.com/office/drawing/2014/main" id="{4A09F653-5506-44C8-835C-2414E4661DCE}"/>
              </a:ext>
            </a:extLst>
          </p:cNvPr>
          <p:cNvSpPr>
            <a:spLocks noGrp="1"/>
          </p:cNvSpPr>
          <p:nvPr/>
        </p:nvSpPr>
        <p:spPr>
          <a:xfrm>
            <a:off x="571500" y="1323975"/>
            <a:ext cx="11029950" cy="19050"/>
          </a:xfrm>
          <a:prstGeom prst="rect">
            <a:avLst/>
          </a:prstGeom>
          <a:solidFill>
            <a:srgbClr val="0B1F3A"/>
          </a:solidFill>
          <a:ln w="0">
            <a:solidFill>
              <a:srgbClr val="0B1F3A"/>
            </a:solidFill>
            <a:prstDash val="solid"/>
          </a:ln>
        </p:spPr>
        <p:txBody>
          <a:bodyPr/>
          <a:lstStyle/>
          <a:p>
            <a:endParaRPr lang="en-IN"/>
          </a:p>
        </p:txBody>
      </p:sp>
      <p:sp>
        <p:nvSpPr>
          <p:cNvPr id="5" name="Rectangle 4">
            <a:extLst>
              <a:ext uri="{FF2B5EF4-FFF2-40B4-BE49-F238E27FC236}">
                <a16:creationId xmlns:a16="http://schemas.microsoft.com/office/drawing/2014/main" id="{7098E5B2-C2D0-4F92-8062-95376F91DA28}"/>
              </a:ext>
            </a:extLst>
          </p:cNvPr>
          <p:cNvSpPr>
            <a:spLocks noGrp="1"/>
          </p:cNvSpPr>
          <p:nvPr/>
        </p:nvSpPr>
        <p:spPr>
          <a:xfrm>
            <a:off x="571500" y="6505575"/>
            <a:ext cx="3619500" cy="190500"/>
          </a:xfrm>
          <a:prstGeom prst="rect">
            <a:avLst/>
          </a:prstGeom>
          <a:noFill/>
          <a:ln w="0">
            <a:noFill/>
            <a:prstDash val="solid"/>
          </a:ln>
        </p:spPr>
        <p:txBody>
          <a:bodyPr anchor="ctr"/>
          <a:lstStyle/>
          <a:p>
            <a:pPr algn="l">
              <a:buNone/>
              <a:defRPr sz="975" b="1">
                <a:solidFill>
                  <a:srgbClr val="8793A0"/>
                </a:solidFill>
              </a:defRPr>
            </a:pPr>
            <a:r>
              <a:rPr sz="975" b="1">
                <a:solidFill>
                  <a:srgbClr val="8793A0"/>
                </a:solidFill>
              </a:rPr>
              <a:t>INDIA GOLD LOAN | BOARD DISCUSSION</a:t>
            </a:r>
          </a:p>
        </p:txBody>
      </p:sp>
      <p:sp>
        <p:nvSpPr>
          <p:cNvPr id="6" name="Rectangle 5">
            <a:extLst>
              <a:ext uri="{FF2B5EF4-FFF2-40B4-BE49-F238E27FC236}">
                <a16:creationId xmlns:a16="http://schemas.microsoft.com/office/drawing/2014/main" id="{ADFED183-41AC-4230-B7D7-A76484332C42}"/>
              </a:ext>
            </a:extLst>
          </p:cNvPr>
          <p:cNvSpPr>
            <a:spLocks noGrp="1"/>
          </p:cNvSpPr>
          <p:nvPr/>
        </p:nvSpPr>
        <p:spPr>
          <a:xfrm>
            <a:off x="9810750" y="6505575"/>
            <a:ext cx="1143000"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24 AUG 2026</a:t>
            </a:r>
          </a:p>
        </p:txBody>
      </p:sp>
      <p:sp>
        <p:nvSpPr>
          <p:cNvPr id="7" name="Rectangle 6">
            <a:extLst>
              <a:ext uri="{FF2B5EF4-FFF2-40B4-BE49-F238E27FC236}">
                <a16:creationId xmlns:a16="http://schemas.microsoft.com/office/drawing/2014/main" id="{487CDD38-C169-43BD-8299-50456DD0068C}"/>
              </a:ext>
            </a:extLst>
          </p:cNvPr>
          <p:cNvSpPr>
            <a:spLocks noGrp="1"/>
          </p:cNvSpPr>
          <p:nvPr/>
        </p:nvSpPr>
        <p:spPr>
          <a:xfrm>
            <a:off x="11144250" y="6505575"/>
            <a:ext cx="333375"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2</a:t>
            </a:r>
          </a:p>
        </p:txBody>
      </p:sp>
      <p:sp>
        <p:nvSpPr>
          <p:cNvPr id="8" name="Rectangle 7">
            <a:extLst>
              <a:ext uri="{FF2B5EF4-FFF2-40B4-BE49-F238E27FC236}">
                <a16:creationId xmlns:a16="http://schemas.microsoft.com/office/drawing/2014/main" id="{ABE10636-10BD-4F09-A98F-8ED08CA09FB1}"/>
              </a:ext>
            </a:extLst>
          </p:cNvPr>
          <p:cNvSpPr>
            <a:spLocks noGrp="1"/>
          </p:cNvSpPr>
          <p:nvPr/>
        </p:nvSpPr>
        <p:spPr>
          <a:xfrm>
            <a:off x="571500" y="1581150"/>
            <a:ext cx="2190750" cy="400050"/>
          </a:xfrm>
          <a:prstGeom prst="rect">
            <a:avLst/>
          </a:prstGeom>
          <a:solidFill>
            <a:srgbClr val="0B1F3A"/>
          </a:solidFill>
          <a:ln w="0">
            <a:solidFill>
              <a:srgbClr val="FFFFFF"/>
            </a:solidFill>
            <a:prstDash val="solid"/>
          </a:ln>
        </p:spPr>
        <p:txBody>
          <a:bodyPr/>
          <a:lstStyle/>
          <a:p>
            <a:endParaRPr lang="en-IN"/>
          </a:p>
        </p:txBody>
      </p:sp>
      <p:sp>
        <p:nvSpPr>
          <p:cNvPr id="9" name="Rectangle 8">
            <a:extLst>
              <a:ext uri="{FF2B5EF4-FFF2-40B4-BE49-F238E27FC236}">
                <a16:creationId xmlns:a16="http://schemas.microsoft.com/office/drawing/2014/main" id="{4ABFEDE4-0743-4B5A-B01A-9D7ED6817CA9}"/>
              </a:ext>
            </a:extLst>
          </p:cNvPr>
          <p:cNvSpPr>
            <a:spLocks noGrp="1"/>
          </p:cNvSpPr>
          <p:nvPr/>
        </p:nvSpPr>
        <p:spPr>
          <a:xfrm>
            <a:off x="685800" y="1600200"/>
            <a:ext cx="1962150" cy="361950"/>
          </a:xfrm>
          <a:prstGeom prst="rect">
            <a:avLst/>
          </a:prstGeom>
          <a:noFill/>
          <a:ln w="0">
            <a:noFill/>
            <a:prstDash val="solid"/>
          </a:ln>
        </p:spPr>
        <p:txBody>
          <a:bodyPr anchor="ctr"/>
          <a:lstStyle/>
          <a:p>
            <a:pPr algn="l">
              <a:buNone/>
              <a:defRPr sz="1125" b="1">
                <a:solidFill>
                  <a:srgbClr val="FFFFFF"/>
                </a:solidFill>
              </a:defRPr>
            </a:pPr>
            <a:r>
              <a:rPr sz="1125" b="1">
                <a:solidFill>
                  <a:srgbClr val="FFFFFF"/>
                </a:solidFill>
              </a:rPr>
              <a:t>TARGET ACCOUNT</a:t>
            </a:r>
          </a:p>
        </p:txBody>
      </p:sp>
      <p:sp>
        <p:nvSpPr>
          <p:cNvPr id="10" name="Rectangle 9">
            <a:extLst>
              <a:ext uri="{FF2B5EF4-FFF2-40B4-BE49-F238E27FC236}">
                <a16:creationId xmlns:a16="http://schemas.microsoft.com/office/drawing/2014/main" id="{8E74A54F-AFC3-4A6C-BFDD-29114020F0FE}"/>
              </a:ext>
            </a:extLst>
          </p:cNvPr>
          <p:cNvSpPr>
            <a:spLocks noGrp="1"/>
          </p:cNvSpPr>
          <p:nvPr/>
        </p:nvSpPr>
        <p:spPr>
          <a:xfrm>
            <a:off x="2762250" y="1581150"/>
            <a:ext cx="3714750" cy="400050"/>
          </a:xfrm>
          <a:prstGeom prst="rect">
            <a:avLst/>
          </a:prstGeom>
          <a:solidFill>
            <a:srgbClr val="0B1F3A"/>
          </a:solidFill>
          <a:ln w="0">
            <a:solidFill>
              <a:srgbClr val="FFFFFF"/>
            </a:solidFill>
            <a:prstDash val="solid"/>
          </a:ln>
        </p:spPr>
        <p:txBody>
          <a:bodyPr/>
          <a:lstStyle/>
          <a:p>
            <a:endParaRPr lang="en-IN"/>
          </a:p>
        </p:txBody>
      </p:sp>
      <p:sp>
        <p:nvSpPr>
          <p:cNvPr id="11" name="Rectangle 10">
            <a:extLst>
              <a:ext uri="{FF2B5EF4-FFF2-40B4-BE49-F238E27FC236}">
                <a16:creationId xmlns:a16="http://schemas.microsoft.com/office/drawing/2014/main" id="{7A55318B-5B61-46A6-9954-59E4AB2B0AC2}"/>
              </a:ext>
            </a:extLst>
          </p:cNvPr>
          <p:cNvSpPr>
            <a:spLocks noGrp="1"/>
          </p:cNvSpPr>
          <p:nvPr/>
        </p:nvSpPr>
        <p:spPr>
          <a:xfrm>
            <a:off x="2876550" y="1600200"/>
            <a:ext cx="3486150" cy="361950"/>
          </a:xfrm>
          <a:prstGeom prst="rect">
            <a:avLst/>
          </a:prstGeom>
          <a:noFill/>
          <a:ln w="0">
            <a:noFill/>
            <a:prstDash val="solid"/>
          </a:ln>
        </p:spPr>
        <p:txBody>
          <a:bodyPr anchor="ctr"/>
          <a:lstStyle/>
          <a:p>
            <a:pPr algn="l">
              <a:buNone/>
              <a:defRPr sz="1125" b="1">
                <a:solidFill>
                  <a:srgbClr val="FFFFFF"/>
                </a:solidFill>
              </a:defRPr>
            </a:pPr>
            <a:r>
              <a:rPr sz="1125" b="1">
                <a:solidFill>
                  <a:srgbClr val="FFFFFF"/>
                </a:solidFill>
              </a:rPr>
              <a:t>CHANGE EVENT / SCALE SIGNAL</a:t>
            </a:r>
          </a:p>
        </p:txBody>
      </p:sp>
      <p:sp>
        <p:nvSpPr>
          <p:cNvPr id="12" name="Rectangle 11">
            <a:extLst>
              <a:ext uri="{FF2B5EF4-FFF2-40B4-BE49-F238E27FC236}">
                <a16:creationId xmlns:a16="http://schemas.microsoft.com/office/drawing/2014/main" id="{3F175740-36F2-4EBC-BF85-EE0FB1640AF6}"/>
              </a:ext>
            </a:extLst>
          </p:cNvPr>
          <p:cNvSpPr>
            <a:spLocks noGrp="1"/>
          </p:cNvSpPr>
          <p:nvPr/>
        </p:nvSpPr>
        <p:spPr>
          <a:xfrm>
            <a:off x="6477000" y="1581150"/>
            <a:ext cx="3571875" cy="400050"/>
          </a:xfrm>
          <a:prstGeom prst="rect">
            <a:avLst/>
          </a:prstGeom>
          <a:solidFill>
            <a:srgbClr val="0B1F3A"/>
          </a:solidFill>
          <a:ln w="0">
            <a:solidFill>
              <a:srgbClr val="FFFFFF"/>
            </a:solidFill>
            <a:prstDash val="solid"/>
          </a:ln>
        </p:spPr>
        <p:txBody>
          <a:bodyPr/>
          <a:lstStyle/>
          <a:p>
            <a:endParaRPr lang="en-IN"/>
          </a:p>
        </p:txBody>
      </p:sp>
      <p:sp>
        <p:nvSpPr>
          <p:cNvPr id="13" name="Rectangle 12">
            <a:extLst>
              <a:ext uri="{FF2B5EF4-FFF2-40B4-BE49-F238E27FC236}">
                <a16:creationId xmlns:a16="http://schemas.microsoft.com/office/drawing/2014/main" id="{0ADBBBE1-DD3A-42A2-B003-1EC2EA798F9D}"/>
              </a:ext>
            </a:extLst>
          </p:cNvPr>
          <p:cNvSpPr>
            <a:spLocks noGrp="1"/>
          </p:cNvSpPr>
          <p:nvPr/>
        </p:nvSpPr>
        <p:spPr>
          <a:xfrm>
            <a:off x="6591300" y="1600200"/>
            <a:ext cx="3343275" cy="361950"/>
          </a:xfrm>
          <a:prstGeom prst="rect">
            <a:avLst/>
          </a:prstGeom>
          <a:noFill/>
          <a:ln w="0">
            <a:noFill/>
            <a:prstDash val="solid"/>
          </a:ln>
        </p:spPr>
        <p:txBody>
          <a:bodyPr anchor="ctr"/>
          <a:lstStyle/>
          <a:p>
            <a:pPr algn="l">
              <a:buNone/>
              <a:defRPr sz="1125" b="1">
                <a:solidFill>
                  <a:srgbClr val="FFFFFF"/>
                </a:solidFill>
              </a:defRPr>
            </a:pPr>
            <a:r>
              <a:rPr sz="1125" b="1">
                <a:solidFill>
                  <a:srgbClr val="FFFFFF"/>
                </a:solidFill>
              </a:rPr>
              <a:t>BEST ENTRY PROPOSITION</a:t>
            </a:r>
          </a:p>
        </p:txBody>
      </p:sp>
      <p:sp>
        <p:nvSpPr>
          <p:cNvPr id="14" name="Rectangle 13">
            <a:extLst>
              <a:ext uri="{FF2B5EF4-FFF2-40B4-BE49-F238E27FC236}">
                <a16:creationId xmlns:a16="http://schemas.microsoft.com/office/drawing/2014/main" id="{580E6D4E-AFFB-4233-B09E-6DE13722394C}"/>
              </a:ext>
            </a:extLst>
          </p:cNvPr>
          <p:cNvSpPr>
            <a:spLocks noGrp="1"/>
          </p:cNvSpPr>
          <p:nvPr/>
        </p:nvSpPr>
        <p:spPr>
          <a:xfrm>
            <a:off x="10048875" y="1581150"/>
            <a:ext cx="1266825" cy="400050"/>
          </a:xfrm>
          <a:prstGeom prst="rect">
            <a:avLst/>
          </a:prstGeom>
          <a:solidFill>
            <a:srgbClr val="0B1F3A"/>
          </a:solidFill>
          <a:ln w="0">
            <a:solidFill>
              <a:srgbClr val="FFFFFF"/>
            </a:solidFill>
            <a:prstDash val="solid"/>
          </a:ln>
        </p:spPr>
        <p:txBody>
          <a:bodyPr/>
          <a:lstStyle/>
          <a:p>
            <a:endParaRPr lang="en-IN"/>
          </a:p>
        </p:txBody>
      </p:sp>
      <p:sp>
        <p:nvSpPr>
          <p:cNvPr id="15" name="Rectangle 14">
            <a:extLst>
              <a:ext uri="{FF2B5EF4-FFF2-40B4-BE49-F238E27FC236}">
                <a16:creationId xmlns:a16="http://schemas.microsoft.com/office/drawing/2014/main" id="{3B54A7E0-1674-4CDD-B4E1-6CB357C4030B}"/>
              </a:ext>
            </a:extLst>
          </p:cNvPr>
          <p:cNvSpPr>
            <a:spLocks noGrp="1"/>
          </p:cNvSpPr>
          <p:nvPr/>
        </p:nvSpPr>
        <p:spPr>
          <a:xfrm>
            <a:off x="10163175" y="1600200"/>
            <a:ext cx="1038225" cy="361950"/>
          </a:xfrm>
          <a:prstGeom prst="rect">
            <a:avLst/>
          </a:prstGeom>
          <a:noFill/>
          <a:ln w="0">
            <a:noFill/>
            <a:prstDash val="solid"/>
          </a:ln>
        </p:spPr>
        <p:txBody>
          <a:bodyPr anchor="ctr"/>
          <a:lstStyle/>
          <a:p>
            <a:pPr algn="ctr">
              <a:buNone/>
              <a:defRPr sz="1125" b="1">
                <a:solidFill>
                  <a:srgbClr val="FFFFFF"/>
                </a:solidFill>
              </a:defRPr>
            </a:pPr>
            <a:r>
              <a:rPr sz="1125" b="1">
                <a:solidFill>
                  <a:srgbClr val="FFFFFF"/>
                </a:solidFill>
              </a:rPr>
              <a:t>PRIORITY</a:t>
            </a:r>
          </a:p>
        </p:txBody>
      </p:sp>
      <p:sp>
        <p:nvSpPr>
          <p:cNvPr id="16" name="Rectangle 15">
            <a:extLst>
              <a:ext uri="{FF2B5EF4-FFF2-40B4-BE49-F238E27FC236}">
                <a16:creationId xmlns:a16="http://schemas.microsoft.com/office/drawing/2014/main" id="{6C0B4E24-9160-40E8-B0B3-AC9F33AB7716}"/>
              </a:ext>
            </a:extLst>
          </p:cNvPr>
          <p:cNvSpPr>
            <a:spLocks noGrp="1"/>
          </p:cNvSpPr>
          <p:nvPr/>
        </p:nvSpPr>
        <p:spPr>
          <a:xfrm>
            <a:off x="571500" y="1981200"/>
            <a:ext cx="10744200" cy="571500"/>
          </a:xfrm>
          <a:prstGeom prst="rect">
            <a:avLst/>
          </a:prstGeom>
          <a:solidFill>
            <a:srgbClr val="FAFBFC"/>
          </a:solidFill>
          <a:ln w="9525">
            <a:solidFill>
              <a:srgbClr val="D8DEE6"/>
            </a:solidFill>
            <a:prstDash val="solid"/>
          </a:ln>
        </p:spPr>
        <p:txBody>
          <a:bodyPr/>
          <a:lstStyle/>
          <a:p>
            <a:endParaRPr lang="en-IN"/>
          </a:p>
        </p:txBody>
      </p:sp>
      <p:sp>
        <p:nvSpPr>
          <p:cNvPr id="17" name="Rectangle 16">
            <a:extLst>
              <a:ext uri="{FF2B5EF4-FFF2-40B4-BE49-F238E27FC236}">
                <a16:creationId xmlns:a16="http://schemas.microsoft.com/office/drawing/2014/main" id="{70ABEAC1-FC38-45DB-AFD9-D9F6C516FBC0}"/>
              </a:ext>
            </a:extLst>
          </p:cNvPr>
          <p:cNvSpPr>
            <a:spLocks noGrp="1"/>
          </p:cNvSpPr>
          <p:nvPr/>
        </p:nvSpPr>
        <p:spPr>
          <a:xfrm>
            <a:off x="685800" y="2047875"/>
            <a:ext cx="1962150" cy="438150"/>
          </a:xfrm>
          <a:prstGeom prst="rect">
            <a:avLst/>
          </a:prstGeom>
          <a:noFill/>
          <a:ln w="0">
            <a:noFill/>
            <a:prstDash val="solid"/>
          </a:ln>
        </p:spPr>
        <p:txBody>
          <a:bodyPr anchor="ctr"/>
          <a:lstStyle/>
          <a:p>
            <a:pPr algn="l">
              <a:buNone/>
              <a:defRPr sz="1350" b="1">
                <a:solidFill>
                  <a:srgbClr val="0B1F3A"/>
                </a:solidFill>
              </a:defRPr>
            </a:pPr>
            <a:r>
              <a:rPr sz="1350" b="1">
                <a:solidFill>
                  <a:srgbClr val="0B1F3A"/>
                </a:solidFill>
              </a:rPr>
              <a:t>Aditya Birla Capital</a:t>
            </a:r>
          </a:p>
        </p:txBody>
      </p:sp>
      <p:sp>
        <p:nvSpPr>
          <p:cNvPr id="18" name="Rectangle 17">
            <a:extLst>
              <a:ext uri="{FF2B5EF4-FFF2-40B4-BE49-F238E27FC236}">
                <a16:creationId xmlns:a16="http://schemas.microsoft.com/office/drawing/2014/main" id="{6E776B28-D268-4117-B5C0-4732A8646878}"/>
              </a:ext>
            </a:extLst>
          </p:cNvPr>
          <p:cNvSpPr>
            <a:spLocks noGrp="1"/>
          </p:cNvSpPr>
          <p:nvPr/>
        </p:nvSpPr>
        <p:spPr>
          <a:xfrm>
            <a:off x="2762250" y="1981200"/>
            <a:ext cx="9525" cy="571500"/>
          </a:xfrm>
          <a:prstGeom prst="rect">
            <a:avLst/>
          </a:prstGeom>
          <a:solidFill>
            <a:srgbClr val="D8DEE6"/>
          </a:solidFill>
          <a:ln w="0">
            <a:solidFill>
              <a:srgbClr val="D8DEE6"/>
            </a:solidFill>
            <a:prstDash val="solid"/>
          </a:ln>
        </p:spPr>
        <p:txBody>
          <a:bodyPr/>
          <a:lstStyle/>
          <a:p>
            <a:endParaRPr lang="en-IN"/>
          </a:p>
        </p:txBody>
      </p:sp>
      <p:sp>
        <p:nvSpPr>
          <p:cNvPr id="19" name="Rectangle 18">
            <a:extLst>
              <a:ext uri="{FF2B5EF4-FFF2-40B4-BE49-F238E27FC236}">
                <a16:creationId xmlns:a16="http://schemas.microsoft.com/office/drawing/2014/main" id="{D8E352E3-DC2E-4556-8FBC-DAEB7B0D06C7}"/>
              </a:ext>
            </a:extLst>
          </p:cNvPr>
          <p:cNvSpPr>
            <a:spLocks noGrp="1"/>
          </p:cNvSpPr>
          <p:nvPr/>
        </p:nvSpPr>
        <p:spPr>
          <a:xfrm>
            <a:off x="2876550" y="2047875"/>
            <a:ext cx="3486150"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Greenfield launch; ~1,000 branches targeted in 3 years</a:t>
            </a:r>
          </a:p>
        </p:txBody>
      </p:sp>
      <p:sp>
        <p:nvSpPr>
          <p:cNvPr id="20" name="Rectangle 19">
            <a:extLst>
              <a:ext uri="{FF2B5EF4-FFF2-40B4-BE49-F238E27FC236}">
                <a16:creationId xmlns:a16="http://schemas.microsoft.com/office/drawing/2014/main" id="{FEDBBC02-1857-4269-BAE9-23FF059A0BF8}"/>
              </a:ext>
            </a:extLst>
          </p:cNvPr>
          <p:cNvSpPr>
            <a:spLocks noGrp="1"/>
          </p:cNvSpPr>
          <p:nvPr/>
        </p:nvSpPr>
        <p:spPr>
          <a:xfrm>
            <a:off x="6477000" y="1981200"/>
            <a:ext cx="9525" cy="571500"/>
          </a:xfrm>
          <a:prstGeom prst="rect">
            <a:avLst/>
          </a:prstGeom>
          <a:solidFill>
            <a:srgbClr val="D8DEE6"/>
          </a:solidFill>
          <a:ln w="0">
            <a:solidFill>
              <a:srgbClr val="D8DEE6"/>
            </a:solidFill>
            <a:prstDash val="solid"/>
          </a:ln>
        </p:spPr>
        <p:txBody>
          <a:bodyPr/>
          <a:lstStyle/>
          <a:p>
            <a:endParaRPr lang="en-IN"/>
          </a:p>
        </p:txBody>
      </p:sp>
      <p:sp>
        <p:nvSpPr>
          <p:cNvPr id="21" name="Rectangle 20">
            <a:extLst>
              <a:ext uri="{FF2B5EF4-FFF2-40B4-BE49-F238E27FC236}">
                <a16:creationId xmlns:a16="http://schemas.microsoft.com/office/drawing/2014/main" id="{F1AA841C-C01D-40ED-A4D8-91EEA5C69BDB}"/>
              </a:ext>
            </a:extLst>
          </p:cNvPr>
          <p:cNvSpPr>
            <a:spLocks noGrp="1"/>
          </p:cNvSpPr>
          <p:nvPr/>
        </p:nvSpPr>
        <p:spPr>
          <a:xfrm>
            <a:off x="6591300" y="2047875"/>
            <a:ext cx="3343275"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Full-stack origination, collateral and servicing platform</a:t>
            </a:r>
          </a:p>
        </p:txBody>
      </p:sp>
      <p:sp>
        <p:nvSpPr>
          <p:cNvPr id="22" name="Rectangle 21">
            <a:extLst>
              <a:ext uri="{FF2B5EF4-FFF2-40B4-BE49-F238E27FC236}">
                <a16:creationId xmlns:a16="http://schemas.microsoft.com/office/drawing/2014/main" id="{79E847E1-83C7-4AEE-BC45-62C52E0BA17E}"/>
              </a:ext>
            </a:extLst>
          </p:cNvPr>
          <p:cNvSpPr>
            <a:spLocks noGrp="1"/>
          </p:cNvSpPr>
          <p:nvPr/>
        </p:nvSpPr>
        <p:spPr>
          <a:xfrm>
            <a:off x="10048875" y="1981200"/>
            <a:ext cx="9525" cy="571500"/>
          </a:xfrm>
          <a:prstGeom prst="rect">
            <a:avLst/>
          </a:prstGeom>
          <a:solidFill>
            <a:srgbClr val="D8DEE6"/>
          </a:solidFill>
          <a:ln w="0">
            <a:solidFill>
              <a:srgbClr val="D8DEE6"/>
            </a:solidFill>
            <a:prstDash val="solid"/>
          </a:ln>
        </p:spPr>
        <p:txBody>
          <a:bodyPr/>
          <a:lstStyle/>
          <a:p>
            <a:endParaRPr lang="en-IN"/>
          </a:p>
        </p:txBody>
      </p:sp>
      <p:sp>
        <p:nvSpPr>
          <p:cNvPr id="23" name="Rectangle: Rounded Corners 22">
            <a:extLst>
              <a:ext uri="{FF2B5EF4-FFF2-40B4-BE49-F238E27FC236}">
                <a16:creationId xmlns:a16="http://schemas.microsoft.com/office/drawing/2014/main" id="{537FBFED-6E81-4C35-9291-7AC72336CE13}"/>
              </a:ext>
            </a:extLst>
          </p:cNvPr>
          <p:cNvSpPr>
            <a:spLocks noGrp="1"/>
          </p:cNvSpPr>
          <p:nvPr/>
        </p:nvSpPr>
        <p:spPr>
          <a:xfrm>
            <a:off x="10458450" y="2114550"/>
            <a:ext cx="438150" cy="304800"/>
          </a:xfrm>
          <a:prstGeom prst="roundRect">
            <a:avLst>
              <a:gd name="adj" fmla="val 21875"/>
            </a:avLst>
          </a:prstGeom>
          <a:solidFill>
            <a:srgbClr val="1473E6"/>
          </a:solidFill>
          <a:ln w="9525">
            <a:solidFill>
              <a:srgbClr val="1473E6"/>
            </a:solidFill>
            <a:prstDash val="solid"/>
          </a:ln>
        </p:spPr>
        <p:txBody>
          <a:bodyPr/>
          <a:lstStyle/>
          <a:p>
            <a:endParaRPr lang="en-IN"/>
          </a:p>
        </p:txBody>
      </p:sp>
      <p:sp>
        <p:nvSpPr>
          <p:cNvPr id="24" name="Rectangle 23">
            <a:extLst>
              <a:ext uri="{FF2B5EF4-FFF2-40B4-BE49-F238E27FC236}">
                <a16:creationId xmlns:a16="http://schemas.microsoft.com/office/drawing/2014/main" id="{C4633836-903A-4568-9EEC-296F59B80DE6}"/>
              </a:ext>
            </a:extLst>
          </p:cNvPr>
          <p:cNvSpPr>
            <a:spLocks noGrp="1"/>
          </p:cNvSpPr>
          <p:nvPr/>
        </p:nvSpPr>
        <p:spPr>
          <a:xfrm>
            <a:off x="10458450" y="2114550"/>
            <a:ext cx="438150" cy="304800"/>
          </a:xfrm>
          <a:prstGeom prst="rect">
            <a:avLst/>
          </a:prstGeom>
          <a:noFill/>
          <a:ln w="0">
            <a:noFill/>
            <a:prstDash val="solid"/>
          </a:ln>
        </p:spPr>
        <p:txBody>
          <a:bodyPr anchor="ctr"/>
          <a:lstStyle/>
          <a:p>
            <a:pPr algn="ctr">
              <a:buNone/>
              <a:defRPr sz="1425" b="1">
                <a:solidFill>
                  <a:srgbClr val="FFFFFF"/>
                </a:solidFill>
              </a:defRPr>
            </a:pPr>
            <a:r>
              <a:rPr sz="1425" b="1">
                <a:solidFill>
                  <a:srgbClr val="FFFFFF"/>
                </a:solidFill>
              </a:rPr>
              <a:t>A</a:t>
            </a:r>
          </a:p>
        </p:txBody>
      </p:sp>
      <p:sp>
        <p:nvSpPr>
          <p:cNvPr id="25" name="Rectangle 24">
            <a:extLst>
              <a:ext uri="{FF2B5EF4-FFF2-40B4-BE49-F238E27FC236}">
                <a16:creationId xmlns:a16="http://schemas.microsoft.com/office/drawing/2014/main" id="{7D7A7D5B-E8C5-4CA6-B420-6137C597D116}"/>
              </a:ext>
            </a:extLst>
          </p:cNvPr>
          <p:cNvSpPr>
            <a:spLocks noGrp="1"/>
          </p:cNvSpPr>
          <p:nvPr/>
        </p:nvSpPr>
        <p:spPr>
          <a:xfrm>
            <a:off x="571500" y="2552700"/>
            <a:ext cx="10744200" cy="571500"/>
          </a:xfrm>
          <a:prstGeom prst="rect">
            <a:avLst/>
          </a:prstGeom>
          <a:solidFill>
            <a:srgbClr val="FFFFFF"/>
          </a:solidFill>
          <a:ln w="9525">
            <a:solidFill>
              <a:srgbClr val="D8DEE6"/>
            </a:solidFill>
            <a:prstDash val="solid"/>
          </a:ln>
        </p:spPr>
        <p:txBody>
          <a:bodyPr/>
          <a:lstStyle/>
          <a:p>
            <a:endParaRPr lang="en-IN"/>
          </a:p>
        </p:txBody>
      </p:sp>
      <p:sp>
        <p:nvSpPr>
          <p:cNvPr id="26" name="Rectangle 25">
            <a:extLst>
              <a:ext uri="{FF2B5EF4-FFF2-40B4-BE49-F238E27FC236}">
                <a16:creationId xmlns:a16="http://schemas.microsoft.com/office/drawing/2014/main" id="{2676B9F1-6B39-46E8-B653-DF68C52F6EDA}"/>
              </a:ext>
            </a:extLst>
          </p:cNvPr>
          <p:cNvSpPr>
            <a:spLocks noGrp="1"/>
          </p:cNvSpPr>
          <p:nvPr/>
        </p:nvSpPr>
        <p:spPr>
          <a:xfrm>
            <a:off x="685800" y="2619375"/>
            <a:ext cx="1962150" cy="438150"/>
          </a:xfrm>
          <a:prstGeom prst="rect">
            <a:avLst/>
          </a:prstGeom>
          <a:noFill/>
          <a:ln w="0">
            <a:noFill/>
            <a:prstDash val="solid"/>
          </a:ln>
        </p:spPr>
        <p:txBody>
          <a:bodyPr anchor="ctr"/>
          <a:lstStyle/>
          <a:p>
            <a:pPr algn="l">
              <a:buNone/>
              <a:defRPr sz="1350" b="1">
                <a:solidFill>
                  <a:srgbClr val="0B1F3A"/>
                </a:solidFill>
              </a:defRPr>
            </a:pPr>
            <a:r>
              <a:rPr sz="1350" b="1">
                <a:solidFill>
                  <a:srgbClr val="0B1F3A"/>
                </a:solidFill>
              </a:rPr>
              <a:t>Tata Capital / Yogloans</a:t>
            </a:r>
          </a:p>
        </p:txBody>
      </p:sp>
      <p:sp>
        <p:nvSpPr>
          <p:cNvPr id="27" name="Rectangle 26">
            <a:extLst>
              <a:ext uri="{FF2B5EF4-FFF2-40B4-BE49-F238E27FC236}">
                <a16:creationId xmlns:a16="http://schemas.microsoft.com/office/drawing/2014/main" id="{9C5E5E0B-DC54-4497-82BF-56E7B559277C}"/>
              </a:ext>
            </a:extLst>
          </p:cNvPr>
          <p:cNvSpPr>
            <a:spLocks noGrp="1"/>
          </p:cNvSpPr>
          <p:nvPr/>
        </p:nvSpPr>
        <p:spPr>
          <a:xfrm>
            <a:off x="2762250" y="2552700"/>
            <a:ext cx="9525" cy="571500"/>
          </a:xfrm>
          <a:prstGeom prst="rect">
            <a:avLst/>
          </a:prstGeom>
          <a:solidFill>
            <a:srgbClr val="D8DEE6"/>
          </a:solidFill>
          <a:ln w="0">
            <a:solidFill>
              <a:srgbClr val="D8DEE6"/>
            </a:solidFill>
            <a:prstDash val="solid"/>
          </a:ln>
        </p:spPr>
        <p:txBody>
          <a:bodyPr/>
          <a:lstStyle/>
          <a:p>
            <a:endParaRPr lang="en-IN"/>
          </a:p>
        </p:txBody>
      </p:sp>
      <p:sp>
        <p:nvSpPr>
          <p:cNvPr id="28" name="Rectangle 27">
            <a:extLst>
              <a:ext uri="{FF2B5EF4-FFF2-40B4-BE49-F238E27FC236}">
                <a16:creationId xmlns:a16="http://schemas.microsoft.com/office/drawing/2014/main" id="{EEDCC2C5-B1A4-4CB9-A4AC-C206DD7B368A}"/>
              </a:ext>
            </a:extLst>
          </p:cNvPr>
          <p:cNvSpPr>
            <a:spLocks noGrp="1"/>
          </p:cNvSpPr>
          <p:nvPr/>
        </p:nvSpPr>
        <p:spPr>
          <a:xfrm>
            <a:off x="2876550" y="2619375"/>
            <a:ext cx="3486150"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162 acquired branches; 500+ branch and ₹4–5k Cr ambition</a:t>
            </a:r>
          </a:p>
        </p:txBody>
      </p:sp>
      <p:sp>
        <p:nvSpPr>
          <p:cNvPr id="29" name="Rectangle 28">
            <a:extLst>
              <a:ext uri="{FF2B5EF4-FFF2-40B4-BE49-F238E27FC236}">
                <a16:creationId xmlns:a16="http://schemas.microsoft.com/office/drawing/2014/main" id="{0B78B688-D07F-4738-8598-F118D5B85ECE}"/>
              </a:ext>
            </a:extLst>
          </p:cNvPr>
          <p:cNvSpPr>
            <a:spLocks noGrp="1"/>
          </p:cNvSpPr>
          <p:nvPr/>
        </p:nvSpPr>
        <p:spPr>
          <a:xfrm>
            <a:off x="6477000" y="2552700"/>
            <a:ext cx="9525" cy="571500"/>
          </a:xfrm>
          <a:prstGeom prst="rect">
            <a:avLst/>
          </a:prstGeom>
          <a:solidFill>
            <a:srgbClr val="D8DEE6"/>
          </a:solidFill>
          <a:ln w="0">
            <a:solidFill>
              <a:srgbClr val="D8DEE6"/>
            </a:solidFill>
            <a:prstDash val="solid"/>
          </a:ln>
        </p:spPr>
        <p:txBody>
          <a:bodyPr/>
          <a:lstStyle/>
          <a:p>
            <a:endParaRPr lang="en-IN"/>
          </a:p>
        </p:txBody>
      </p:sp>
      <p:sp>
        <p:nvSpPr>
          <p:cNvPr id="30" name="Rectangle 29">
            <a:extLst>
              <a:ext uri="{FF2B5EF4-FFF2-40B4-BE49-F238E27FC236}">
                <a16:creationId xmlns:a16="http://schemas.microsoft.com/office/drawing/2014/main" id="{BE9C2E82-685B-4B6E-8E97-6C3BD8F626B1}"/>
              </a:ext>
            </a:extLst>
          </p:cNvPr>
          <p:cNvSpPr>
            <a:spLocks noGrp="1"/>
          </p:cNvSpPr>
          <p:nvPr/>
        </p:nvSpPr>
        <p:spPr>
          <a:xfrm>
            <a:off x="6591300" y="2619375"/>
            <a:ext cx="3343275"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Acquisition integration and single gold-loan core</a:t>
            </a:r>
          </a:p>
        </p:txBody>
      </p:sp>
      <p:sp>
        <p:nvSpPr>
          <p:cNvPr id="31" name="Rectangle 30">
            <a:extLst>
              <a:ext uri="{FF2B5EF4-FFF2-40B4-BE49-F238E27FC236}">
                <a16:creationId xmlns:a16="http://schemas.microsoft.com/office/drawing/2014/main" id="{025A3165-A961-4531-91F5-35B620BD80CF}"/>
              </a:ext>
            </a:extLst>
          </p:cNvPr>
          <p:cNvSpPr>
            <a:spLocks noGrp="1"/>
          </p:cNvSpPr>
          <p:nvPr/>
        </p:nvSpPr>
        <p:spPr>
          <a:xfrm>
            <a:off x="10048875" y="2552700"/>
            <a:ext cx="9525" cy="571500"/>
          </a:xfrm>
          <a:prstGeom prst="rect">
            <a:avLst/>
          </a:prstGeom>
          <a:solidFill>
            <a:srgbClr val="D8DEE6"/>
          </a:solidFill>
          <a:ln w="0">
            <a:solidFill>
              <a:srgbClr val="D8DEE6"/>
            </a:solidFill>
            <a:prstDash val="solid"/>
          </a:ln>
        </p:spPr>
        <p:txBody>
          <a:bodyPr/>
          <a:lstStyle/>
          <a:p>
            <a:endParaRPr lang="en-IN"/>
          </a:p>
        </p:txBody>
      </p:sp>
      <p:sp>
        <p:nvSpPr>
          <p:cNvPr id="32" name="Rectangle: Rounded Corners 31">
            <a:extLst>
              <a:ext uri="{FF2B5EF4-FFF2-40B4-BE49-F238E27FC236}">
                <a16:creationId xmlns:a16="http://schemas.microsoft.com/office/drawing/2014/main" id="{DC933D8F-1F6C-4AAF-9FFC-B72D429CE215}"/>
              </a:ext>
            </a:extLst>
          </p:cNvPr>
          <p:cNvSpPr>
            <a:spLocks noGrp="1"/>
          </p:cNvSpPr>
          <p:nvPr/>
        </p:nvSpPr>
        <p:spPr>
          <a:xfrm>
            <a:off x="10458450" y="2686050"/>
            <a:ext cx="438150" cy="304800"/>
          </a:xfrm>
          <a:prstGeom prst="roundRect">
            <a:avLst>
              <a:gd name="adj" fmla="val 21875"/>
            </a:avLst>
          </a:prstGeom>
          <a:solidFill>
            <a:srgbClr val="1473E6"/>
          </a:solidFill>
          <a:ln w="9525">
            <a:solidFill>
              <a:srgbClr val="1473E6"/>
            </a:solidFill>
            <a:prstDash val="solid"/>
          </a:ln>
        </p:spPr>
        <p:txBody>
          <a:bodyPr/>
          <a:lstStyle/>
          <a:p>
            <a:endParaRPr lang="en-IN"/>
          </a:p>
        </p:txBody>
      </p:sp>
      <p:sp>
        <p:nvSpPr>
          <p:cNvPr id="33" name="Rectangle 32">
            <a:extLst>
              <a:ext uri="{FF2B5EF4-FFF2-40B4-BE49-F238E27FC236}">
                <a16:creationId xmlns:a16="http://schemas.microsoft.com/office/drawing/2014/main" id="{0A20C428-2EFB-4638-9E0F-81FE2614CBE5}"/>
              </a:ext>
            </a:extLst>
          </p:cNvPr>
          <p:cNvSpPr>
            <a:spLocks noGrp="1"/>
          </p:cNvSpPr>
          <p:nvPr/>
        </p:nvSpPr>
        <p:spPr>
          <a:xfrm>
            <a:off x="10458450" y="2686050"/>
            <a:ext cx="438150" cy="304800"/>
          </a:xfrm>
          <a:prstGeom prst="rect">
            <a:avLst/>
          </a:prstGeom>
          <a:noFill/>
          <a:ln w="0">
            <a:noFill/>
            <a:prstDash val="solid"/>
          </a:ln>
        </p:spPr>
        <p:txBody>
          <a:bodyPr anchor="ctr"/>
          <a:lstStyle/>
          <a:p>
            <a:pPr algn="ctr">
              <a:buNone/>
              <a:defRPr sz="1425" b="1">
                <a:solidFill>
                  <a:srgbClr val="FFFFFF"/>
                </a:solidFill>
              </a:defRPr>
            </a:pPr>
            <a:r>
              <a:rPr sz="1425" b="1">
                <a:solidFill>
                  <a:srgbClr val="FFFFFF"/>
                </a:solidFill>
              </a:rPr>
              <a:t>A</a:t>
            </a:r>
          </a:p>
        </p:txBody>
      </p:sp>
      <p:sp>
        <p:nvSpPr>
          <p:cNvPr id="34" name="Rectangle 33">
            <a:extLst>
              <a:ext uri="{FF2B5EF4-FFF2-40B4-BE49-F238E27FC236}">
                <a16:creationId xmlns:a16="http://schemas.microsoft.com/office/drawing/2014/main" id="{5D805BF3-3458-4546-83B4-BB5BEF83AD81}"/>
              </a:ext>
            </a:extLst>
          </p:cNvPr>
          <p:cNvSpPr>
            <a:spLocks noGrp="1"/>
          </p:cNvSpPr>
          <p:nvPr/>
        </p:nvSpPr>
        <p:spPr>
          <a:xfrm>
            <a:off x="571500" y="3124200"/>
            <a:ext cx="10744200" cy="571500"/>
          </a:xfrm>
          <a:prstGeom prst="rect">
            <a:avLst/>
          </a:prstGeom>
          <a:solidFill>
            <a:srgbClr val="FAFBFC"/>
          </a:solidFill>
          <a:ln w="9525">
            <a:solidFill>
              <a:srgbClr val="D8DEE6"/>
            </a:solidFill>
            <a:prstDash val="solid"/>
          </a:ln>
        </p:spPr>
        <p:txBody>
          <a:bodyPr/>
          <a:lstStyle/>
          <a:p>
            <a:endParaRPr lang="en-IN"/>
          </a:p>
        </p:txBody>
      </p:sp>
      <p:sp>
        <p:nvSpPr>
          <p:cNvPr id="35" name="Rectangle 34">
            <a:extLst>
              <a:ext uri="{FF2B5EF4-FFF2-40B4-BE49-F238E27FC236}">
                <a16:creationId xmlns:a16="http://schemas.microsoft.com/office/drawing/2014/main" id="{1A6D34AC-9C26-4027-B7C9-1D270E36D15B}"/>
              </a:ext>
            </a:extLst>
          </p:cNvPr>
          <p:cNvSpPr>
            <a:spLocks noGrp="1"/>
          </p:cNvSpPr>
          <p:nvPr/>
        </p:nvSpPr>
        <p:spPr>
          <a:xfrm>
            <a:off x="685800" y="3190875"/>
            <a:ext cx="1962150" cy="438150"/>
          </a:xfrm>
          <a:prstGeom prst="rect">
            <a:avLst/>
          </a:prstGeom>
          <a:noFill/>
          <a:ln w="0">
            <a:noFill/>
            <a:prstDash val="solid"/>
          </a:ln>
        </p:spPr>
        <p:txBody>
          <a:bodyPr anchor="ctr"/>
          <a:lstStyle/>
          <a:p>
            <a:pPr algn="l">
              <a:buNone/>
              <a:defRPr sz="1350" b="1">
                <a:solidFill>
                  <a:srgbClr val="0B1F3A"/>
                </a:solidFill>
              </a:defRPr>
            </a:pPr>
            <a:r>
              <a:rPr sz="1350" b="1">
                <a:solidFill>
                  <a:srgbClr val="0B1F3A"/>
                </a:solidFill>
              </a:rPr>
              <a:t>L&amp;T Finance</a:t>
            </a:r>
          </a:p>
        </p:txBody>
      </p:sp>
      <p:sp>
        <p:nvSpPr>
          <p:cNvPr id="36" name="Rectangle 35">
            <a:extLst>
              <a:ext uri="{FF2B5EF4-FFF2-40B4-BE49-F238E27FC236}">
                <a16:creationId xmlns:a16="http://schemas.microsoft.com/office/drawing/2014/main" id="{BC0BE5DC-5FB9-44A2-82FB-2A520EBF1508}"/>
              </a:ext>
            </a:extLst>
          </p:cNvPr>
          <p:cNvSpPr>
            <a:spLocks noGrp="1"/>
          </p:cNvSpPr>
          <p:nvPr/>
        </p:nvSpPr>
        <p:spPr>
          <a:xfrm>
            <a:off x="2762250" y="3124200"/>
            <a:ext cx="9525" cy="571500"/>
          </a:xfrm>
          <a:prstGeom prst="rect">
            <a:avLst/>
          </a:prstGeom>
          <a:solidFill>
            <a:srgbClr val="D8DEE6"/>
          </a:solidFill>
          <a:ln w="0">
            <a:solidFill>
              <a:srgbClr val="D8DEE6"/>
            </a:solidFill>
            <a:prstDash val="solid"/>
          </a:ln>
        </p:spPr>
        <p:txBody>
          <a:bodyPr/>
          <a:lstStyle/>
          <a:p>
            <a:endParaRPr lang="en-IN"/>
          </a:p>
        </p:txBody>
      </p:sp>
      <p:sp>
        <p:nvSpPr>
          <p:cNvPr id="37" name="Rectangle 36">
            <a:extLst>
              <a:ext uri="{FF2B5EF4-FFF2-40B4-BE49-F238E27FC236}">
                <a16:creationId xmlns:a16="http://schemas.microsoft.com/office/drawing/2014/main" id="{D190B50B-02A0-4FF0-9924-E2B0F07DE309}"/>
              </a:ext>
            </a:extLst>
          </p:cNvPr>
          <p:cNvSpPr>
            <a:spLocks noGrp="1"/>
          </p:cNvSpPr>
          <p:nvPr/>
        </p:nvSpPr>
        <p:spPr>
          <a:xfrm>
            <a:off x="2876550" y="3190875"/>
            <a:ext cx="3486150"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₹1,350 Cr book acquired; ~500 branches/year expansion plan</a:t>
            </a:r>
          </a:p>
        </p:txBody>
      </p:sp>
      <p:sp>
        <p:nvSpPr>
          <p:cNvPr id="38" name="Rectangle 37">
            <a:extLst>
              <a:ext uri="{FF2B5EF4-FFF2-40B4-BE49-F238E27FC236}">
                <a16:creationId xmlns:a16="http://schemas.microsoft.com/office/drawing/2014/main" id="{02010FC5-DE95-407A-A41B-F485D598A4AC}"/>
              </a:ext>
            </a:extLst>
          </p:cNvPr>
          <p:cNvSpPr>
            <a:spLocks noGrp="1"/>
          </p:cNvSpPr>
          <p:nvPr/>
        </p:nvSpPr>
        <p:spPr>
          <a:xfrm>
            <a:off x="6477000" y="3124200"/>
            <a:ext cx="9525" cy="571500"/>
          </a:xfrm>
          <a:prstGeom prst="rect">
            <a:avLst/>
          </a:prstGeom>
          <a:solidFill>
            <a:srgbClr val="D8DEE6"/>
          </a:solidFill>
          <a:ln w="0">
            <a:solidFill>
              <a:srgbClr val="D8DEE6"/>
            </a:solidFill>
            <a:prstDash val="solid"/>
          </a:ln>
        </p:spPr>
        <p:txBody>
          <a:bodyPr/>
          <a:lstStyle/>
          <a:p>
            <a:endParaRPr lang="en-IN"/>
          </a:p>
        </p:txBody>
      </p:sp>
      <p:sp>
        <p:nvSpPr>
          <p:cNvPr id="39" name="Rectangle 38">
            <a:extLst>
              <a:ext uri="{FF2B5EF4-FFF2-40B4-BE49-F238E27FC236}">
                <a16:creationId xmlns:a16="http://schemas.microsoft.com/office/drawing/2014/main" id="{7FDFFC73-C8BD-4B59-AE54-1D0FAAC86D44}"/>
              </a:ext>
            </a:extLst>
          </p:cNvPr>
          <p:cNvSpPr>
            <a:spLocks noGrp="1"/>
          </p:cNvSpPr>
          <p:nvPr/>
        </p:nvSpPr>
        <p:spPr>
          <a:xfrm>
            <a:off x="6591300" y="3190875"/>
            <a:ext cx="3343275"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Migration, scale operations and partner-led distribution</a:t>
            </a:r>
          </a:p>
        </p:txBody>
      </p:sp>
      <p:sp>
        <p:nvSpPr>
          <p:cNvPr id="40" name="Rectangle 39">
            <a:extLst>
              <a:ext uri="{FF2B5EF4-FFF2-40B4-BE49-F238E27FC236}">
                <a16:creationId xmlns:a16="http://schemas.microsoft.com/office/drawing/2014/main" id="{441F2098-1717-4768-AAAA-9094BBD808D5}"/>
              </a:ext>
            </a:extLst>
          </p:cNvPr>
          <p:cNvSpPr>
            <a:spLocks noGrp="1"/>
          </p:cNvSpPr>
          <p:nvPr/>
        </p:nvSpPr>
        <p:spPr>
          <a:xfrm>
            <a:off x="10048875" y="3124200"/>
            <a:ext cx="9525" cy="571500"/>
          </a:xfrm>
          <a:prstGeom prst="rect">
            <a:avLst/>
          </a:prstGeom>
          <a:solidFill>
            <a:srgbClr val="D8DEE6"/>
          </a:solidFill>
          <a:ln w="0">
            <a:solidFill>
              <a:srgbClr val="D8DEE6"/>
            </a:solidFill>
            <a:prstDash val="solid"/>
          </a:ln>
        </p:spPr>
        <p:txBody>
          <a:bodyPr/>
          <a:lstStyle/>
          <a:p>
            <a:endParaRPr lang="en-IN"/>
          </a:p>
        </p:txBody>
      </p:sp>
      <p:sp>
        <p:nvSpPr>
          <p:cNvPr id="41" name="Rectangle: Rounded Corners 40">
            <a:extLst>
              <a:ext uri="{FF2B5EF4-FFF2-40B4-BE49-F238E27FC236}">
                <a16:creationId xmlns:a16="http://schemas.microsoft.com/office/drawing/2014/main" id="{7CB027A7-95DA-4B6F-8F49-C800C9D53A22}"/>
              </a:ext>
            </a:extLst>
          </p:cNvPr>
          <p:cNvSpPr>
            <a:spLocks noGrp="1"/>
          </p:cNvSpPr>
          <p:nvPr/>
        </p:nvSpPr>
        <p:spPr>
          <a:xfrm>
            <a:off x="10458450" y="3257550"/>
            <a:ext cx="438150" cy="304800"/>
          </a:xfrm>
          <a:prstGeom prst="roundRect">
            <a:avLst>
              <a:gd name="adj" fmla="val 21875"/>
            </a:avLst>
          </a:prstGeom>
          <a:solidFill>
            <a:srgbClr val="1473E6"/>
          </a:solidFill>
          <a:ln w="9525">
            <a:solidFill>
              <a:srgbClr val="1473E6"/>
            </a:solidFill>
            <a:prstDash val="solid"/>
          </a:ln>
        </p:spPr>
        <p:txBody>
          <a:bodyPr/>
          <a:lstStyle/>
          <a:p>
            <a:endParaRPr lang="en-IN"/>
          </a:p>
        </p:txBody>
      </p:sp>
      <p:sp>
        <p:nvSpPr>
          <p:cNvPr id="42" name="Rectangle 41">
            <a:extLst>
              <a:ext uri="{FF2B5EF4-FFF2-40B4-BE49-F238E27FC236}">
                <a16:creationId xmlns:a16="http://schemas.microsoft.com/office/drawing/2014/main" id="{0D639C41-EEAF-47C7-A9BD-5B6FE4E5262B}"/>
              </a:ext>
            </a:extLst>
          </p:cNvPr>
          <p:cNvSpPr>
            <a:spLocks noGrp="1"/>
          </p:cNvSpPr>
          <p:nvPr/>
        </p:nvSpPr>
        <p:spPr>
          <a:xfrm>
            <a:off x="10458450" y="3257550"/>
            <a:ext cx="438150" cy="304800"/>
          </a:xfrm>
          <a:prstGeom prst="rect">
            <a:avLst/>
          </a:prstGeom>
          <a:noFill/>
          <a:ln w="0">
            <a:noFill/>
            <a:prstDash val="solid"/>
          </a:ln>
        </p:spPr>
        <p:txBody>
          <a:bodyPr anchor="ctr"/>
          <a:lstStyle/>
          <a:p>
            <a:pPr algn="ctr">
              <a:buNone/>
              <a:defRPr sz="1425" b="1">
                <a:solidFill>
                  <a:srgbClr val="FFFFFF"/>
                </a:solidFill>
              </a:defRPr>
            </a:pPr>
            <a:r>
              <a:rPr sz="1425" b="1">
                <a:solidFill>
                  <a:srgbClr val="FFFFFF"/>
                </a:solidFill>
              </a:rPr>
              <a:t>A</a:t>
            </a:r>
          </a:p>
        </p:txBody>
      </p:sp>
      <p:sp>
        <p:nvSpPr>
          <p:cNvPr id="43" name="Rectangle 42">
            <a:extLst>
              <a:ext uri="{FF2B5EF4-FFF2-40B4-BE49-F238E27FC236}">
                <a16:creationId xmlns:a16="http://schemas.microsoft.com/office/drawing/2014/main" id="{E5141F10-EFEB-4EAD-B26D-9390F4D0340D}"/>
              </a:ext>
            </a:extLst>
          </p:cNvPr>
          <p:cNvSpPr>
            <a:spLocks noGrp="1"/>
          </p:cNvSpPr>
          <p:nvPr/>
        </p:nvSpPr>
        <p:spPr>
          <a:xfrm>
            <a:off x="571500" y="3695700"/>
            <a:ext cx="10744200" cy="571500"/>
          </a:xfrm>
          <a:prstGeom prst="rect">
            <a:avLst/>
          </a:prstGeom>
          <a:solidFill>
            <a:srgbClr val="FFFFFF"/>
          </a:solidFill>
          <a:ln w="9525">
            <a:solidFill>
              <a:srgbClr val="D8DEE6"/>
            </a:solidFill>
            <a:prstDash val="solid"/>
          </a:ln>
        </p:spPr>
        <p:txBody>
          <a:bodyPr/>
          <a:lstStyle/>
          <a:p>
            <a:endParaRPr lang="en-IN"/>
          </a:p>
        </p:txBody>
      </p:sp>
      <p:sp>
        <p:nvSpPr>
          <p:cNvPr id="44" name="Rectangle 43">
            <a:extLst>
              <a:ext uri="{FF2B5EF4-FFF2-40B4-BE49-F238E27FC236}">
                <a16:creationId xmlns:a16="http://schemas.microsoft.com/office/drawing/2014/main" id="{FE5C5639-D65E-43A3-86AA-F232AA5EE200}"/>
              </a:ext>
            </a:extLst>
          </p:cNvPr>
          <p:cNvSpPr>
            <a:spLocks noGrp="1"/>
          </p:cNvSpPr>
          <p:nvPr/>
        </p:nvSpPr>
        <p:spPr>
          <a:xfrm>
            <a:off x="685800" y="3762375"/>
            <a:ext cx="1962150" cy="438150"/>
          </a:xfrm>
          <a:prstGeom prst="rect">
            <a:avLst/>
          </a:prstGeom>
          <a:noFill/>
          <a:ln w="0">
            <a:noFill/>
            <a:prstDash val="solid"/>
          </a:ln>
        </p:spPr>
        <p:txBody>
          <a:bodyPr anchor="ctr"/>
          <a:lstStyle/>
          <a:p>
            <a:pPr algn="l">
              <a:buNone/>
              <a:defRPr sz="1350" b="1">
                <a:solidFill>
                  <a:srgbClr val="0B1F3A"/>
                </a:solidFill>
              </a:defRPr>
            </a:pPr>
            <a:r>
              <a:rPr sz="1350" b="1">
                <a:solidFill>
                  <a:srgbClr val="0B1F3A"/>
                </a:solidFill>
              </a:rPr>
              <a:t>Godrej Capital</a:t>
            </a:r>
          </a:p>
        </p:txBody>
      </p:sp>
      <p:sp>
        <p:nvSpPr>
          <p:cNvPr id="45" name="Rectangle 44">
            <a:extLst>
              <a:ext uri="{FF2B5EF4-FFF2-40B4-BE49-F238E27FC236}">
                <a16:creationId xmlns:a16="http://schemas.microsoft.com/office/drawing/2014/main" id="{CE91681B-4EB2-40E7-9166-9395C7F85048}"/>
              </a:ext>
            </a:extLst>
          </p:cNvPr>
          <p:cNvSpPr>
            <a:spLocks noGrp="1"/>
          </p:cNvSpPr>
          <p:nvPr/>
        </p:nvSpPr>
        <p:spPr>
          <a:xfrm>
            <a:off x="2762250" y="3695700"/>
            <a:ext cx="9525" cy="571500"/>
          </a:xfrm>
          <a:prstGeom prst="rect">
            <a:avLst/>
          </a:prstGeom>
          <a:solidFill>
            <a:srgbClr val="D8DEE6"/>
          </a:solidFill>
          <a:ln w="0">
            <a:solidFill>
              <a:srgbClr val="D8DEE6"/>
            </a:solidFill>
            <a:prstDash val="solid"/>
          </a:ln>
        </p:spPr>
        <p:txBody>
          <a:bodyPr/>
          <a:lstStyle/>
          <a:p>
            <a:endParaRPr lang="en-IN"/>
          </a:p>
        </p:txBody>
      </p:sp>
      <p:sp>
        <p:nvSpPr>
          <p:cNvPr id="46" name="Rectangle 45">
            <a:extLst>
              <a:ext uri="{FF2B5EF4-FFF2-40B4-BE49-F238E27FC236}">
                <a16:creationId xmlns:a16="http://schemas.microsoft.com/office/drawing/2014/main" id="{ECFAEE12-13DD-41FE-98B2-24D23673105D}"/>
              </a:ext>
            </a:extLst>
          </p:cNvPr>
          <p:cNvSpPr>
            <a:spLocks noGrp="1"/>
          </p:cNvSpPr>
          <p:nvPr/>
        </p:nvSpPr>
        <p:spPr>
          <a:xfrm>
            <a:off x="2876550" y="3762375"/>
            <a:ext cx="3486150"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New platform; ₹5,000 Cr AUM ambition by 2031</a:t>
            </a:r>
          </a:p>
        </p:txBody>
      </p:sp>
      <p:sp>
        <p:nvSpPr>
          <p:cNvPr id="47" name="Rectangle 46">
            <a:extLst>
              <a:ext uri="{FF2B5EF4-FFF2-40B4-BE49-F238E27FC236}">
                <a16:creationId xmlns:a16="http://schemas.microsoft.com/office/drawing/2014/main" id="{8319B302-6734-4B46-BA63-D8E8A953B042}"/>
              </a:ext>
            </a:extLst>
          </p:cNvPr>
          <p:cNvSpPr>
            <a:spLocks noGrp="1"/>
          </p:cNvSpPr>
          <p:nvPr/>
        </p:nvSpPr>
        <p:spPr>
          <a:xfrm>
            <a:off x="6477000" y="3695700"/>
            <a:ext cx="9525" cy="571500"/>
          </a:xfrm>
          <a:prstGeom prst="rect">
            <a:avLst/>
          </a:prstGeom>
          <a:solidFill>
            <a:srgbClr val="D8DEE6"/>
          </a:solidFill>
          <a:ln w="0">
            <a:solidFill>
              <a:srgbClr val="D8DEE6"/>
            </a:solidFill>
            <a:prstDash val="solid"/>
          </a:ln>
        </p:spPr>
        <p:txBody>
          <a:bodyPr/>
          <a:lstStyle/>
          <a:p>
            <a:endParaRPr lang="en-IN"/>
          </a:p>
        </p:txBody>
      </p:sp>
      <p:sp>
        <p:nvSpPr>
          <p:cNvPr id="48" name="Rectangle 47">
            <a:extLst>
              <a:ext uri="{FF2B5EF4-FFF2-40B4-BE49-F238E27FC236}">
                <a16:creationId xmlns:a16="http://schemas.microsoft.com/office/drawing/2014/main" id="{309302D4-7494-4D46-9532-27EFF9C898E9}"/>
              </a:ext>
            </a:extLst>
          </p:cNvPr>
          <p:cNvSpPr>
            <a:spLocks noGrp="1"/>
          </p:cNvSpPr>
          <p:nvPr/>
        </p:nvSpPr>
        <p:spPr>
          <a:xfrm>
            <a:off x="6591300" y="3762375"/>
            <a:ext cx="3343275"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Greenfield platform with embedded controls and analytics</a:t>
            </a:r>
          </a:p>
        </p:txBody>
      </p:sp>
      <p:sp>
        <p:nvSpPr>
          <p:cNvPr id="49" name="Rectangle 48">
            <a:extLst>
              <a:ext uri="{FF2B5EF4-FFF2-40B4-BE49-F238E27FC236}">
                <a16:creationId xmlns:a16="http://schemas.microsoft.com/office/drawing/2014/main" id="{804B5AFF-D885-446F-ACF9-017E6370EE1E}"/>
              </a:ext>
            </a:extLst>
          </p:cNvPr>
          <p:cNvSpPr>
            <a:spLocks noGrp="1"/>
          </p:cNvSpPr>
          <p:nvPr/>
        </p:nvSpPr>
        <p:spPr>
          <a:xfrm>
            <a:off x="10048875" y="3695700"/>
            <a:ext cx="9525" cy="571500"/>
          </a:xfrm>
          <a:prstGeom prst="rect">
            <a:avLst/>
          </a:prstGeom>
          <a:solidFill>
            <a:srgbClr val="D8DEE6"/>
          </a:solidFill>
          <a:ln w="0">
            <a:solidFill>
              <a:srgbClr val="D8DEE6"/>
            </a:solidFill>
            <a:prstDash val="solid"/>
          </a:ln>
        </p:spPr>
        <p:txBody>
          <a:bodyPr/>
          <a:lstStyle/>
          <a:p>
            <a:endParaRPr lang="en-IN"/>
          </a:p>
        </p:txBody>
      </p:sp>
      <p:sp>
        <p:nvSpPr>
          <p:cNvPr id="50" name="Rectangle: Rounded Corners 49">
            <a:extLst>
              <a:ext uri="{FF2B5EF4-FFF2-40B4-BE49-F238E27FC236}">
                <a16:creationId xmlns:a16="http://schemas.microsoft.com/office/drawing/2014/main" id="{3EFDAB3E-9650-4A48-9AC8-D27240F80378}"/>
              </a:ext>
            </a:extLst>
          </p:cNvPr>
          <p:cNvSpPr>
            <a:spLocks noGrp="1"/>
          </p:cNvSpPr>
          <p:nvPr/>
        </p:nvSpPr>
        <p:spPr>
          <a:xfrm>
            <a:off x="10458450" y="3829050"/>
            <a:ext cx="438150" cy="304800"/>
          </a:xfrm>
          <a:prstGeom prst="roundRect">
            <a:avLst>
              <a:gd name="adj" fmla="val 21875"/>
            </a:avLst>
          </a:prstGeom>
          <a:solidFill>
            <a:srgbClr val="1473E6"/>
          </a:solidFill>
          <a:ln w="9525">
            <a:solidFill>
              <a:srgbClr val="1473E6"/>
            </a:solidFill>
            <a:prstDash val="solid"/>
          </a:ln>
        </p:spPr>
        <p:txBody>
          <a:bodyPr/>
          <a:lstStyle/>
          <a:p>
            <a:endParaRPr lang="en-IN"/>
          </a:p>
        </p:txBody>
      </p:sp>
      <p:sp>
        <p:nvSpPr>
          <p:cNvPr id="51" name="Rectangle 50">
            <a:extLst>
              <a:ext uri="{FF2B5EF4-FFF2-40B4-BE49-F238E27FC236}">
                <a16:creationId xmlns:a16="http://schemas.microsoft.com/office/drawing/2014/main" id="{B4188B08-D1E5-459C-A244-F211AB0A943D}"/>
              </a:ext>
            </a:extLst>
          </p:cNvPr>
          <p:cNvSpPr>
            <a:spLocks noGrp="1"/>
          </p:cNvSpPr>
          <p:nvPr/>
        </p:nvSpPr>
        <p:spPr>
          <a:xfrm>
            <a:off x="10458450" y="3829050"/>
            <a:ext cx="438150" cy="304800"/>
          </a:xfrm>
          <a:prstGeom prst="rect">
            <a:avLst/>
          </a:prstGeom>
          <a:noFill/>
          <a:ln w="0">
            <a:noFill/>
            <a:prstDash val="solid"/>
          </a:ln>
        </p:spPr>
        <p:txBody>
          <a:bodyPr anchor="ctr"/>
          <a:lstStyle/>
          <a:p>
            <a:pPr algn="ctr">
              <a:buNone/>
              <a:defRPr sz="1425" b="1">
                <a:solidFill>
                  <a:srgbClr val="FFFFFF"/>
                </a:solidFill>
              </a:defRPr>
            </a:pPr>
            <a:r>
              <a:rPr sz="1425" b="1">
                <a:solidFill>
                  <a:srgbClr val="FFFFFF"/>
                </a:solidFill>
              </a:rPr>
              <a:t>A</a:t>
            </a:r>
          </a:p>
        </p:txBody>
      </p:sp>
      <p:sp>
        <p:nvSpPr>
          <p:cNvPr id="52" name="Rectangle 51">
            <a:extLst>
              <a:ext uri="{FF2B5EF4-FFF2-40B4-BE49-F238E27FC236}">
                <a16:creationId xmlns:a16="http://schemas.microsoft.com/office/drawing/2014/main" id="{F70022F7-951C-4C4B-AC4D-01B675620B68}"/>
              </a:ext>
            </a:extLst>
          </p:cNvPr>
          <p:cNvSpPr>
            <a:spLocks noGrp="1"/>
          </p:cNvSpPr>
          <p:nvPr/>
        </p:nvSpPr>
        <p:spPr>
          <a:xfrm>
            <a:off x="571500" y="4267200"/>
            <a:ext cx="10744200" cy="571500"/>
          </a:xfrm>
          <a:prstGeom prst="rect">
            <a:avLst/>
          </a:prstGeom>
          <a:solidFill>
            <a:srgbClr val="FAFBFC"/>
          </a:solidFill>
          <a:ln w="9525">
            <a:solidFill>
              <a:srgbClr val="D8DEE6"/>
            </a:solidFill>
            <a:prstDash val="solid"/>
          </a:ln>
        </p:spPr>
        <p:txBody>
          <a:bodyPr/>
          <a:lstStyle/>
          <a:p>
            <a:endParaRPr lang="en-IN"/>
          </a:p>
        </p:txBody>
      </p:sp>
      <p:sp>
        <p:nvSpPr>
          <p:cNvPr id="53" name="Rectangle 52">
            <a:extLst>
              <a:ext uri="{FF2B5EF4-FFF2-40B4-BE49-F238E27FC236}">
                <a16:creationId xmlns:a16="http://schemas.microsoft.com/office/drawing/2014/main" id="{37511143-DDFF-4884-A230-255F8ED13F64}"/>
              </a:ext>
            </a:extLst>
          </p:cNvPr>
          <p:cNvSpPr>
            <a:spLocks noGrp="1"/>
          </p:cNvSpPr>
          <p:nvPr/>
        </p:nvSpPr>
        <p:spPr>
          <a:xfrm>
            <a:off x="685800" y="4333875"/>
            <a:ext cx="1962150" cy="438150"/>
          </a:xfrm>
          <a:prstGeom prst="rect">
            <a:avLst/>
          </a:prstGeom>
          <a:noFill/>
          <a:ln w="0">
            <a:noFill/>
            <a:prstDash val="solid"/>
          </a:ln>
        </p:spPr>
        <p:txBody>
          <a:bodyPr anchor="ctr"/>
          <a:lstStyle/>
          <a:p>
            <a:pPr algn="l">
              <a:buNone/>
              <a:defRPr sz="1350" b="1">
                <a:solidFill>
                  <a:srgbClr val="0B1F3A"/>
                </a:solidFill>
              </a:defRPr>
            </a:pPr>
            <a:r>
              <a:rPr sz="1350" b="1">
                <a:solidFill>
                  <a:srgbClr val="0B1F3A"/>
                </a:solidFill>
              </a:rPr>
              <a:t>Cholamandalam</a:t>
            </a:r>
          </a:p>
        </p:txBody>
      </p:sp>
      <p:sp>
        <p:nvSpPr>
          <p:cNvPr id="54" name="Rectangle 53">
            <a:extLst>
              <a:ext uri="{FF2B5EF4-FFF2-40B4-BE49-F238E27FC236}">
                <a16:creationId xmlns:a16="http://schemas.microsoft.com/office/drawing/2014/main" id="{04074916-9021-4F64-8A9C-2490139895D6}"/>
              </a:ext>
            </a:extLst>
          </p:cNvPr>
          <p:cNvSpPr>
            <a:spLocks noGrp="1"/>
          </p:cNvSpPr>
          <p:nvPr/>
        </p:nvSpPr>
        <p:spPr>
          <a:xfrm>
            <a:off x="2762250" y="4267200"/>
            <a:ext cx="9525" cy="571500"/>
          </a:xfrm>
          <a:prstGeom prst="rect">
            <a:avLst/>
          </a:prstGeom>
          <a:solidFill>
            <a:srgbClr val="D8DEE6"/>
          </a:solidFill>
          <a:ln w="0">
            <a:solidFill>
              <a:srgbClr val="D8DEE6"/>
            </a:solidFill>
            <a:prstDash val="solid"/>
          </a:ln>
        </p:spPr>
        <p:txBody>
          <a:bodyPr/>
          <a:lstStyle/>
          <a:p>
            <a:endParaRPr lang="en-IN"/>
          </a:p>
        </p:txBody>
      </p:sp>
      <p:sp>
        <p:nvSpPr>
          <p:cNvPr id="55" name="Rectangle 54">
            <a:extLst>
              <a:ext uri="{FF2B5EF4-FFF2-40B4-BE49-F238E27FC236}">
                <a16:creationId xmlns:a16="http://schemas.microsoft.com/office/drawing/2014/main" id="{5223DF4B-EC58-44D6-A7E6-CA5FD21F0113}"/>
              </a:ext>
            </a:extLst>
          </p:cNvPr>
          <p:cNvSpPr>
            <a:spLocks noGrp="1"/>
          </p:cNvSpPr>
          <p:nvPr/>
        </p:nvSpPr>
        <p:spPr>
          <a:xfrm>
            <a:off x="2876550" y="4333875"/>
            <a:ext cx="3486150"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₹2,240 Cr AUM across 450 branches; 149k active loans¹</a:t>
            </a:r>
          </a:p>
        </p:txBody>
      </p:sp>
      <p:sp>
        <p:nvSpPr>
          <p:cNvPr id="56" name="Rectangle 55">
            <a:extLst>
              <a:ext uri="{FF2B5EF4-FFF2-40B4-BE49-F238E27FC236}">
                <a16:creationId xmlns:a16="http://schemas.microsoft.com/office/drawing/2014/main" id="{238866D4-BD68-4634-864C-A2007A9B13F9}"/>
              </a:ext>
            </a:extLst>
          </p:cNvPr>
          <p:cNvSpPr>
            <a:spLocks noGrp="1"/>
          </p:cNvSpPr>
          <p:nvPr/>
        </p:nvSpPr>
        <p:spPr>
          <a:xfrm>
            <a:off x="6477000" y="4267200"/>
            <a:ext cx="9525" cy="571500"/>
          </a:xfrm>
          <a:prstGeom prst="rect">
            <a:avLst/>
          </a:prstGeom>
          <a:solidFill>
            <a:srgbClr val="D8DEE6"/>
          </a:solidFill>
          <a:ln w="0">
            <a:solidFill>
              <a:srgbClr val="D8DEE6"/>
            </a:solidFill>
            <a:prstDash val="solid"/>
          </a:ln>
        </p:spPr>
        <p:txBody>
          <a:bodyPr/>
          <a:lstStyle/>
          <a:p>
            <a:endParaRPr lang="en-IN"/>
          </a:p>
        </p:txBody>
      </p:sp>
      <p:sp>
        <p:nvSpPr>
          <p:cNvPr id="57" name="Rectangle 56">
            <a:extLst>
              <a:ext uri="{FF2B5EF4-FFF2-40B4-BE49-F238E27FC236}">
                <a16:creationId xmlns:a16="http://schemas.microsoft.com/office/drawing/2014/main" id="{24D4238E-A7BD-4F3C-B3DF-1E45FF9A99A0}"/>
              </a:ext>
            </a:extLst>
          </p:cNvPr>
          <p:cNvSpPr>
            <a:spLocks noGrp="1"/>
          </p:cNvSpPr>
          <p:nvPr/>
        </p:nvSpPr>
        <p:spPr>
          <a:xfrm>
            <a:off x="6591300" y="4333875"/>
            <a:ext cx="3343275"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Core replacement and straight-through renewals</a:t>
            </a:r>
          </a:p>
        </p:txBody>
      </p:sp>
      <p:sp>
        <p:nvSpPr>
          <p:cNvPr id="58" name="Rectangle 57">
            <a:extLst>
              <a:ext uri="{FF2B5EF4-FFF2-40B4-BE49-F238E27FC236}">
                <a16:creationId xmlns:a16="http://schemas.microsoft.com/office/drawing/2014/main" id="{2C41A41E-209C-4808-B13B-19650199A2E0}"/>
              </a:ext>
            </a:extLst>
          </p:cNvPr>
          <p:cNvSpPr>
            <a:spLocks noGrp="1"/>
          </p:cNvSpPr>
          <p:nvPr/>
        </p:nvSpPr>
        <p:spPr>
          <a:xfrm>
            <a:off x="10048875" y="4267200"/>
            <a:ext cx="9525" cy="571500"/>
          </a:xfrm>
          <a:prstGeom prst="rect">
            <a:avLst/>
          </a:prstGeom>
          <a:solidFill>
            <a:srgbClr val="D8DEE6"/>
          </a:solidFill>
          <a:ln w="0">
            <a:solidFill>
              <a:srgbClr val="D8DEE6"/>
            </a:solidFill>
            <a:prstDash val="solid"/>
          </a:ln>
        </p:spPr>
        <p:txBody>
          <a:bodyPr/>
          <a:lstStyle/>
          <a:p>
            <a:endParaRPr lang="en-IN"/>
          </a:p>
        </p:txBody>
      </p:sp>
      <p:sp>
        <p:nvSpPr>
          <p:cNvPr id="59" name="Rectangle: Rounded Corners 58">
            <a:extLst>
              <a:ext uri="{FF2B5EF4-FFF2-40B4-BE49-F238E27FC236}">
                <a16:creationId xmlns:a16="http://schemas.microsoft.com/office/drawing/2014/main" id="{9D536CD9-808E-40C1-9F95-49613E979EE6}"/>
              </a:ext>
            </a:extLst>
          </p:cNvPr>
          <p:cNvSpPr>
            <a:spLocks noGrp="1"/>
          </p:cNvSpPr>
          <p:nvPr/>
        </p:nvSpPr>
        <p:spPr>
          <a:xfrm>
            <a:off x="10458450" y="4400550"/>
            <a:ext cx="438150" cy="304800"/>
          </a:xfrm>
          <a:prstGeom prst="roundRect">
            <a:avLst>
              <a:gd name="adj" fmla="val 21875"/>
            </a:avLst>
          </a:prstGeom>
          <a:solidFill>
            <a:srgbClr val="1473E6"/>
          </a:solidFill>
          <a:ln w="9525">
            <a:solidFill>
              <a:srgbClr val="1473E6"/>
            </a:solidFill>
            <a:prstDash val="solid"/>
          </a:ln>
        </p:spPr>
        <p:txBody>
          <a:bodyPr/>
          <a:lstStyle/>
          <a:p>
            <a:endParaRPr lang="en-IN"/>
          </a:p>
        </p:txBody>
      </p:sp>
      <p:sp>
        <p:nvSpPr>
          <p:cNvPr id="60" name="Rectangle 59">
            <a:extLst>
              <a:ext uri="{FF2B5EF4-FFF2-40B4-BE49-F238E27FC236}">
                <a16:creationId xmlns:a16="http://schemas.microsoft.com/office/drawing/2014/main" id="{2168BA4C-6B01-4073-B5DA-0593701290B4}"/>
              </a:ext>
            </a:extLst>
          </p:cNvPr>
          <p:cNvSpPr>
            <a:spLocks noGrp="1"/>
          </p:cNvSpPr>
          <p:nvPr/>
        </p:nvSpPr>
        <p:spPr>
          <a:xfrm>
            <a:off x="10458450" y="4400550"/>
            <a:ext cx="438150" cy="304800"/>
          </a:xfrm>
          <a:prstGeom prst="rect">
            <a:avLst/>
          </a:prstGeom>
          <a:noFill/>
          <a:ln w="0">
            <a:noFill/>
            <a:prstDash val="solid"/>
          </a:ln>
        </p:spPr>
        <p:txBody>
          <a:bodyPr anchor="ctr"/>
          <a:lstStyle/>
          <a:p>
            <a:pPr algn="ctr">
              <a:buNone/>
              <a:defRPr sz="1425" b="1">
                <a:solidFill>
                  <a:srgbClr val="FFFFFF"/>
                </a:solidFill>
              </a:defRPr>
            </a:pPr>
            <a:r>
              <a:rPr sz="1425" b="1">
                <a:solidFill>
                  <a:srgbClr val="FFFFFF"/>
                </a:solidFill>
              </a:rPr>
              <a:t>A</a:t>
            </a:r>
          </a:p>
        </p:txBody>
      </p:sp>
      <p:sp>
        <p:nvSpPr>
          <p:cNvPr id="61" name="Rectangle 60">
            <a:extLst>
              <a:ext uri="{FF2B5EF4-FFF2-40B4-BE49-F238E27FC236}">
                <a16:creationId xmlns:a16="http://schemas.microsoft.com/office/drawing/2014/main" id="{677B1244-FBF5-48F9-9F16-345676FD1BC5}"/>
              </a:ext>
            </a:extLst>
          </p:cNvPr>
          <p:cNvSpPr>
            <a:spLocks noGrp="1"/>
          </p:cNvSpPr>
          <p:nvPr/>
        </p:nvSpPr>
        <p:spPr>
          <a:xfrm>
            <a:off x="571500" y="4838700"/>
            <a:ext cx="10744200" cy="571500"/>
          </a:xfrm>
          <a:prstGeom prst="rect">
            <a:avLst/>
          </a:prstGeom>
          <a:solidFill>
            <a:srgbClr val="FFFFFF"/>
          </a:solidFill>
          <a:ln w="9525">
            <a:solidFill>
              <a:srgbClr val="D8DEE6"/>
            </a:solidFill>
            <a:prstDash val="solid"/>
          </a:ln>
        </p:spPr>
        <p:txBody>
          <a:bodyPr/>
          <a:lstStyle/>
          <a:p>
            <a:endParaRPr lang="en-IN"/>
          </a:p>
        </p:txBody>
      </p:sp>
      <p:sp>
        <p:nvSpPr>
          <p:cNvPr id="62" name="Rectangle 61">
            <a:extLst>
              <a:ext uri="{FF2B5EF4-FFF2-40B4-BE49-F238E27FC236}">
                <a16:creationId xmlns:a16="http://schemas.microsoft.com/office/drawing/2014/main" id="{EB05A65F-B33D-46E0-9679-561D668BAB66}"/>
              </a:ext>
            </a:extLst>
          </p:cNvPr>
          <p:cNvSpPr>
            <a:spLocks noGrp="1"/>
          </p:cNvSpPr>
          <p:nvPr/>
        </p:nvSpPr>
        <p:spPr>
          <a:xfrm>
            <a:off x="685800" y="4905375"/>
            <a:ext cx="1962150" cy="438150"/>
          </a:xfrm>
          <a:prstGeom prst="rect">
            <a:avLst/>
          </a:prstGeom>
          <a:noFill/>
          <a:ln w="0">
            <a:noFill/>
            <a:prstDash val="solid"/>
          </a:ln>
        </p:spPr>
        <p:txBody>
          <a:bodyPr anchor="ctr"/>
          <a:lstStyle/>
          <a:p>
            <a:pPr algn="l">
              <a:buNone/>
              <a:defRPr sz="1350" b="1">
                <a:solidFill>
                  <a:srgbClr val="0B1F3A"/>
                </a:solidFill>
              </a:defRPr>
            </a:pPr>
            <a:r>
              <a:rPr sz="1350" b="1">
                <a:solidFill>
                  <a:srgbClr val="0B1F3A"/>
                </a:solidFill>
              </a:rPr>
              <a:t>Fedfina</a:t>
            </a:r>
          </a:p>
        </p:txBody>
      </p:sp>
      <p:sp>
        <p:nvSpPr>
          <p:cNvPr id="63" name="Rectangle 62">
            <a:extLst>
              <a:ext uri="{FF2B5EF4-FFF2-40B4-BE49-F238E27FC236}">
                <a16:creationId xmlns:a16="http://schemas.microsoft.com/office/drawing/2014/main" id="{58A4FC2D-D72F-41F0-ABFA-3921A03BA849}"/>
              </a:ext>
            </a:extLst>
          </p:cNvPr>
          <p:cNvSpPr>
            <a:spLocks noGrp="1"/>
          </p:cNvSpPr>
          <p:nvPr/>
        </p:nvSpPr>
        <p:spPr>
          <a:xfrm>
            <a:off x="2762250" y="4838700"/>
            <a:ext cx="9525" cy="571500"/>
          </a:xfrm>
          <a:prstGeom prst="rect">
            <a:avLst/>
          </a:prstGeom>
          <a:solidFill>
            <a:srgbClr val="D8DEE6"/>
          </a:solidFill>
          <a:ln w="0">
            <a:solidFill>
              <a:srgbClr val="D8DEE6"/>
            </a:solidFill>
            <a:prstDash val="solid"/>
          </a:ln>
        </p:spPr>
        <p:txBody>
          <a:bodyPr/>
          <a:lstStyle/>
          <a:p>
            <a:endParaRPr lang="en-IN"/>
          </a:p>
        </p:txBody>
      </p:sp>
      <p:sp>
        <p:nvSpPr>
          <p:cNvPr id="64" name="Rectangle 63">
            <a:extLst>
              <a:ext uri="{FF2B5EF4-FFF2-40B4-BE49-F238E27FC236}">
                <a16:creationId xmlns:a16="http://schemas.microsoft.com/office/drawing/2014/main" id="{D0E5892C-4B5A-4794-906B-D057DBC6440F}"/>
              </a:ext>
            </a:extLst>
          </p:cNvPr>
          <p:cNvSpPr>
            <a:spLocks noGrp="1"/>
          </p:cNvSpPr>
          <p:nvPr/>
        </p:nvSpPr>
        <p:spPr>
          <a:xfrm>
            <a:off x="2876550" y="4905375"/>
            <a:ext cx="3486150"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₹11,191 Cr AUM; 76.7% YoY growth at Jun-26</a:t>
            </a:r>
          </a:p>
        </p:txBody>
      </p:sp>
      <p:sp>
        <p:nvSpPr>
          <p:cNvPr id="65" name="Rectangle 64">
            <a:extLst>
              <a:ext uri="{FF2B5EF4-FFF2-40B4-BE49-F238E27FC236}">
                <a16:creationId xmlns:a16="http://schemas.microsoft.com/office/drawing/2014/main" id="{E2A1FBA4-11B4-47E9-B80E-10BDD8D8F0C1}"/>
              </a:ext>
            </a:extLst>
          </p:cNvPr>
          <p:cNvSpPr>
            <a:spLocks noGrp="1"/>
          </p:cNvSpPr>
          <p:nvPr/>
        </p:nvSpPr>
        <p:spPr>
          <a:xfrm>
            <a:off x="6477000" y="4838700"/>
            <a:ext cx="9525" cy="571500"/>
          </a:xfrm>
          <a:prstGeom prst="rect">
            <a:avLst/>
          </a:prstGeom>
          <a:solidFill>
            <a:srgbClr val="D8DEE6"/>
          </a:solidFill>
          <a:ln w="0">
            <a:solidFill>
              <a:srgbClr val="D8DEE6"/>
            </a:solidFill>
            <a:prstDash val="solid"/>
          </a:ln>
        </p:spPr>
        <p:txBody>
          <a:bodyPr/>
          <a:lstStyle/>
          <a:p>
            <a:endParaRPr lang="en-IN"/>
          </a:p>
        </p:txBody>
      </p:sp>
      <p:sp>
        <p:nvSpPr>
          <p:cNvPr id="66" name="Rectangle 65">
            <a:extLst>
              <a:ext uri="{FF2B5EF4-FFF2-40B4-BE49-F238E27FC236}">
                <a16:creationId xmlns:a16="http://schemas.microsoft.com/office/drawing/2014/main" id="{021EBC65-D310-4539-B6C1-06C24061A74F}"/>
              </a:ext>
            </a:extLst>
          </p:cNvPr>
          <p:cNvSpPr>
            <a:spLocks noGrp="1"/>
          </p:cNvSpPr>
          <p:nvPr/>
        </p:nvSpPr>
        <p:spPr>
          <a:xfrm>
            <a:off x="6591300" y="4905375"/>
            <a:ext cx="3343275" cy="438150"/>
          </a:xfrm>
          <a:prstGeom prst="rect">
            <a:avLst/>
          </a:prstGeom>
          <a:noFill/>
          <a:ln w="0">
            <a:noFill/>
            <a:prstDash val="solid"/>
          </a:ln>
        </p:spPr>
        <p:txBody>
          <a:bodyPr anchor="ctr"/>
          <a:lstStyle/>
          <a:p>
            <a:pPr algn="l">
              <a:buNone/>
              <a:defRPr sz="1200" b="0">
                <a:solidFill>
                  <a:srgbClr val="1C2733"/>
                </a:solidFill>
              </a:defRPr>
            </a:pPr>
            <a:r>
              <a:rPr sz="1200" b="0">
                <a:solidFill>
                  <a:srgbClr val="1C2733"/>
                </a:solidFill>
              </a:rPr>
              <a:t>Scale modernization, productivity and collateral control</a:t>
            </a:r>
          </a:p>
        </p:txBody>
      </p:sp>
      <p:sp>
        <p:nvSpPr>
          <p:cNvPr id="67" name="Rectangle 66">
            <a:extLst>
              <a:ext uri="{FF2B5EF4-FFF2-40B4-BE49-F238E27FC236}">
                <a16:creationId xmlns:a16="http://schemas.microsoft.com/office/drawing/2014/main" id="{EDFE0508-1144-4A63-BC88-69A3E03CE138}"/>
              </a:ext>
            </a:extLst>
          </p:cNvPr>
          <p:cNvSpPr>
            <a:spLocks noGrp="1"/>
          </p:cNvSpPr>
          <p:nvPr/>
        </p:nvSpPr>
        <p:spPr>
          <a:xfrm>
            <a:off x="10048875" y="4838700"/>
            <a:ext cx="9525" cy="571500"/>
          </a:xfrm>
          <a:prstGeom prst="rect">
            <a:avLst/>
          </a:prstGeom>
          <a:solidFill>
            <a:srgbClr val="D8DEE6"/>
          </a:solidFill>
          <a:ln w="0">
            <a:solidFill>
              <a:srgbClr val="D8DEE6"/>
            </a:solidFill>
            <a:prstDash val="solid"/>
          </a:ln>
        </p:spPr>
        <p:txBody>
          <a:bodyPr/>
          <a:lstStyle/>
          <a:p>
            <a:endParaRPr lang="en-IN"/>
          </a:p>
        </p:txBody>
      </p:sp>
      <p:sp>
        <p:nvSpPr>
          <p:cNvPr id="68" name="Rectangle: Rounded Corners 67">
            <a:extLst>
              <a:ext uri="{FF2B5EF4-FFF2-40B4-BE49-F238E27FC236}">
                <a16:creationId xmlns:a16="http://schemas.microsoft.com/office/drawing/2014/main" id="{6E630520-5A18-4BC1-A1E5-40F6F27C6450}"/>
              </a:ext>
            </a:extLst>
          </p:cNvPr>
          <p:cNvSpPr>
            <a:spLocks noGrp="1"/>
          </p:cNvSpPr>
          <p:nvPr/>
        </p:nvSpPr>
        <p:spPr>
          <a:xfrm>
            <a:off x="10458450" y="4972050"/>
            <a:ext cx="438150" cy="304800"/>
          </a:xfrm>
          <a:prstGeom prst="roundRect">
            <a:avLst>
              <a:gd name="adj" fmla="val 21875"/>
            </a:avLst>
          </a:prstGeom>
          <a:solidFill>
            <a:srgbClr val="F5F7FA"/>
          </a:solidFill>
          <a:ln w="9525">
            <a:solidFill>
              <a:srgbClr val="D8DEE6"/>
            </a:solidFill>
            <a:prstDash val="solid"/>
          </a:ln>
        </p:spPr>
        <p:txBody>
          <a:bodyPr/>
          <a:lstStyle/>
          <a:p>
            <a:endParaRPr lang="en-IN"/>
          </a:p>
        </p:txBody>
      </p:sp>
      <p:sp>
        <p:nvSpPr>
          <p:cNvPr id="69" name="Rectangle 68">
            <a:extLst>
              <a:ext uri="{FF2B5EF4-FFF2-40B4-BE49-F238E27FC236}">
                <a16:creationId xmlns:a16="http://schemas.microsoft.com/office/drawing/2014/main" id="{223D7022-9393-418A-8813-C911BAFCF5DA}"/>
              </a:ext>
            </a:extLst>
          </p:cNvPr>
          <p:cNvSpPr>
            <a:spLocks noGrp="1"/>
          </p:cNvSpPr>
          <p:nvPr/>
        </p:nvSpPr>
        <p:spPr>
          <a:xfrm>
            <a:off x="10458450" y="4972050"/>
            <a:ext cx="438150" cy="304800"/>
          </a:xfrm>
          <a:prstGeom prst="rect">
            <a:avLst/>
          </a:prstGeom>
          <a:noFill/>
          <a:ln w="0">
            <a:noFill/>
            <a:prstDash val="solid"/>
          </a:ln>
        </p:spPr>
        <p:txBody>
          <a:bodyPr anchor="ctr"/>
          <a:lstStyle/>
          <a:p>
            <a:pPr algn="ctr">
              <a:buNone/>
              <a:defRPr sz="1425" b="1">
                <a:solidFill>
                  <a:srgbClr val="0B1F3A"/>
                </a:solidFill>
              </a:defRPr>
            </a:pPr>
            <a:r>
              <a:rPr sz="1425" b="1">
                <a:solidFill>
                  <a:srgbClr val="0B1F3A"/>
                </a:solidFill>
              </a:rPr>
              <a:t>B</a:t>
            </a:r>
          </a:p>
        </p:txBody>
      </p:sp>
      <p:sp>
        <p:nvSpPr>
          <p:cNvPr id="70" name="Rectangle 69">
            <a:extLst>
              <a:ext uri="{FF2B5EF4-FFF2-40B4-BE49-F238E27FC236}">
                <a16:creationId xmlns:a16="http://schemas.microsoft.com/office/drawing/2014/main" id="{FC327866-22C9-40C6-BB3D-455C329C858F}"/>
              </a:ext>
            </a:extLst>
          </p:cNvPr>
          <p:cNvSpPr>
            <a:spLocks noGrp="1"/>
          </p:cNvSpPr>
          <p:nvPr/>
        </p:nvSpPr>
        <p:spPr>
          <a:xfrm>
            <a:off x="571500" y="5562600"/>
            <a:ext cx="10744200" cy="685800"/>
          </a:xfrm>
          <a:prstGeom prst="rect">
            <a:avLst/>
          </a:prstGeom>
          <a:solidFill>
            <a:srgbClr val="EAF3FF"/>
          </a:solidFill>
          <a:ln w="0">
            <a:solidFill>
              <a:srgbClr val="EAF3FF"/>
            </a:solidFill>
            <a:prstDash val="solid"/>
          </a:ln>
        </p:spPr>
        <p:txBody>
          <a:bodyPr/>
          <a:lstStyle/>
          <a:p>
            <a:endParaRPr lang="en-IN"/>
          </a:p>
        </p:txBody>
      </p:sp>
      <p:sp>
        <p:nvSpPr>
          <p:cNvPr id="71" name="Rectangle 70">
            <a:extLst>
              <a:ext uri="{FF2B5EF4-FFF2-40B4-BE49-F238E27FC236}">
                <a16:creationId xmlns:a16="http://schemas.microsoft.com/office/drawing/2014/main" id="{CE40C4B0-7A8C-4039-8AFA-A1FAA4B51B88}"/>
              </a:ext>
            </a:extLst>
          </p:cNvPr>
          <p:cNvSpPr>
            <a:spLocks noGrp="1"/>
          </p:cNvSpPr>
          <p:nvPr/>
        </p:nvSpPr>
        <p:spPr>
          <a:xfrm>
            <a:off x="781050" y="5676900"/>
            <a:ext cx="1095375" cy="238125"/>
          </a:xfrm>
          <a:prstGeom prst="rect">
            <a:avLst/>
          </a:prstGeom>
          <a:noFill/>
          <a:ln w="0">
            <a:noFill/>
            <a:prstDash val="solid"/>
          </a:ln>
        </p:spPr>
        <p:txBody>
          <a:bodyPr anchor="ctr"/>
          <a:lstStyle/>
          <a:p>
            <a:pPr algn="l">
              <a:buNone/>
              <a:defRPr sz="1275" b="1">
                <a:solidFill>
                  <a:srgbClr val="1473E6"/>
                </a:solidFill>
              </a:defRPr>
            </a:pPr>
            <a:r>
              <a:rPr sz="1275" b="1">
                <a:solidFill>
                  <a:srgbClr val="1473E6"/>
                </a:solidFill>
              </a:rPr>
              <a:t>WAVE 2</a:t>
            </a:r>
          </a:p>
        </p:txBody>
      </p:sp>
      <p:sp>
        <p:nvSpPr>
          <p:cNvPr id="72" name="Rectangle 71">
            <a:extLst>
              <a:ext uri="{FF2B5EF4-FFF2-40B4-BE49-F238E27FC236}">
                <a16:creationId xmlns:a16="http://schemas.microsoft.com/office/drawing/2014/main" id="{2FB6C44A-0E0A-48C4-9B3C-A1B64776E769}"/>
              </a:ext>
            </a:extLst>
          </p:cNvPr>
          <p:cNvSpPr>
            <a:spLocks noGrp="1"/>
          </p:cNvSpPr>
          <p:nvPr/>
        </p:nvSpPr>
        <p:spPr>
          <a:xfrm>
            <a:off x="1790700" y="5629275"/>
            <a:ext cx="6762750" cy="323850"/>
          </a:xfrm>
          <a:prstGeom prst="rect">
            <a:avLst/>
          </a:prstGeom>
          <a:noFill/>
          <a:ln w="0">
            <a:noFill/>
            <a:prstDash val="solid"/>
          </a:ln>
        </p:spPr>
        <p:txBody>
          <a:bodyPr anchor="ctr"/>
          <a:lstStyle/>
          <a:p>
            <a:pPr algn="l">
              <a:buNone/>
              <a:defRPr sz="1500" b="1">
                <a:solidFill>
                  <a:srgbClr val="0B1F3A"/>
                </a:solidFill>
              </a:defRPr>
            </a:pPr>
            <a:r>
              <a:rPr sz="1500" b="1">
                <a:solidFill>
                  <a:srgbClr val="0B1F3A"/>
                </a:solidFill>
              </a:rPr>
              <a:t>CSB • Indian Bank • Federal Bank • South Indian Bank • IIFL • Manappuram</a:t>
            </a:r>
          </a:p>
        </p:txBody>
      </p:sp>
      <p:sp>
        <p:nvSpPr>
          <p:cNvPr id="73" name="Rectangle 72">
            <a:extLst>
              <a:ext uri="{FF2B5EF4-FFF2-40B4-BE49-F238E27FC236}">
                <a16:creationId xmlns:a16="http://schemas.microsoft.com/office/drawing/2014/main" id="{BFC17F3F-DE49-4C21-B24E-10F9686EA2F2}"/>
              </a:ext>
            </a:extLst>
          </p:cNvPr>
          <p:cNvSpPr>
            <a:spLocks noGrp="1"/>
          </p:cNvSpPr>
          <p:nvPr/>
        </p:nvSpPr>
        <p:spPr>
          <a:xfrm>
            <a:off x="8610600" y="5629275"/>
            <a:ext cx="2476500" cy="323850"/>
          </a:xfrm>
          <a:prstGeom prst="rect">
            <a:avLst/>
          </a:prstGeom>
          <a:noFill/>
          <a:ln w="0">
            <a:noFill/>
            <a:prstDash val="solid"/>
          </a:ln>
        </p:spPr>
        <p:txBody>
          <a:bodyPr anchor="ctr"/>
          <a:lstStyle/>
          <a:p>
            <a:pPr algn="r">
              <a:buNone/>
              <a:defRPr sz="1350" b="1">
                <a:solidFill>
                  <a:srgbClr val="C73E3A"/>
                </a:solidFill>
              </a:defRPr>
            </a:pPr>
            <a:r>
              <a:rPr sz="1350" b="1">
                <a:solidFill>
                  <a:srgbClr val="C73E3A"/>
                </a:solidFill>
              </a:rPr>
              <a:t>Pursue after 2 lighthouse wins</a:t>
            </a:r>
          </a:p>
        </p:txBody>
      </p:sp>
      <p:sp>
        <p:nvSpPr>
          <p:cNvPr id="74" name="Rectangle 73">
            <a:extLst>
              <a:ext uri="{FF2B5EF4-FFF2-40B4-BE49-F238E27FC236}">
                <a16:creationId xmlns:a16="http://schemas.microsoft.com/office/drawing/2014/main" id="{877AD34F-DAC5-438D-A007-9F1E7DB0907B}"/>
              </a:ext>
            </a:extLst>
          </p:cNvPr>
          <p:cNvSpPr>
            <a:spLocks noGrp="1"/>
          </p:cNvSpPr>
          <p:nvPr/>
        </p:nvSpPr>
        <p:spPr>
          <a:xfrm>
            <a:off x="781050" y="5962650"/>
            <a:ext cx="6191250"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¹Internal customer intelligence, Jul-26. Public disclosures may differ.</a:t>
            </a:r>
          </a:p>
        </p:txBody>
      </p:sp>
      <p:sp>
        <p:nvSpPr>
          <p:cNvPr id="75" name="Rectangle 74">
            <a:extLst>
              <a:ext uri="{FF2B5EF4-FFF2-40B4-BE49-F238E27FC236}">
                <a16:creationId xmlns:a16="http://schemas.microsoft.com/office/drawing/2014/main" id="{54138DC1-6DF9-4064-A18B-B7F0E906915C}"/>
              </a:ext>
            </a:extLst>
          </p:cNvPr>
          <p:cNvSpPr>
            <a:spLocks noGrp="1"/>
          </p:cNvSpPr>
          <p:nvPr/>
        </p:nvSpPr>
        <p:spPr>
          <a:xfrm>
            <a:off x="571500" y="6286500"/>
            <a:ext cx="8572500"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Source: company announcements and investor presentations; internal analysis</a:t>
            </a:r>
          </a:p>
        </p:txBody>
      </p:sp>
    </p:spTree>
    <p:extLst>
      <p:ext uri="{BB962C8B-B14F-4D97-AF65-F5344CB8AC3E}">
        <p14:creationId xmlns:p14="http://schemas.microsoft.com/office/powerpoint/2010/main" val="586217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E28ACF83-2D70-427C-91E5-909EF306C765}"/>
              </a:ext>
            </a:extLst>
          </p:cNvPr>
          <p:cNvSpPr>
            <a:spLocks noGrp="1"/>
          </p:cNvSpPr>
          <p:nvPr/>
        </p:nvSpPr>
        <p:spPr>
          <a:xfrm>
            <a:off x="0" y="0"/>
            <a:ext cx="133350" cy="6858000"/>
          </a:xfrm>
          <a:prstGeom prst="rect">
            <a:avLst/>
          </a:prstGeom>
          <a:solidFill>
            <a:srgbClr val="0B1F3A"/>
          </a:solidFill>
          <a:ln w="0">
            <a:solidFill>
              <a:srgbClr val="0B1F3A"/>
            </a:solidFill>
            <a:prstDash val="solid"/>
          </a:ln>
        </p:spPr>
        <p:txBody>
          <a:bodyPr/>
          <a:lstStyle/>
          <a:p>
            <a:endParaRPr lang="en-IN"/>
          </a:p>
        </p:txBody>
      </p:sp>
      <p:sp>
        <p:nvSpPr>
          <p:cNvPr id="2" name="Rectangle 1">
            <a:extLst>
              <a:ext uri="{FF2B5EF4-FFF2-40B4-BE49-F238E27FC236}">
                <a16:creationId xmlns:a16="http://schemas.microsoft.com/office/drawing/2014/main" id="{AC2F9610-D100-4124-A137-21D2808EA4D1}"/>
              </a:ext>
            </a:extLst>
          </p:cNvPr>
          <p:cNvSpPr>
            <a:spLocks noGrp="1"/>
          </p:cNvSpPr>
          <p:nvPr/>
        </p:nvSpPr>
        <p:spPr>
          <a:xfrm>
            <a:off x="552450" y="228600"/>
            <a:ext cx="10953750" cy="628650"/>
          </a:xfrm>
          <a:prstGeom prst="rect">
            <a:avLst/>
          </a:prstGeom>
          <a:noFill/>
          <a:ln w="0">
            <a:noFill/>
            <a:prstDash val="solid"/>
          </a:ln>
        </p:spPr>
        <p:txBody>
          <a:bodyPr anchor="ctr"/>
          <a:lstStyle/>
          <a:p>
            <a:pPr algn="l">
              <a:buNone/>
              <a:defRPr sz="3000" b="1">
                <a:solidFill>
                  <a:srgbClr val="0B1F3A"/>
                </a:solidFill>
              </a:defRPr>
            </a:pPr>
            <a:r>
              <a:rPr sz="3000" b="1">
                <a:solidFill>
                  <a:srgbClr val="0B1F3A"/>
                </a:solidFill>
              </a:rPr>
              <a:t>₹800–1,000 Cr is addressable; 7 wins can deliver ₹149 Cr</a:t>
            </a:r>
          </a:p>
        </p:txBody>
      </p:sp>
      <p:sp>
        <p:nvSpPr>
          <p:cNvPr id="3" name="Rectangle 2">
            <a:extLst>
              <a:ext uri="{FF2B5EF4-FFF2-40B4-BE49-F238E27FC236}">
                <a16:creationId xmlns:a16="http://schemas.microsoft.com/office/drawing/2014/main" id="{51AB4D6A-44F7-43A1-B45E-20A5BAAC3669}"/>
              </a:ext>
            </a:extLst>
          </p:cNvPr>
          <p:cNvSpPr>
            <a:spLocks noGrp="1"/>
          </p:cNvSpPr>
          <p:nvPr/>
        </p:nvSpPr>
        <p:spPr>
          <a:xfrm>
            <a:off x="571500" y="914400"/>
            <a:ext cx="10668000" cy="314325"/>
          </a:xfrm>
          <a:prstGeom prst="rect">
            <a:avLst/>
          </a:prstGeom>
          <a:noFill/>
          <a:ln w="0">
            <a:noFill/>
            <a:prstDash val="solid"/>
          </a:ln>
        </p:spPr>
        <p:txBody>
          <a:bodyPr anchor="ctr"/>
          <a:lstStyle/>
          <a:p>
            <a:pPr algn="l">
              <a:buNone/>
              <a:defRPr sz="1575" b="0">
                <a:solidFill>
                  <a:srgbClr val="5E6B78"/>
                </a:solidFill>
              </a:defRPr>
            </a:pPr>
            <a:r>
              <a:rPr sz="1575" b="0">
                <a:solidFill>
                  <a:srgbClr val="5E6B78"/>
                </a:solidFill>
              </a:rPr>
              <a:t>A focused mix of two lighthouse customers and five scaled followers is sufficient for the base case</a:t>
            </a:r>
          </a:p>
        </p:txBody>
      </p:sp>
      <p:sp>
        <p:nvSpPr>
          <p:cNvPr id="4" name="Rectangle 3">
            <a:extLst>
              <a:ext uri="{FF2B5EF4-FFF2-40B4-BE49-F238E27FC236}">
                <a16:creationId xmlns:a16="http://schemas.microsoft.com/office/drawing/2014/main" id="{694089FE-0C2B-4DDB-B87C-DB940BEC498F}"/>
              </a:ext>
            </a:extLst>
          </p:cNvPr>
          <p:cNvSpPr>
            <a:spLocks noGrp="1"/>
          </p:cNvSpPr>
          <p:nvPr/>
        </p:nvSpPr>
        <p:spPr>
          <a:xfrm>
            <a:off x="571500" y="1323975"/>
            <a:ext cx="11029950" cy="19050"/>
          </a:xfrm>
          <a:prstGeom prst="rect">
            <a:avLst/>
          </a:prstGeom>
          <a:solidFill>
            <a:srgbClr val="0B1F3A"/>
          </a:solidFill>
          <a:ln w="0">
            <a:solidFill>
              <a:srgbClr val="0B1F3A"/>
            </a:solidFill>
            <a:prstDash val="solid"/>
          </a:ln>
        </p:spPr>
        <p:txBody>
          <a:bodyPr/>
          <a:lstStyle/>
          <a:p>
            <a:endParaRPr lang="en-IN"/>
          </a:p>
        </p:txBody>
      </p:sp>
      <p:sp>
        <p:nvSpPr>
          <p:cNvPr id="5" name="Rectangle 4">
            <a:extLst>
              <a:ext uri="{FF2B5EF4-FFF2-40B4-BE49-F238E27FC236}">
                <a16:creationId xmlns:a16="http://schemas.microsoft.com/office/drawing/2014/main" id="{6B9012FD-2A02-43BE-95AE-6238D92C277B}"/>
              </a:ext>
            </a:extLst>
          </p:cNvPr>
          <p:cNvSpPr>
            <a:spLocks noGrp="1"/>
          </p:cNvSpPr>
          <p:nvPr/>
        </p:nvSpPr>
        <p:spPr>
          <a:xfrm>
            <a:off x="571500" y="6505575"/>
            <a:ext cx="3619500" cy="190500"/>
          </a:xfrm>
          <a:prstGeom prst="rect">
            <a:avLst/>
          </a:prstGeom>
          <a:noFill/>
          <a:ln w="0">
            <a:noFill/>
            <a:prstDash val="solid"/>
          </a:ln>
        </p:spPr>
        <p:txBody>
          <a:bodyPr anchor="ctr"/>
          <a:lstStyle/>
          <a:p>
            <a:pPr algn="l">
              <a:buNone/>
              <a:defRPr sz="975" b="1">
                <a:solidFill>
                  <a:srgbClr val="8793A0"/>
                </a:solidFill>
              </a:defRPr>
            </a:pPr>
            <a:r>
              <a:rPr sz="975" b="1">
                <a:solidFill>
                  <a:srgbClr val="8793A0"/>
                </a:solidFill>
              </a:rPr>
              <a:t>INDIA GOLD LOAN | BOARD DISCUSSION</a:t>
            </a:r>
          </a:p>
        </p:txBody>
      </p:sp>
      <p:sp>
        <p:nvSpPr>
          <p:cNvPr id="6" name="Rectangle 5">
            <a:extLst>
              <a:ext uri="{FF2B5EF4-FFF2-40B4-BE49-F238E27FC236}">
                <a16:creationId xmlns:a16="http://schemas.microsoft.com/office/drawing/2014/main" id="{56506165-27F0-4908-973D-8F9EFF8ABD35}"/>
              </a:ext>
            </a:extLst>
          </p:cNvPr>
          <p:cNvSpPr>
            <a:spLocks noGrp="1"/>
          </p:cNvSpPr>
          <p:nvPr/>
        </p:nvSpPr>
        <p:spPr>
          <a:xfrm>
            <a:off x="9810750" y="6505575"/>
            <a:ext cx="1143000"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24 AUG 2026</a:t>
            </a:r>
          </a:p>
        </p:txBody>
      </p:sp>
      <p:sp>
        <p:nvSpPr>
          <p:cNvPr id="7" name="Rectangle 6">
            <a:extLst>
              <a:ext uri="{FF2B5EF4-FFF2-40B4-BE49-F238E27FC236}">
                <a16:creationId xmlns:a16="http://schemas.microsoft.com/office/drawing/2014/main" id="{5326E4B4-EFDF-46B3-BEC5-1EDD737F84F0}"/>
              </a:ext>
            </a:extLst>
          </p:cNvPr>
          <p:cNvSpPr>
            <a:spLocks noGrp="1"/>
          </p:cNvSpPr>
          <p:nvPr/>
        </p:nvSpPr>
        <p:spPr>
          <a:xfrm>
            <a:off x="11144250" y="6505575"/>
            <a:ext cx="333375"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3</a:t>
            </a:r>
          </a:p>
        </p:txBody>
      </p:sp>
      <p:sp>
        <p:nvSpPr>
          <p:cNvPr id="8" name="Rectangle 7">
            <a:extLst>
              <a:ext uri="{FF2B5EF4-FFF2-40B4-BE49-F238E27FC236}">
                <a16:creationId xmlns:a16="http://schemas.microsoft.com/office/drawing/2014/main" id="{FE79CFBE-A858-45E6-A010-1CDB5781B2C3}"/>
              </a:ext>
            </a:extLst>
          </p:cNvPr>
          <p:cNvSpPr>
            <a:spLocks noGrp="1"/>
          </p:cNvSpPr>
          <p:nvPr/>
        </p:nvSpPr>
        <p:spPr>
          <a:xfrm>
            <a:off x="628650" y="1524000"/>
            <a:ext cx="4476750" cy="257175"/>
          </a:xfrm>
          <a:prstGeom prst="rect">
            <a:avLst/>
          </a:prstGeom>
          <a:noFill/>
          <a:ln w="0">
            <a:noFill/>
            <a:prstDash val="solid"/>
          </a:ln>
        </p:spPr>
        <p:txBody>
          <a:bodyPr anchor="ctr"/>
          <a:lstStyle/>
          <a:p>
            <a:pPr algn="l">
              <a:buNone/>
              <a:defRPr sz="1425" b="1">
                <a:solidFill>
                  <a:srgbClr val="1C2733"/>
                </a:solidFill>
              </a:defRPr>
            </a:pPr>
            <a:r>
              <a:rPr sz="1425" b="1">
                <a:solidFill>
                  <a:srgbClr val="1C2733"/>
                </a:solidFill>
              </a:rPr>
              <a:t>Five-year technology value pool, ₹ Cr</a:t>
            </a:r>
          </a:p>
        </p:txBody>
      </p:sp>
      <p:graphicFrame>
        <p:nvGraphicFramePr>
          <p:cNvPr id="72" name="Chart"/>
          <p:cNvGraphicFramePr/>
          <p:nvPr/>
        </p:nvGraphicFramePr>
        <p:xfrm>
          <a:off x="666750" y="1885950"/>
          <a:ext cx="4333875" cy="2667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6558CC7E-A3F0-4897-AA7E-AC32B01AE675}"/>
              </a:ext>
            </a:extLst>
          </p:cNvPr>
          <p:cNvSpPr>
            <a:spLocks noGrp="1"/>
          </p:cNvSpPr>
          <p:nvPr/>
        </p:nvSpPr>
        <p:spPr>
          <a:xfrm>
            <a:off x="1057275" y="4591050"/>
            <a:ext cx="2857500" cy="209550"/>
          </a:xfrm>
          <a:prstGeom prst="rect">
            <a:avLst/>
          </a:prstGeom>
          <a:noFill/>
          <a:ln w="0">
            <a:noFill/>
            <a:prstDash val="solid"/>
          </a:ln>
        </p:spPr>
        <p:txBody>
          <a:bodyPr anchor="ctr"/>
          <a:lstStyle/>
          <a:p>
            <a:pPr algn="l">
              <a:buNone/>
              <a:defRPr sz="1125" b="0">
                <a:solidFill>
                  <a:srgbClr val="5E6B78"/>
                </a:solidFill>
              </a:defRPr>
            </a:pPr>
            <a:r>
              <a:rPr sz="1125" b="0">
                <a:solidFill>
                  <a:srgbClr val="5E6B78"/>
                </a:solidFill>
              </a:rPr>
              <a:t>Range: ₹1,100–1,400 Cr</a:t>
            </a:r>
          </a:p>
        </p:txBody>
      </p:sp>
      <p:sp>
        <p:nvSpPr>
          <p:cNvPr id="11" name="Rectangle 10">
            <a:extLst>
              <a:ext uri="{FF2B5EF4-FFF2-40B4-BE49-F238E27FC236}">
                <a16:creationId xmlns:a16="http://schemas.microsoft.com/office/drawing/2014/main" id="{5A09B436-5E8C-43F2-A9EC-F2C224E209BF}"/>
              </a:ext>
            </a:extLst>
          </p:cNvPr>
          <p:cNvSpPr>
            <a:spLocks noGrp="1"/>
          </p:cNvSpPr>
          <p:nvPr/>
        </p:nvSpPr>
        <p:spPr>
          <a:xfrm>
            <a:off x="1057275" y="4857750"/>
            <a:ext cx="2857500" cy="209550"/>
          </a:xfrm>
          <a:prstGeom prst="rect">
            <a:avLst/>
          </a:prstGeom>
          <a:noFill/>
          <a:ln w="0">
            <a:noFill/>
            <a:prstDash val="solid"/>
          </a:ln>
        </p:spPr>
        <p:txBody>
          <a:bodyPr anchor="ctr"/>
          <a:lstStyle/>
          <a:p>
            <a:pPr algn="l">
              <a:buNone/>
              <a:defRPr sz="1125" b="0">
                <a:solidFill>
                  <a:srgbClr val="5E6B78"/>
                </a:solidFill>
              </a:defRPr>
            </a:pPr>
            <a:r>
              <a:rPr sz="1125" b="0">
                <a:solidFill>
                  <a:srgbClr val="5E6B78"/>
                </a:solidFill>
              </a:rPr>
              <a:t>Range: ₹800–1,000 Cr</a:t>
            </a:r>
          </a:p>
        </p:txBody>
      </p:sp>
      <p:sp>
        <p:nvSpPr>
          <p:cNvPr id="12" name="Rectangle 11">
            <a:extLst>
              <a:ext uri="{FF2B5EF4-FFF2-40B4-BE49-F238E27FC236}">
                <a16:creationId xmlns:a16="http://schemas.microsoft.com/office/drawing/2014/main" id="{F8F75356-1C8A-4774-BDE3-BBE0493B5738}"/>
              </a:ext>
            </a:extLst>
          </p:cNvPr>
          <p:cNvSpPr>
            <a:spLocks noGrp="1"/>
          </p:cNvSpPr>
          <p:nvPr/>
        </p:nvSpPr>
        <p:spPr>
          <a:xfrm>
            <a:off x="1057275" y="5124450"/>
            <a:ext cx="2857500" cy="209550"/>
          </a:xfrm>
          <a:prstGeom prst="rect">
            <a:avLst/>
          </a:prstGeom>
          <a:noFill/>
          <a:ln w="0">
            <a:noFill/>
            <a:prstDash val="solid"/>
          </a:ln>
        </p:spPr>
        <p:txBody>
          <a:bodyPr anchor="ctr"/>
          <a:lstStyle/>
          <a:p>
            <a:pPr algn="l">
              <a:buNone/>
              <a:defRPr sz="1125" b="0">
                <a:solidFill>
                  <a:srgbClr val="5E6B78"/>
                </a:solidFill>
              </a:defRPr>
            </a:pPr>
            <a:r>
              <a:rPr sz="1125" b="0">
                <a:solidFill>
                  <a:srgbClr val="5E6B78"/>
                </a:solidFill>
              </a:rPr>
              <a:t>Base case: 7 wins</a:t>
            </a:r>
          </a:p>
        </p:txBody>
      </p:sp>
      <p:sp>
        <p:nvSpPr>
          <p:cNvPr id="13" name="Rectangle 12">
            <a:extLst>
              <a:ext uri="{FF2B5EF4-FFF2-40B4-BE49-F238E27FC236}">
                <a16:creationId xmlns:a16="http://schemas.microsoft.com/office/drawing/2014/main" id="{3B8E72CA-0764-430F-AD70-A776C21E8405}"/>
              </a:ext>
            </a:extLst>
          </p:cNvPr>
          <p:cNvSpPr>
            <a:spLocks noGrp="1"/>
          </p:cNvSpPr>
          <p:nvPr/>
        </p:nvSpPr>
        <p:spPr>
          <a:xfrm>
            <a:off x="5257800" y="1619250"/>
            <a:ext cx="9525" cy="3676650"/>
          </a:xfrm>
          <a:prstGeom prst="rect">
            <a:avLst/>
          </a:prstGeom>
          <a:solidFill>
            <a:srgbClr val="D8DEE6"/>
          </a:solidFill>
          <a:ln w="0">
            <a:solidFill>
              <a:srgbClr val="D8DEE6"/>
            </a:solidFill>
            <a:prstDash val="solid"/>
          </a:ln>
        </p:spPr>
        <p:txBody>
          <a:bodyPr/>
          <a:lstStyle/>
          <a:p>
            <a:endParaRPr lang="en-IN"/>
          </a:p>
        </p:txBody>
      </p:sp>
      <p:sp>
        <p:nvSpPr>
          <p:cNvPr id="14" name="Rectangle 13">
            <a:extLst>
              <a:ext uri="{FF2B5EF4-FFF2-40B4-BE49-F238E27FC236}">
                <a16:creationId xmlns:a16="http://schemas.microsoft.com/office/drawing/2014/main" id="{C4ABF346-8E9A-4F38-AEC7-D8F0741211DD}"/>
              </a:ext>
            </a:extLst>
          </p:cNvPr>
          <p:cNvSpPr>
            <a:spLocks noGrp="1"/>
          </p:cNvSpPr>
          <p:nvPr/>
        </p:nvSpPr>
        <p:spPr>
          <a:xfrm>
            <a:off x="5562600" y="1524000"/>
            <a:ext cx="5238750" cy="257175"/>
          </a:xfrm>
          <a:prstGeom prst="rect">
            <a:avLst/>
          </a:prstGeom>
          <a:noFill/>
          <a:ln w="0">
            <a:noFill/>
            <a:prstDash val="solid"/>
          </a:ln>
        </p:spPr>
        <p:txBody>
          <a:bodyPr anchor="ctr"/>
          <a:lstStyle/>
          <a:p>
            <a:pPr algn="l">
              <a:buNone/>
              <a:defRPr sz="1425" b="1">
                <a:solidFill>
                  <a:srgbClr val="1C2733"/>
                </a:solidFill>
              </a:defRPr>
            </a:pPr>
            <a:r>
              <a:rPr sz="1425" b="1">
                <a:solidFill>
                  <a:srgbClr val="1C2733"/>
                </a:solidFill>
              </a:rPr>
              <a:t>Buyer tiers and deal economics</a:t>
            </a:r>
          </a:p>
        </p:txBody>
      </p:sp>
      <p:sp>
        <p:nvSpPr>
          <p:cNvPr id="15" name="Rectangle 14">
            <a:extLst>
              <a:ext uri="{FF2B5EF4-FFF2-40B4-BE49-F238E27FC236}">
                <a16:creationId xmlns:a16="http://schemas.microsoft.com/office/drawing/2014/main" id="{BD0234EB-886C-443C-8771-76A78E6553CC}"/>
              </a:ext>
            </a:extLst>
          </p:cNvPr>
          <p:cNvSpPr>
            <a:spLocks noGrp="1"/>
          </p:cNvSpPr>
          <p:nvPr/>
        </p:nvSpPr>
        <p:spPr>
          <a:xfrm>
            <a:off x="5543550" y="1885950"/>
            <a:ext cx="1047750" cy="400050"/>
          </a:xfrm>
          <a:prstGeom prst="rect">
            <a:avLst/>
          </a:prstGeom>
          <a:solidFill>
            <a:srgbClr val="0B1F3A"/>
          </a:solidFill>
          <a:ln w="0">
            <a:solidFill>
              <a:srgbClr val="FFFFFF"/>
            </a:solidFill>
            <a:prstDash val="solid"/>
          </a:ln>
        </p:spPr>
        <p:txBody>
          <a:bodyPr/>
          <a:lstStyle/>
          <a:p>
            <a:endParaRPr lang="en-IN"/>
          </a:p>
        </p:txBody>
      </p:sp>
      <p:sp>
        <p:nvSpPr>
          <p:cNvPr id="16" name="Rectangle 15">
            <a:extLst>
              <a:ext uri="{FF2B5EF4-FFF2-40B4-BE49-F238E27FC236}">
                <a16:creationId xmlns:a16="http://schemas.microsoft.com/office/drawing/2014/main" id="{E137F406-CFDD-451D-ABF1-142B914EBD62}"/>
              </a:ext>
            </a:extLst>
          </p:cNvPr>
          <p:cNvSpPr>
            <a:spLocks noGrp="1"/>
          </p:cNvSpPr>
          <p:nvPr/>
        </p:nvSpPr>
        <p:spPr>
          <a:xfrm>
            <a:off x="5619750" y="1914525"/>
            <a:ext cx="895350" cy="342900"/>
          </a:xfrm>
          <a:prstGeom prst="rect">
            <a:avLst/>
          </a:prstGeom>
          <a:noFill/>
          <a:ln w="0">
            <a:noFill/>
            <a:prstDash val="solid"/>
          </a:ln>
        </p:spPr>
        <p:txBody>
          <a:bodyPr anchor="ctr"/>
          <a:lstStyle/>
          <a:p>
            <a:pPr algn="l">
              <a:buNone/>
              <a:defRPr sz="1050" b="1">
                <a:solidFill>
                  <a:srgbClr val="FFFFFF"/>
                </a:solidFill>
              </a:defRPr>
            </a:pPr>
            <a:r>
              <a:rPr sz="1050" b="1">
                <a:solidFill>
                  <a:srgbClr val="FFFFFF"/>
                </a:solidFill>
              </a:rPr>
              <a:t>TIER</a:t>
            </a:r>
          </a:p>
        </p:txBody>
      </p:sp>
      <p:sp>
        <p:nvSpPr>
          <p:cNvPr id="17" name="Rectangle 16">
            <a:extLst>
              <a:ext uri="{FF2B5EF4-FFF2-40B4-BE49-F238E27FC236}">
                <a16:creationId xmlns:a16="http://schemas.microsoft.com/office/drawing/2014/main" id="{637905F3-E435-43E1-9362-C1F5DD99502F}"/>
              </a:ext>
            </a:extLst>
          </p:cNvPr>
          <p:cNvSpPr>
            <a:spLocks noGrp="1"/>
          </p:cNvSpPr>
          <p:nvPr/>
        </p:nvSpPr>
        <p:spPr>
          <a:xfrm>
            <a:off x="6591300" y="1885950"/>
            <a:ext cx="1476375" cy="400050"/>
          </a:xfrm>
          <a:prstGeom prst="rect">
            <a:avLst/>
          </a:prstGeom>
          <a:solidFill>
            <a:srgbClr val="0B1F3A"/>
          </a:solidFill>
          <a:ln w="0">
            <a:solidFill>
              <a:srgbClr val="FFFFFF"/>
            </a:solidFill>
            <a:prstDash val="solid"/>
          </a:ln>
        </p:spPr>
        <p:txBody>
          <a:bodyPr/>
          <a:lstStyle/>
          <a:p>
            <a:endParaRPr lang="en-IN"/>
          </a:p>
        </p:txBody>
      </p:sp>
      <p:sp>
        <p:nvSpPr>
          <p:cNvPr id="18" name="Rectangle 17">
            <a:extLst>
              <a:ext uri="{FF2B5EF4-FFF2-40B4-BE49-F238E27FC236}">
                <a16:creationId xmlns:a16="http://schemas.microsoft.com/office/drawing/2014/main" id="{FA4D23E4-8B55-4B8A-9223-2AB0A6F9F1E4}"/>
              </a:ext>
            </a:extLst>
          </p:cNvPr>
          <p:cNvSpPr>
            <a:spLocks noGrp="1"/>
          </p:cNvSpPr>
          <p:nvPr/>
        </p:nvSpPr>
        <p:spPr>
          <a:xfrm>
            <a:off x="6667500" y="1914525"/>
            <a:ext cx="1323975" cy="342900"/>
          </a:xfrm>
          <a:prstGeom prst="rect">
            <a:avLst/>
          </a:prstGeom>
          <a:noFill/>
          <a:ln w="0">
            <a:noFill/>
            <a:prstDash val="solid"/>
          </a:ln>
        </p:spPr>
        <p:txBody>
          <a:bodyPr anchor="ctr"/>
          <a:lstStyle/>
          <a:p>
            <a:pPr algn="ctr">
              <a:buNone/>
              <a:defRPr sz="1050" b="1">
                <a:solidFill>
                  <a:srgbClr val="FFFFFF"/>
                </a:solidFill>
              </a:defRPr>
            </a:pPr>
            <a:r>
              <a:rPr sz="1050" b="1">
                <a:solidFill>
                  <a:srgbClr val="FFFFFF"/>
                </a:solidFill>
              </a:rPr>
              <a:t>BUYERS</a:t>
            </a:r>
          </a:p>
        </p:txBody>
      </p:sp>
      <p:sp>
        <p:nvSpPr>
          <p:cNvPr id="19" name="Rectangle 18">
            <a:extLst>
              <a:ext uri="{FF2B5EF4-FFF2-40B4-BE49-F238E27FC236}">
                <a16:creationId xmlns:a16="http://schemas.microsoft.com/office/drawing/2014/main" id="{681523D7-6817-4CA7-AB23-36EF089A0512}"/>
              </a:ext>
            </a:extLst>
          </p:cNvPr>
          <p:cNvSpPr>
            <a:spLocks noGrp="1"/>
          </p:cNvSpPr>
          <p:nvPr/>
        </p:nvSpPr>
        <p:spPr>
          <a:xfrm>
            <a:off x="8067675" y="1885950"/>
            <a:ext cx="1619250" cy="400050"/>
          </a:xfrm>
          <a:prstGeom prst="rect">
            <a:avLst/>
          </a:prstGeom>
          <a:solidFill>
            <a:srgbClr val="0B1F3A"/>
          </a:solidFill>
          <a:ln w="0">
            <a:solidFill>
              <a:srgbClr val="FFFFFF"/>
            </a:solidFill>
            <a:prstDash val="solid"/>
          </a:ln>
        </p:spPr>
        <p:txBody>
          <a:bodyPr/>
          <a:lstStyle/>
          <a:p>
            <a:endParaRPr lang="en-IN"/>
          </a:p>
        </p:txBody>
      </p:sp>
      <p:sp>
        <p:nvSpPr>
          <p:cNvPr id="20" name="Rectangle 19">
            <a:extLst>
              <a:ext uri="{FF2B5EF4-FFF2-40B4-BE49-F238E27FC236}">
                <a16:creationId xmlns:a16="http://schemas.microsoft.com/office/drawing/2014/main" id="{5F6E4580-9FFA-4FC6-95CF-FFFEA591481E}"/>
              </a:ext>
            </a:extLst>
          </p:cNvPr>
          <p:cNvSpPr>
            <a:spLocks noGrp="1"/>
          </p:cNvSpPr>
          <p:nvPr/>
        </p:nvSpPr>
        <p:spPr>
          <a:xfrm>
            <a:off x="8143875" y="1914525"/>
            <a:ext cx="1466850" cy="342900"/>
          </a:xfrm>
          <a:prstGeom prst="rect">
            <a:avLst/>
          </a:prstGeom>
          <a:noFill/>
          <a:ln w="0">
            <a:noFill/>
            <a:prstDash val="solid"/>
          </a:ln>
        </p:spPr>
        <p:txBody>
          <a:bodyPr anchor="ctr"/>
          <a:lstStyle/>
          <a:p>
            <a:pPr algn="ctr">
              <a:buNone/>
              <a:defRPr sz="1050" b="1">
                <a:solidFill>
                  <a:srgbClr val="FFFFFF"/>
                </a:solidFill>
              </a:defRPr>
            </a:pPr>
            <a:r>
              <a:rPr sz="1050" b="1">
                <a:solidFill>
                  <a:srgbClr val="FFFFFF"/>
                </a:solidFill>
              </a:rPr>
              <a:t>INITIAL DEAL</a:t>
            </a:r>
          </a:p>
        </p:txBody>
      </p:sp>
      <p:sp>
        <p:nvSpPr>
          <p:cNvPr id="21" name="Rectangle 20">
            <a:extLst>
              <a:ext uri="{FF2B5EF4-FFF2-40B4-BE49-F238E27FC236}">
                <a16:creationId xmlns:a16="http://schemas.microsoft.com/office/drawing/2014/main" id="{4D74BE61-2B6A-4842-B418-CB6D87C4521B}"/>
              </a:ext>
            </a:extLst>
          </p:cNvPr>
          <p:cNvSpPr>
            <a:spLocks noGrp="1"/>
          </p:cNvSpPr>
          <p:nvPr/>
        </p:nvSpPr>
        <p:spPr>
          <a:xfrm>
            <a:off x="9686925" y="1885950"/>
            <a:ext cx="1619250" cy="400050"/>
          </a:xfrm>
          <a:prstGeom prst="rect">
            <a:avLst/>
          </a:prstGeom>
          <a:solidFill>
            <a:srgbClr val="0B1F3A"/>
          </a:solidFill>
          <a:ln w="0">
            <a:solidFill>
              <a:srgbClr val="FFFFFF"/>
            </a:solidFill>
            <a:prstDash val="solid"/>
          </a:ln>
        </p:spPr>
        <p:txBody>
          <a:bodyPr/>
          <a:lstStyle/>
          <a:p>
            <a:endParaRPr lang="en-IN"/>
          </a:p>
        </p:txBody>
      </p:sp>
      <p:sp>
        <p:nvSpPr>
          <p:cNvPr id="22" name="Rectangle 21">
            <a:extLst>
              <a:ext uri="{FF2B5EF4-FFF2-40B4-BE49-F238E27FC236}">
                <a16:creationId xmlns:a16="http://schemas.microsoft.com/office/drawing/2014/main" id="{8BC7965F-12D3-40A6-AF14-618AD693BE97}"/>
              </a:ext>
            </a:extLst>
          </p:cNvPr>
          <p:cNvSpPr>
            <a:spLocks noGrp="1"/>
          </p:cNvSpPr>
          <p:nvPr/>
        </p:nvSpPr>
        <p:spPr>
          <a:xfrm>
            <a:off x="9763125" y="1914525"/>
            <a:ext cx="1466850" cy="342900"/>
          </a:xfrm>
          <a:prstGeom prst="rect">
            <a:avLst/>
          </a:prstGeom>
          <a:noFill/>
          <a:ln w="0">
            <a:noFill/>
            <a:prstDash val="solid"/>
          </a:ln>
        </p:spPr>
        <p:txBody>
          <a:bodyPr anchor="ctr"/>
          <a:lstStyle/>
          <a:p>
            <a:pPr algn="ctr">
              <a:buNone/>
              <a:defRPr sz="1050" b="1">
                <a:solidFill>
                  <a:srgbClr val="FFFFFF"/>
                </a:solidFill>
              </a:defRPr>
            </a:pPr>
            <a:r>
              <a:rPr sz="1050" b="1">
                <a:solidFill>
                  <a:srgbClr val="FFFFFF"/>
                </a:solidFill>
              </a:rPr>
              <a:t>ANNUAL RECURRING</a:t>
            </a:r>
          </a:p>
        </p:txBody>
      </p:sp>
      <p:sp>
        <p:nvSpPr>
          <p:cNvPr id="23" name="Rectangle 22">
            <a:extLst>
              <a:ext uri="{FF2B5EF4-FFF2-40B4-BE49-F238E27FC236}">
                <a16:creationId xmlns:a16="http://schemas.microsoft.com/office/drawing/2014/main" id="{A2CE0595-2F42-4309-AEA1-AB684F91E55A}"/>
              </a:ext>
            </a:extLst>
          </p:cNvPr>
          <p:cNvSpPr>
            <a:spLocks noGrp="1"/>
          </p:cNvSpPr>
          <p:nvPr/>
        </p:nvSpPr>
        <p:spPr>
          <a:xfrm>
            <a:off x="5543550" y="2286000"/>
            <a:ext cx="5762625" cy="704850"/>
          </a:xfrm>
          <a:prstGeom prst="rect">
            <a:avLst/>
          </a:prstGeom>
          <a:solidFill>
            <a:srgbClr val="FAFBFC"/>
          </a:solidFill>
          <a:ln w="9525">
            <a:solidFill>
              <a:srgbClr val="D8DEE6"/>
            </a:solidFill>
            <a:prstDash val="solid"/>
          </a:ln>
        </p:spPr>
        <p:txBody>
          <a:bodyPr/>
          <a:lstStyle/>
          <a:p>
            <a:endParaRPr lang="en-IN"/>
          </a:p>
        </p:txBody>
      </p:sp>
      <p:sp>
        <p:nvSpPr>
          <p:cNvPr id="24" name="Rectangle 23">
            <a:extLst>
              <a:ext uri="{FF2B5EF4-FFF2-40B4-BE49-F238E27FC236}">
                <a16:creationId xmlns:a16="http://schemas.microsoft.com/office/drawing/2014/main" id="{ED8E4B18-D1C0-4D1A-A524-D66F74FEFF30}"/>
              </a:ext>
            </a:extLst>
          </p:cNvPr>
          <p:cNvSpPr>
            <a:spLocks noGrp="1"/>
          </p:cNvSpPr>
          <p:nvPr/>
        </p:nvSpPr>
        <p:spPr>
          <a:xfrm>
            <a:off x="5619750" y="2362200"/>
            <a:ext cx="895350" cy="552450"/>
          </a:xfrm>
          <a:prstGeom prst="rect">
            <a:avLst/>
          </a:prstGeom>
          <a:noFill/>
          <a:ln w="0">
            <a:noFill/>
            <a:prstDash val="solid"/>
          </a:ln>
        </p:spPr>
        <p:txBody>
          <a:bodyPr anchor="ctr"/>
          <a:lstStyle/>
          <a:p>
            <a:pPr algn="l">
              <a:buNone/>
              <a:defRPr sz="1425" b="1">
                <a:solidFill>
                  <a:srgbClr val="1473E6"/>
                </a:solidFill>
              </a:defRPr>
            </a:pPr>
            <a:r>
              <a:rPr sz="1425" b="1">
                <a:solidFill>
                  <a:srgbClr val="1473E6"/>
                </a:solidFill>
              </a:rPr>
              <a:t>Tier 1</a:t>
            </a:r>
          </a:p>
        </p:txBody>
      </p:sp>
      <p:sp>
        <p:nvSpPr>
          <p:cNvPr id="25" name="Rectangle 24">
            <a:extLst>
              <a:ext uri="{FF2B5EF4-FFF2-40B4-BE49-F238E27FC236}">
                <a16:creationId xmlns:a16="http://schemas.microsoft.com/office/drawing/2014/main" id="{CE5982E4-2F2B-4D08-8C7D-AAF0F3547C67}"/>
              </a:ext>
            </a:extLst>
          </p:cNvPr>
          <p:cNvSpPr>
            <a:spLocks noGrp="1"/>
          </p:cNvSpPr>
          <p:nvPr/>
        </p:nvSpPr>
        <p:spPr>
          <a:xfrm>
            <a:off x="6591300" y="2286000"/>
            <a:ext cx="9525" cy="704850"/>
          </a:xfrm>
          <a:prstGeom prst="rect">
            <a:avLst/>
          </a:prstGeom>
          <a:solidFill>
            <a:srgbClr val="D8DEE6"/>
          </a:solidFill>
          <a:ln w="0">
            <a:solidFill>
              <a:srgbClr val="D8DEE6"/>
            </a:solidFill>
            <a:prstDash val="solid"/>
          </a:ln>
        </p:spPr>
        <p:txBody>
          <a:bodyPr/>
          <a:lstStyle/>
          <a:p>
            <a:endParaRPr lang="en-IN"/>
          </a:p>
        </p:txBody>
      </p:sp>
      <p:sp>
        <p:nvSpPr>
          <p:cNvPr id="26" name="Rectangle 25">
            <a:extLst>
              <a:ext uri="{FF2B5EF4-FFF2-40B4-BE49-F238E27FC236}">
                <a16:creationId xmlns:a16="http://schemas.microsoft.com/office/drawing/2014/main" id="{A1632BEC-E98A-4FD8-8204-7E013ED6021B}"/>
              </a:ext>
            </a:extLst>
          </p:cNvPr>
          <p:cNvSpPr>
            <a:spLocks noGrp="1"/>
          </p:cNvSpPr>
          <p:nvPr/>
        </p:nvSpPr>
        <p:spPr>
          <a:xfrm>
            <a:off x="6667500" y="2362200"/>
            <a:ext cx="1323975"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15–20</a:t>
            </a:r>
          </a:p>
        </p:txBody>
      </p:sp>
      <p:sp>
        <p:nvSpPr>
          <p:cNvPr id="27" name="Rectangle 26">
            <a:extLst>
              <a:ext uri="{FF2B5EF4-FFF2-40B4-BE49-F238E27FC236}">
                <a16:creationId xmlns:a16="http://schemas.microsoft.com/office/drawing/2014/main" id="{705DF23C-B4C2-4A76-8662-51979E36C77A}"/>
              </a:ext>
            </a:extLst>
          </p:cNvPr>
          <p:cNvSpPr>
            <a:spLocks noGrp="1"/>
          </p:cNvSpPr>
          <p:nvPr/>
        </p:nvSpPr>
        <p:spPr>
          <a:xfrm>
            <a:off x="8067675" y="2286000"/>
            <a:ext cx="9525" cy="704850"/>
          </a:xfrm>
          <a:prstGeom prst="rect">
            <a:avLst/>
          </a:prstGeom>
          <a:solidFill>
            <a:srgbClr val="D8DEE6"/>
          </a:solidFill>
          <a:ln w="0">
            <a:solidFill>
              <a:srgbClr val="D8DEE6"/>
            </a:solidFill>
            <a:prstDash val="solid"/>
          </a:ln>
        </p:spPr>
        <p:txBody>
          <a:bodyPr/>
          <a:lstStyle/>
          <a:p>
            <a:endParaRPr lang="en-IN"/>
          </a:p>
        </p:txBody>
      </p:sp>
      <p:sp>
        <p:nvSpPr>
          <p:cNvPr id="28" name="Rectangle 27">
            <a:extLst>
              <a:ext uri="{FF2B5EF4-FFF2-40B4-BE49-F238E27FC236}">
                <a16:creationId xmlns:a16="http://schemas.microsoft.com/office/drawing/2014/main" id="{7BD106CD-3FD9-493F-8A48-7F2B1969DB25}"/>
              </a:ext>
            </a:extLst>
          </p:cNvPr>
          <p:cNvSpPr>
            <a:spLocks noGrp="1"/>
          </p:cNvSpPr>
          <p:nvPr/>
        </p:nvSpPr>
        <p:spPr>
          <a:xfrm>
            <a:off x="8143875" y="2362200"/>
            <a:ext cx="1466850"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₹8–15 Cr</a:t>
            </a:r>
          </a:p>
        </p:txBody>
      </p:sp>
      <p:sp>
        <p:nvSpPr>
          <p:cNvPr id="29" name="Rectangle 28">
            <a:extLst>
              <a:ext uri="{FF2B5EF4-FFF2-40B4-BE49-F238E27FC236}">
                <a16:creationId xmlns:a16="http://schemas.microsoft.com/office/drawing/2014/main" id="{71DB9155-2720-4044-AB75-BC36619992F4}"/>
              </a:ext>
            </a:extLst>
          </p:cNvPr>
          <p:cNvSpPr>
            <a:spLocks noGrp="1"/>
          </p:cNvSpPr>
          <p:nvPr/>
        </p:nvSpPr>
        <p:spPr>
          <a:xfrm>
            <a:off x="9686925" y="2286000"/>
            <a:ext cx="9525" cy="704850"/>
          </a:xfrm>
          <a:prstGeom prst="rect">
            <a:avLst/>
          </a:prstGeom>
          <a:solidFill>
            <a:srgbClr val="D8DEE6"/>
          </a:solidFill>
          <a:ln w="0">
            <a:solidFill>
              <a:srgbClr val="D8DEE6"/>
            </a:solidFill>
            <a:prstDash val="solid"/>
          </a:ln>
        </p:spPr>
        <p:txBody>
          <a:bodyPr/>
          <a:lstStyle/>
          <a:p>
            <a:endParaRPr lang="en-IN"/>
          </a:p>
        </p:txBody>
      </p:sp>
      <p:sp>
        <p:nvSpPr>
          <p:cNvPr id="30" name="Rectangle 29">
            <a:extLst>
              <a:ext uri="{FF2B5EF4-FFF2-40B4-BE49-F238E27FC236}">
                <a16:creationId xmlns:a16="http://schemas.microsoft.com/office/drawing/2014/main" id="{45B34C6D-B2C8-4AC6-886B-1F644A69ED4B}"/>
              </a:ext>
            </a:extLst>
          </p:cNvPr>
          <p:cNvSpPr>
            <a:spLocks noGrp="1"/>
          </p:cNvSpPr>
          <p:nvPr/>
        </p:nvSpPr>
        <p:spPr>
          <a:xfrm>
            <a:off x="9763125" y="2362200"/>
            <a:ext cx="1466850"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₹1.5–3.5 Cr</a:t>
            </a:r>
          </a:p>
        </p:txBody>
      </p:sp>
      <p:sp>
        <p:nvSpPr>
          <p:cNvPr id="31" name="Rectangle 30">
            <a:extLst>
              <a:ext uri="{FF2B5EF4-FFF2-40B4-BE49-F238E27FC236}">
                <a16:creationId xmlns:a16="http://schemas.microsoft.com/office/drawing/2014/main" id="{24BE6B99-EB09-4ABD-A143-AD13A1EA0590}"/>
              </a:ext>
            </a:extLst>
          </p:cNvPr>
          <p:cNvSpPr>
            <a:spLocks noGrp="1"/>
          </p:cNvSpPr>
          <p:nvPr/>
        </p:nvSpPr>
        <p:spPr>
          <a:xfrm>
            <a:off x="5543550" y="2990850"/>
            <a:ext cx="5762625" cy="704850"/>
          </a:xfrm>
          <a:prstGeom prst="rect">
            <a:avLst/>
          </a:prstGeom>
          <a:solidFill>
            <a:srgbClr val="FFFFFF"/>
          </a:solidFill>
          <a:ln w="9525">
            <a:solidFill>
              <a:srgbClr val="D8DEE6"/>
            </a:solidFill>
            <a:prstDash val="solid"/>
          </a:ln>
        </p:spPr>
        <p:txBody>
          <a:bodyPr/>
          <a:lstStyle/>
          <a:p>
            <a:endParaRPr lang="en-IN"/>
          </a:p>
        </p:txBody>
      </p:sp>
      <p:sp>
        <p:nvSpPr>
          <p:cNvPr id="32" name="Rectangle 31">
            <a:extLst>
              <a:ext uri="{FF2B5EF4-FFF2-40B4-BE49-F238E27FC236}">
                <a16:creationId xmlns:a16="http://schemas.microsoft.com/office/drawing/2014/main" id="{CC62B025-2A3E-4B44-ACF7-A61CF6DB3F0E}"/>
              </a:ext>
            </a:extLst>
          </p:cNvPr>
          <p:cNvSpPr>
            <a:spLocks noGrp="1"/>
          </p:cNvSpPr>
          <p:nvPr/>
        </p:nvSpPr>
        <p:spPr>
          <a:xfrm>
            <a:off x="5619750" y="3067050"/>
            <a:ext cx="895350" cy="552450"/>
          </a:xfrm>
          <a:prstGeom prst="rect">
            <a:avLst/>
          </a:prstGeom>
          <a:noFill/>
          <a:ln w="0">
            <a:noFill/>
            <a:prstDash val="solid"/>
          </a:ln>
        </p:spPr>
        <p:txBody>
          <a:bodyPr anchor="ctr"/>
          <a:lstStyle/>
          <a:p>
            <a:pPr algn="l">
              <a:buNone/>
              <a:defRPr sz="1425" b="1">
                <a:solidFill>
                  <a:srgbClr val="1473E6"/>
                </a:solidFill>
              </a:defRPr>
            </a:pPr>
            <a:r>
              <a:rPr sz="1425" b="1">
                <a:solidFill>
                  <a:srgbClr val="1473E6"/>
                </a:solidFill>
              </a:rPr>
              <a:t>Tier 2</a:t>
            </a:r>
          </a:p>
        </p:txBody>
      </p:sp>
      <p:sp>
        <p:nvSpPr>
          <p:cNvPr id="33" name="Rectangle 32">
            <a:extLst>
              <a:ext uri="{FF2B5EF4-FFF2-40B4-BE49-F238E27FC236}">
                <a16:creationId xmlns:a16="http://schemas.microsoft.com/office/drawing/2014/main" id="{453DB789-56B8-478D-87A9-E33D6C2B07F4}"/>
              </a:ext>
            </a:extLst>
          </p:cNvPr>
          <p:cNvSpPr>
            <a:spLocks noGrp="1"/>
          </p:cNvSpPr>
          <p:nvPr/>
        </p:nvSpPr>
        <p:spPr>
          <a:xfrm>
            <a:off x="6591300" y="2990850"/>
            <a:ext cx="9525" cy="704850"/>
          </a:xfrm>
          <a:prstGeom prst="rect">
            <a:avLst/>
          </a:prstGeom>
          <a:solidFill>
            <a:srgbClr val="D8DEE6"/>
          </a:solidFill>
          <a:ln w="0">
            <a:solidFill>
              <a:srgbClr val="D8DEE6"/>
            </a:solidFill>
            <a:prstDash val="solid"/>
          </a:ln>
        </p:spPr>
        <p:txBody>
          <a:bodyPr/>
          <a:lstStyle/>
          <a:p>
            <a:endParaRPr lang="en-IN"/>
          </a:p>
        </p:txBody>
      </p:sp>
      <p:sp>
        <p:nvSpPr>
          <p:cNvPr id="34" name="Rectangle 33">
            <a:extLst>
              <a:ext uri="{FF2B5EF4-FFF2-40B4-BE49-F238E27FC236}">
                <a16:creationId xmlns:a16="http://schemas.microsoft.com/office/drawing/2014/main" id="{6207183B-6E63-4AB1-BEFC-0A6B99ACCFB5}"/>
              </a:ext>
            </a:extLst>
          </p:cNvPr>
          <p:cNvSpPr>
            <a:spLocks noGrp="1"/>
          </p:cNvSpPr>
          <p:nvPr/>
        </p:nvSpPr>
        <p:spPr>
          <a:xfrm>
            <a:off x="6667500" y="3067050"/>
            <a:ext cx="1323975"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30–40</a:t>
            </a:r>
          </a:p>
        </p:txBody>
      </p:sp>
      <p:sp>
        <p:nvSpPr>
          <p:cNvPr id="35" name="Rectangle 34">
            <a:extLst>
              <a:ext uri="{FF2B5EF4-FFF2-40B4-BE49-F238E27FC236}">
                <a16:creationId xmlns:a16="http://schemas.microsoft.com/office/drawing/2014/main" id="{D19A1183-6AF7-4424-84A1-7304F15206E3}"/>
              </a:ext>
            </a:extLst>
          </p:cNvPr>
          <p:cNvSpPr>
            <a:spLocks noGrp="1"/>
          </p:cNvSpPr>
          <p:nvPr/>
        </p:nvSpPr>
        <p:spPr>
          <a:xfrm>
            <a:off x="8067675" y="2990850"/>
            <a:ext cx="9525" cy="704850"/>
          </a:xfrm>
          <a:prstGeom prst="rect">
            <a:avLst/>
          </a:prstGeom>
          <a:solidFill>
            <a:srgbClr val="D8DEE6"/>
          </a:solidFill>
          <a:ln w="0">
            <a:solidFill>
              <a:srgbClr val="D8DEE6"/>
            </a:solidFill>
            <a:prstDash val="solid"/>
          </a:ln>
        </p:spPr>
        <p:txBody>
          <a:bodyPr/>
          <a:lstStyle/>
          <a:p>
            <a:endParaRPr lang="en-IN"/>
          </a:p>
        </p:txBody>
      </p:sp>
      <p:sp>
        <p:nvSpPr>
          <p:cNvPr id="36" name="Rectangle 35">
            <a:extLst>
              <a:ext uri="{FF2B5EF4-FFF2-40B4-BE49-F238E27FC236}">
                <a16:creationId xmlns:a16="http://schemas.microsoft.com/office/drawing/2014/main" id="{7759E3B6-EB15-4EF9-BBFC-647E505C2B7B}"/>
              </a:ext>
            </a:extLst>
          </p:cNvPr>
          <p:cNvSpPr>
            <a:spLocks noGrp="1"/>
          </p:cNvSpPr>
          <p:nvPr/>
        </p:nvSpPr>
        <p:spPr>
          <a:xfrm>
            <a:off x="8143875" y="3067050"/>
            <a:ext cx="1466850"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₹3–7 Cr</a:t>
            </a:r>
          </a:p>
        </p:txBody>
      </p:sp>
      <p:sp>
        <p:nvSpPr>
          <p:cNvPr id="37" name="Rectangle 36">
            <a:extLst>
              <a:ext uri="{FF2B5EF4-FFF2-40B4-BE49-F238E27FC236}">
                <a16:creationId xmlns:a16="http://schemas.microsoft.com/office/drawing/2014/main" id="{4BDFB1E4-460D-485B-B17D-850F076279A3}"/>
              </a:ext>
            </a:extLst>
          </p:cNvPr>
          <p:cNvSpPr>
            <a:spLocks noGrp="1"/>
          </p:cNvSpPr>
          <p:nvPr/>
        </p:nvSpPr>
        <p:spPr>
          <a:xfrm>
            <a:off x="9686925" y="2990850"/>
            <a:ext cx="9525" cy="704850"/>
          </a:xfrm>
          <a:prstGeom prst="rect">
            <a:avLst/>
          </a:prstGeom>
          <a:solidFill>
            <a:srgbClr val="D8DEE6"/>
          </a:solidFill>
          <a:ln w="0">
            <a:solidFill>
              <a:srgbClr val="D8DEE6"/>
            </a:solidFill>
            <a:prstDash val="solid"/>
          </a:ln>
        </p:spPr>
        <p:txBody>
          <a:bodyPr/>
          <a:lstStyle/>
          <a:p>
            <a:endParaRPr lang="en-IN"/>
          </a:p>
        </p:txBody>
      </p:sp>
      <p:sp>
        <p:nvSpPr>
          <p:cNvPr id="38" name="Rectangle 37">
            <a:extLst>
              <a:ext uri="{FF2B5EF4-FFF2-40B4-BE49-F238E27FC236}">
                <a16:creationId xmlns:a16="http://schemas.microsoft.com/office/drawing/2014/main" id="{20430820-FAEE-4406-983B-DF3F54F9C568}"/>
              </a:ext>
            </a:extLst>
          </p:cNvPr>
          <p:cNvSpPr>
            <a:spLocks noGrp="1"/>
          </p:cNvSpPr>
          <p:nvPr/>
        </p:nvSpPr>
        <p:spPr>
          <a:xfrm>
            <a:off x="9763125" y="3067050"/>
            <a:ext cx="1466850"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₹0.6–1.5 Cr</a:t>
            </a:r>
          </a:p>
        </p:txBody>
      </p:sp>
      <p:sp>
        <p:nvSpPr>
          <p:cNvPr id="39" name="Rectangle 38">
            <a:extLst>
              <a:ext uri="{FF2B5EF4-FFF2-40B4-BE49-F238E27FC236}">
                <a16:creationId xmlns:a16="http://schemas.microsoft.com/office/drawing/2014/main" id="{098B9CF2-8A5D-4CA5-A7FB-6123FCF85C15}"/>
              </a:ext>
            </a:extLst>
          </p:cNvPr>
          <p:cNvSpPr>
            <a:spLocks noGrp="1"/>
          </p:cNvSpPr>
          <p:nvPr/>
        </p:nvSpPr>
        <p:spPr>
          <a:xfrm>
            <a:off x="5543550" y="3695700"/>
            <a:ext cx="5762625" cy="704850"/>
          </a:xfrm>
          <a:prstGeom prst="rect">
            <a:avLst/>
          </a:prstGeom>
          <a:solidFill>
            <a:srgbClr val="FAFBFC"/>
          </a:solidFill>
          <a:ln w="9525">
            <a:solidFill>
              <a:srgbClr val="D8DEE6"/>
            </a:solidFill>
            <a:prstDash val="solid"/>
          </a:ln>
        </p:spPr>
        <p:txBody>
          <a:bodyPr/>
          <a:lstStyle/>
          <a:p>
            <a:endParaRPr lang="en-IN"/>
          </a:p>
        </p:txBody>
      </p:sp>
      <p:sp>
        <p:nvSpPr>
          <p:cNvPr id="40" name="Rectangle 39">
            <a:extLst>
              <a:ext uri="{FF2B5EF4-FFF2-40B4-BE49-F238E27FC236}">
                <a16:creationId xmlns:a16="http://schemas.microsoft.com/office/drawing/2014/main" id="{04D741AE-6EA6-4743-8930-90C7D22F7CDF}"/>
              </a:ext>
            </a:extLst>
          </p:cNvPr>
          <p:cNvSpPr>
            <a:spLocks noGrp="1"/>
          </p:cNvSpPr>
          <p:nvPr/>
        </p:nvSpPr>
        <p:spPr>
          <a:xfrm>
            <a:off x="5619750" y="3771900"/>
            <a:ext cx="895350" cy="552450"/>
          </a:xfrm>
          <a:prstGeom prst="rect">
            <a:avLst/>
          </a:prstGeom>
          <a:noFill/>
          <a:ln w="0">
            <a:noFill/>
            <a:prstDash val="solid"/>
          </a:ln>
        </p:spPr>
        <p:txBody>
          <a:bodyPr anchor="ctr"/>
          <a:lstStyle/>
          <a:p>
            <a:pPr algn="l">
              <a:buNone/>
              <a:defRPr sz="1425" b="1">
                <a:solidFill>
                  <a:srgbClr val="1473E6"/>
                </a:solidFill>
              </a:defRPr>
            </a:pPr>
            <a:r>
              <a:rPr sz="1425" b="1">
                <a:solidFill>
                  <a:srgbClr val="1473E6"/>
                </a:solidFill>
              </a:rPr>
              <a:t>Tier 3</a:t>
            </a:r>
          </a:p>
        </p:txBody>
      </p:sp>
      <p:sp>
        <p:nvSpPr>
          <p:cNvPr id="41" name="Rectangle 40">
            <a:extLst>
              <a:ext uri="{FF2B5EF4-FFF2-40B4-BE49-F238E27FC236}">
                <a16:creationId xmlns:a16="http://schemas.microsoft.com/office/drawing/2014/main" id="{BA6388FC-663F-4062-A344-C732B4635F8B}"/>
              </a:ext>
            </a:extLst>
          </p:cNvPr>
          <p:cNvSpPr>
            <a:spLocks noGrp="1"/>
          </p:cNvSpPr>
          <p:nvPr/>
        </p:nvSpPr>
        <p:spPr>
          <a:xfrm>
            <a:off x="6591300" y="3695700"/>
            <a:ext cx="9525" cy="704850"/>
          </a:xfrm>
          <a:prstGeom prst="rect">
            <a:avLst/>
          </a:prstGeom>
          <a:solidFill>
            <a:srgbClr val="D8DEE6"/>
          </a:solidFill>
          <a:ln w="0">
            <a:solidFill>
              <a:srgbClr val="D8DEE6"/>
            </a:solidFill>
            <a:prstDash val="solid"/>
          </a:ln>
        </p:spPr>
        <p:txBody>
          <a:bodyPr/>
          <a:lstStyle/>
          <a:p>
            <a:endParaRPr lang="en-IN"/>
          </a:p>
        </p:txBody>
      </p:sp>
      <p:sp>
        <p:nvSpPr>
          <p:cNvPr id="42" name="Rectangle 41">
            <a:extLst>
              <a:ext uri="{FF2B5EF4-FFF2-40B4-BE49-F238E27FC236}">
                <a16:creationId xmlns:a16="http://schemas.microsoft.com/office/drawing/2014/main" id="{F1BBF33D-F417-4B0D-9247-730D6B556F96}"/>
              </a:ext>
            </a:extLst>
          </p:cNvPr>
          <p:cNvSpPr>
            <a:spLocks noGrp="1"/>
          </p:cNvSpPr>
          <p:nvPr/>
        </p:nvSpPr>
        <p:spPr>
          <a:xfrm>
            <a:off x="6667500" y="3771900"/>
            <a:ext cx="1323975"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25–40</a:t>
            </a:r>
          </a:p>
        </p:txBody>
      </p:sp>
      <p:sp>
        <p:nvSpPr>
          <p:cNvPr id="43" name="Rectangle 42">
            <a:extLst>
              <a:ext uri="{FF2B5EF4-FFF2-40B4-BE49-F238E27FC236}">
                <a16:creationId xmlns:a16="http://schemas.microsoft.com/office/drawing/2014/main" id="{A0292804-8BB1-45F5-9171-C625A56E9AD4}"/>
              </a:ext>
            </a:extLst>
          </p:cNvPr>
          <p:cNvSpPr>
            <a:spLocks noGrp="1"/>
          </p:cNvSpPr>
          <p:nvPr/>
        </p:nvSpPr>
        <p:spPr>
          <a:xfrm>
            <a:off x="8067675" y="3695700"/>
            <a:ext cx="9525" cy="704850"/>
          </a:xfrm>
          <a:prstGeom prst="rect">
            <a:avLst/>
          </a:prstGeom>
          <a:solidFill>
            <a:srgbClr val="D8DEE6"/>
          </a:solidFill>
          <a:ln w="0">
            <a:solidFill>
              <a:srgbClr val="D8DEE6"/>
            </a:solidFill>
            <a:prstDash val="solid"/>
          </a:ln>
        </p:spPr>
        <p:txBody>
          <a:bodyPr/>
          <a:lstStyle/>
          <a:p>
            <a:endParaRPr lang="en-IN"/>
          </a:p>
        </p:txBody>
      </p:sp>
      <p:sp>
        <p:nvSpPr>
          <p:cNvPr id="44" name="Rectangle 43">
            <a:extLst>
              <a:ext uri="{FF2B5EF4-FFF2-40B4-BE49-F238E27FC236}">
                <a16:creationId xmlns:a16="http://schemas.microsoft.com/office/drawing/2014/main" id="{BBDB2A8D-43AE-4FB5-9AD5-9E5B8163842C}"/>
              </a:ext>
            </a:extLst>
          </p:cNvPr>
          <p:cNvSpPr>
            <a:spLocks noGrp="1"/>
          </p:cNvSpPr>
          <p:nvPr/>
        </p:nvSpPr>
        <p:spPr>
          <a:xfrm>
            <a:off x="8143875" y="3771900"/>
            <a:ext cx="1466850"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₹1–3 Cr</a:t>
            </a:r>
          </a:p>
        </p:txBody>
      </p:sp>
      <p:sp>
        <p:nvSpPr>
          <p:cNvPr id="45" name="Rectangle 44">
            <a:extLst>
              <a:ext uri="{FF2B5EF4-FFF2-40B4-BE49-F238E27FC236}">
                <a16:creationId xmlns:a16="http://schemas.microsoft.com/office/drawing/2014/main" id="{A28A8894-CDB0-4629-AD5E-E84BBD8502D0}"/>
              </a:ext>
            </a:extLst>
          </p:cNvPr>
          <p:cNvSpPr>
            <a:spLocks noGrp="1"/>
          </p:cNvSpPr>
          <p:nvPr/>
        </p:nvSpPr>
        <p:spPr>
          <a:xfrm>
            <a:off x="9686925" y="3695700"/>
            <a:ext cx="9525" cy="704850"/>
          </a:xfrm>
          <a:prstGeom prst="rect">
            <a:avLst/>
          </a:prstGeom>
          <a:solidFill>
            <a:srgbClr val="D8DEE6"/>
          </a:solidFill>
          <a:ln w="0">
            <a:solidFill>
              <a:srgbClr val="D8DEE6"/>
            </a:solidFill>
            <a:prstDash val="solid"/>
          </a:ln>
        </p:spPr>
        <p:txBody>
          <a:bodyPr/>
          <a:lstStyle/>
          <a:p>
            <a:endParaRPr lang="en-IN"/>
          </a:p>
        </p:txBody>
      </p:sp>
      <p:sp>
        <p:nvSpPr>
          <p:cNvPr id="46" name="Rectangle 45">
            <a:extLst>
              <a:ext uri="{FF2B5EF4-FFF2-40B4-BE49-F238E27FC236}">
                <a16:creationId xmlns:a16="http://schemas.microsoft.com/office/drawing/2014/main" id="{EEF3316B-FD53-4040-8C8B-EECC7127B31B}"/>
              </a:ext>
            </a:extLst>
          </p:cNvPr>
          <p:cNvSpPr>
            <a:spLocks noGrp="1"/>
          </p:cNvSpPr>
          <p:nvPr/>
        </p:nvSpPr>
        <p:spPr>
          <a:xfrm>
            <a:off x="9763125" y="3771900"/>
            <a:ext cx="1466850" cy="552450"/>
          </a:xfrm>
          <a:prstGeom prst="rect">
            <a:avLst/>
          </a:prstGeom>
          <a:noFill/>
          <a:ln w="0">
            <a:noFill/>
            <a:prstDash val="solid"/>
          </a:ln>
        </p:spPr>
        <p:txBody>
          <a:bodyPr anchor="ctr"/>
          <a:lstStyle/>
          <a:p>
            <a:pPr algn="ctr">
              <a:buNone/>
              <a:defRPr sz="1350" b="0">
                <a:solidFill>
                  <a:srgbClr val="0B1F3A"/>
                </a:solidFill>
              </a:defRPr>
            </a:pPr>
            <a:r>
              <a:rPr sz="1350" b="0">
                <a:solidFill>
                  <a:srgbClr val="0B1F3A"/>
                </a:solidFill>
              </a:rPr>
              <a:t>₹0.25–0.6 Cr</a:t>
            </a:r>
          </a:p>
        </p:txBody>
      </p:sp>
      <p:sp>
        <p:nvSpPr>
          <p:cNvPr id="47" name="Rectangle 46">
            <a:extLst>
              <a:ext uri="{FF2B5EF4-FFF2-40B4-BE49-F238E27FC236}">
                <a16:creationId xmlns:a16="http://schemas.microsoft.com/office/drawing/2014/main" id="{13BB2D9F-2CB0-405B-9FCE-F5D53CCB2DFC}"/>
              </a:ext>
            </a:extLst>
          </p:cNvPr>
          <p:cNvSpPr>
            <a:spLocks noGrp="1"/>
          </p:cNvSpPr>
          <p:nvPr/>
        </p:nvSpPr>
        <p:spPr>
          <a:xfrm>
            <a:off x="5562600" y="4495800"/>
            <a:ext cx="1905000" cy="238125"/>
          </a:xfrm>
          <a:prstGeom prst="rect">
            <a:avLst/>
          </a:prstGeom>
          <a:noFill/>
          <a:ln w="0">
            <a:noFill/>
            <a:prstDash val="solid"/>
          </a:ln>
        </p:spPr>
        <p:txBody>
          <a:bodyPr anchor="ctr"/>
          <a:lstStyle/>
          <a:p>
            <a:pPr algn="l">
              <a:buNone/>
              <a:defRPr sz="1275" b="1">
                <a:solidFill>
                  <a:srgbClr val="5E6B78"/>
                </a:solidFill>
              </a:defRPr>
            </a:pPr>
            <a:r>
              <a:rPr sz="1275" b="1">
                <a:solidFill>
                  <a:srgbClr val="5E6B78"/>
                </a:solidFill>
              </a:rPr>
              <a:t>Commercial focus</a:t>
            </a:r>
          </a:p>
        </p:txBody>
      </p:sp>
      <p:sp>
        <p:nvSpPr>
          <p:cNvPr id="48" name="Rectangle 47">
            <a:extLst>
              <a:ext uri="{FF2B5EF4-FFF2-40B4-BE49-F238E27FC236}">
                <a16:creationId xmlns:a16="http://schemas.microsoft.com/office/drawing/2014/main" id="{C82F2391-9323-4183-A228-1180943384A3}"/>
              </a:ext>
            </a:extLst>
          </p:cNvPr>
          <p:cNvSpPr>
            <a:spLocks noGrp="1"/>
          </p:cNvSpPr>
          <p:nvPr/>
        </p:nvSpPr>
        <p:spPr>
          <a:xfrm>
            <a:off x="5562600" y="4733925"/>
            <a:ext cx="5715000" cy="571500"/>
          </a:xfrm>
          <a:prstGeom prst="rect">
            <a:avLst/>
          </a:prstGeom>
          <a:noFill/>
          <a:ln w="0">
            <a:noFill/>
            <a:prstDash val="solid"/>
          </a:ln>
        </p:spPr>
        <p:txBody>
          <a:bodyPr anchor="ctr"/>
          <a:lstStyle/>
          <a:p>
            <a:pPr algn="l">
              <a:buNone/>
              <a:defRPr sz="1425" b="1">
                <a:solidFill>
                  <a:srgbClr val="0B1F3A"/>
                </a:solidFill>
              </a:defRPr>
            </a:pPr>
            <a:r>
              <a:rPr sz="1425" b="1">
                <a:solidFill>
                  <a:srgbClr val="0B1F3A"/>
                </a:solidFill>
              </a:rPr>
              <a:t>Land Tier 1 for proof and referenceability; use Tier 2 for repeatable economics; keep Tier 3 partner-led.</a:t>
            </a:r>
          </a:p>
        </p:txBody>
      </p:sp>
      <p:sp>
        <p:nvSpPr>
          <p:cNvPr id="49" name="Rectangle 48">
            <a:extLst>
              <a:ext uri="{FF2B5EF4-FFF2-40B4-BE49-F238E27FC236}">
                <a16:creationId xmlns:a16="http://schemas.microsoft.com/office/drawing/2014/main" id="{54EE6361-DFE1-4DEC-ACE2-1D6E817246B4}"/>
              </a:ext>
            </a:extLst>
          </p:cNvPr>
          <p:cNvSpPr>
            <a:spLocks noGrp="1"/>
          </p:cNvSpPr>
          <p:nvPr/>
        </p:nvSpPr>
        <p:spPr>
          <a:xfrm>
            <a:off x="571500" y="5467350"/>
            <a:ext cx="10744200" cy="781050"/>
          </a:xfrm>
          <a:prstGeom prst="rect">
            <a:avLst/>
          </a:prstGeom>
          <a:solidFill>
            <a:srgbClr val="EAF3FF"/>
          </a:solidFill>
          <a:ln w="0">
            <a:solidFill>
              <a:srgbClr val="EAF3FF"/>
            </a:solidFill>
            <a:prstDash val="solid"/>
          </a:ln>
        </p:spPr>
        <p:txBody>
          <a:bodyPr/>
          <a:lstStyle/>
          <a:p>
            <a:endParaRPr lang="en-IN"/>
          </a:p>
        </p:txBody>
      </p:sp>
      <p:sp>
        <p:nvSpPr>
          <p:cNvPr id="50" name="Rectangle 49">
            <a:extLst>
              <a:ext uri="{FF2B5EF4-FFF2-40B4-BE49-F238E27FC236}">
                <a16:creationId xmlns:a16="http://schemas.microsoft.com/office/drawing/2014/main" id="{5A8CD653-CAF9-4FFD-8B74-703CE3957C1F}"/>
              </a:ext>
            </a:extLst>
          </p:cNvPr>
          <p:cNvSpPr>
            <a:spLocks noGrp="1"/>
          </p:cNvSpPr>
          <p:nvPr/>
        </p:nvSpPr>
        <p:spPr>
          <a:xfrm>
            <a:off x="904875" y="5572125"/>
            <a:ext cx="1047750" cy="361950"/>
          </a:xfrm>
          <a:prstGeom prst="rect">
            <a:avLst/>
          </a:prstGeom>
          <a:noFill/>
          <a:ln w="0">
            <a:noFill/>
            <a:prstDash val="solid"/>
          </a:ln>
        </p:spPr>
        <p:txBody>
          <a:bodyPr anchor="ctr"/>
          <a:lstStyle/>
          <a:p>
            <a:pPr algn="ctr">
              <a:buNone/>
              <a:defRPr sz="2250" b="1">
                <a:solidFill>
                  <a:srgbClr val="1473E6"/>
                </a:solidFill>
              </a:defRPr>
            </a:pPr>
            <a:r>
              <a:rPr sz="2250" b="1">
                <a:solidFill>
                  <a:srgbClr val="1473E6"/>
                </a:solidFill>
              </a:rPr>
              <a:t>2</a:t>
            </a:r>
          </a:p>
        </p:txBody>
      </p:sp>
      <p:sp>
        <p:nvSpPr>
          <p:cNvPr id="51" name="Rectangle 50">
            <a:extLst>
              <a:ext uri="{FF2B5EF4-FFF2-40B4-BE49-F238E27FC236}">
                <a16:creationId xmlns:a16="http://schemas.microsoft.com/office/drawing/2014/main" id="{7E58BA62-2364-4DB6-AA2C-CCD17222C419}"/>
              </a:ext>
            </a:extLst>
          </p:cNvPr>
          <p:cNvSpPr>
            <a:spLocks noGrp="1"/>
          </p:cNvSpPr>
          <p:nvPr/>
        </p:nvSpPr>
        <p:spPr>
          <a:xfrm>
            <a:off x="828675" y="5915025"/>
            <a:ext cx="1200150" cy="209550"/>
          </a:xfrm>
          <a:prstGeom prst="rect">
            <a:avLst/>
          </a:prstGeom>
          <a:noFill/>
          <a:ln w="0">
            <a:noFill/>
            <a:prstDash val="solid"/>
          </a:ln>
        </p:spPr>
        <p:txBody>
          <a:bodyPr anchor="ctr"/>
          <a:lstStyle/>
          <a:p>
            <a:pPr algn="ctr">
              <a:buNone/>
              <a:defRPr sz="1050" b="1">
                <a:solidFill>
                  <a:srgbClr val="5E6B78"/>
                </a:solidFill>
              </a:defRPr>
            </a:pPr>
            <a:r>
              <a:rPr sz="1050" b="1">
                <a:solidFill>
                  <a:srgbClr val="5E6B78"/>
                </a:solidFill>
              </a:rPr>
              <a:t>LIGHTHOUSE</a:t>
            </a:r>
          </a:p>
        </p:txBody>
      </p:sp>
      <p:sp>
        <p:nvSpPr>
          <p:cNvPr id="52" name="Rectangle 51">
            <a:extLst>
              <a:ext uri="{FF2B5EF4-FFF2-40B4-BE49-F238E27FC236}">
                <a16:creationId xmlns:a16="http://schemas.microsoft.com/office/drawing/2014/main" id="{F36EC2CD-4E3F-4FDD-B493-A55C5AC70264}"/>
              </a:ext>
            </a:extLst>
          </p:cNvPr>
          <p:cNvSpPr>
            <a:spLocks noGrp="1"/>
          </p:cNvSpPr>
          <p:nvPr/>
        </p:nvSpPr>
        <p:spPr>
          <a:xfrm>
            <a:off x="2838450" y="5638800"/>
            <a:ext cx="428625" cy="333375"/>
          </a:xfrm>
          <a:prstGeom prst="rect">
            <a:avLst/>
          </a:prstGeom>
          <a:noFill/>
          <a:ln w="0">
            <a:noFill/>
            <a:prstDash val="solid"/>
          </a:ln>
        </p:spPr>
        <p:txBody>
          <a:bodyPr anchor="ctr"/>
          <a:lstStyle/>
          <a:p>
            <a:pPr algn="ctr">
              <a:buNone/>
              <a:defRPr sz="2100" b="1">
                <a:solidFill>
                  <a:srgbClr val="5E6B78"/>
                </a:solidFill>
              </a:defRPr>
            </a:pPr>
            <a:r>
              <a:rPr sz="2100" b="1">
                <a:solidFill>
                  <a:srgbClr val="5E6B78"/>
                </a:solidFill>
              </a:rPr>
              <a:t>+</a:t>
            </a:r>
          </a:p>
        </p:txBody>
      </p:sp>
      <p:sp>
        <p:nvSpPr>
          <p:cNvPr id="53" name="Rectangle 52">
            <a:extLst>
              <a:ext uri="{FF2B5EF4-FFF2-40B4-BE49-F238E27FC236}">
                <a16:creationId xmlns:a16="http://schemas.microsoft.com/office/drawing/2014/main" id="{9771C286-A8BD-4F92-A977-74B88C9D0F03}"/>
              </a:ext>
            </a:extLst>
          </p:cNvPr>
          <p:cNvSpPr>
            <a:spLocks noGrp="1"/>
          </p:cNvSpPr>
          <p:nvPr/>
        </p:nvSpPr>
        <p:spPr>
          <a:xfrm>
            <a:off x="3362325" y="5572125"/>
            <a:ext cx="1047750" cy="361950"/>
          </a:xfrm>
          <a:prstGeom prst="rect">
            <a:avLst/>
          </a:prstGeom>
          <a:noFill/>
          <a:ln w="0">
            <a:noFill/>
            <a:prstDash val="solid"/>
          </a:ln>
        </p:spPr>
        <p:txBody>
          <a:bodyPr anchor="ctr"/>
          <a:lstStyle/>
          <a:p>
            <a:pPr algn="ctr">
              <a:buNone/>
              <a:defRPr sz="2250" b="1">
                <a:solidFill>
                  <a:srgbClr val="1473E6"/>
                </a:solidFill>
              </a:defRPr>
            </a:pPr>
            <a:r>
              <a:rPr sz="2250" b="1">
                <a:solidFill>
                  <a:srgbClr val="1473E6"/>
                </a:solidFill>
              </a:rPr>
              <a:t>3–4</a:t>
            </a:r>
          </a:p>
        </p:txBody>
      </p:sp>
      <p:sp>
        <p:nvSpPr>
          <p:cNvPr id="54" name="Rectangle 53">
            <a:extLst>
              <a:ext uri="{FF2B5EF4-FFF2-40B4-BE49-F238E27FC236}">
                <a16:creationId xmlns:a16="http://schemas.microsoft.com/office/drawing/2014/main" id="{D17B09D2-70C3-457B-B60F-E9B893BBA50C}"/>
              </a:ext>
            </a:extLst>
          </p:cNvPr>
          <p:cNvSpPr>
            <a:spLocks noGrp="1"/>
          </p:cNvSpPr>
          <p:nvPr/>
        </p:nvSpPr>
        <p:spPr>
          <a:xfrm>
            <a:off x="3286125" y="5915025"/>
            <a:ext cx="1200150" cy="209550"/>
          </a:xfrm>
          <a:prstGeom prst="rect">
            <a:avLst/>
          </a:prstGeom>
          <a:noFill/>
          <a:ln w="0">
            <a:noFill/>
            <a:prstDash val="solid"/>
          </a:ln>
        </p:spPr>
        <p:txBody>
          <a:bodyPr anchor="ctr"/>
          <a:lstStyle/>
          <a:p>
            <a:pPr algn="ctr">
              <a:buNone/>
              <a:defRPr sz="1050" b="1">
                <a:solidFill>
                  <a:srgbClr val="5E6B78"/>
                </a:solidFill>
              </a:defRPr>
            </a:pPr>
            <a:r>
              <a:rPr sz="1050" b="1">
                <a:solidFill>
                  <a:srgbClr val="5E6B78"/>
                </a:solidFill>
              </a:rPr>
              <a:t>TIER 2</a:t>
            </a:r>
          </a:p>
        </p:txBody>
      </p:sp>
      <p:sp>
        <p:nvSpPr>
          <p:cNvPr id="55" name="Rectangle 54">
            <a:extLst>
              <a:ext uri="{FF2B5EF4-FFF2-40B4-BE49-F238E27FC236}">
                <a16:creationId xmlns:a16="http://schemas.microsoft.com/office/drawing/2014/main" id="{64DB12A8-30A8-439A-AFD7-61F29309C099}"/>
              </a:ext>
            </a:extLst>
          </p:cNvPr>
          <p:cNvSpPr>
            <a:spLocks noGrp="1"/>
          </p:cNvSpPr>
          <p:nvPr/>
        </p:nvSpPr>
        <p:spPr>
          <a:xfrm>
            <a:off x="5295900" y="5638800"/>
            <a:ext cx="428625" cy="333375"/>
          </a:xfrm>
          <a:prstGeom prst="rect">
            <a:avLst/>
          </a:prstGeom>
          <a:noFill/>
          <a:ln w="0">
            <a:noFill/>
            <a:prstDash val="solid"/>
          </a:ln>
        </p:spPr>
        <p:txBody>
          <a:bodyPr anchor="ctr"/>
          <a:lstStyle/>
          <a:p>
            <a:pPr algn="ctr">
              <a:buNone/>
              <a:defRPr sz="2100" b="1">
                <a:solidFill>
                  <a:srgbClr val="5E6B78"/>
                </a:solidFill>
              </a:defRPr>
            </a:pPr>
            <a:r>
              <a:rPr sz="2100" b="1">
                <a:solidFill>
                  <a:srgbClr val="5E6B78"/>
                </a:solidFill>
              </a:rPr>
              <a:t>+</a:t>
            </a:r>
          </a:p>
        </p:txBody>
      </p:sp>
      <p:sp>
        <p:nvSpPr>
          <p:cNvPr id="56" name="Rectangle 55">
            <a:extLst>
              <a:ext uri="{FF2B5EF4-FFF2-40B4-BE49-F238E27FC236}">
                <a16:creationId xmlns:a16="http://schemas.microsoft.com/office/drawing/2014/main" id="{7549DB3B-2A12-4BD4-9743-86A22B976CC3}"/>
              </a:ext>
            </a:extLst>
          </p:cNvPr>
          <p:cNvSpPr>
            <a:spLocks noGrp="1"/>
          </p:cNvSpPr>
          <p:nvPr/>
        </p:nvSpPr>
        <p:spPr>
          <a:xfrm>
            <a:off x="5819775" y="5572125"/>
            <a:ext cx="1047750" cy="361950"/>
          </a:xfrm>
          <a:prstGeom prst="rect">
            <a:avLst/>
          </a:prstGeom>
          <a:noFill/>
          <a:ln w="0">
            <a:noFill/>
            <a:prstDash val="solid"/>
          </a:ln>
        </p:spPr>
        <p:txBody>
          <a:bodyPr anchor="ctr"/>
          <a:lstStyle/>
          <a:p>
            <a:pPr algn="ctr">
              <a:buNone/>
              <a:defRPr sz="2250" b="1">
                <a:solidFill>
                  <a:srgbClr val="1473E6"/>
                </a:solidFill>
              </a:defRPr>
            </a:pPr>
            <a:r>
              <a:rPr sz="2250" b="1">
                <a:solidFill>
                  <a:srgbClr val="1473E6"/>
                </a:solidFill>
              </a:rPr>
              <a:t>1–2</a:t>
            </a:r>
          </a:p>
        </p:txBody>
      </p:sp>
      <p:sp>
        <p:nvSpPr>
          <p:cNvPr id="57" name="Rectangle 56">
            <a:extLst>
              <a:ext uri="{FF2B5EF4-FFF2-40B4-BE49-F238E27FC236}">
                <a16:creationId xmlns:a16="http://schemas.microsoft.com/office/drawing/2014/main" id="{3EBA9661-1746-40D7-9072-8227A8085950}"/>
              </a:ext>
            </a:extLst>
          </p:cNvPr>
          <p:cNvSpPr>
            <a:spLocks noGrp="1"/>
          </p:cNvSpPr>
          <p:nvPr/>
        </p:nvSpPr>
        <p:spPr>
          <a:xfrm>
            <a:off x="5743575" y="5915025"/>
            <a:ext cx="1200150" cy="209550"/>
          </a:xfrm>
          <a:prstGeom prst="rect">
            <a:avLst/>
          </a:prstGeom>
          <a:noFill/>
          <a:ln w="0">
            <a:noFill/>
            <a:prstDash val="solid"/>
          </a:ln>
        </p:spPr>
        <p:txBody>
          <a:bodyPr anchor="ctr"/>
          <a:lstStyle/>
          <a:p>
            <a:pPr algn="ctr">
              <a:buNone/>
              <a:defRPr sz="1050" b="1">
                <a:solidFill>
                  <a:srgbClr val="5E6B78"/>
                </a:solidFill>
              </a:defRPr>
            </a:pPr>
            <a:r>
              <a:rPr sz="1050" b="1">
                <a:solidFill>
                  <a:srgbClr val="5E6B78"/>
                </a:solidFill>
              </a:rPr>
              <a:t>TIER 3</a:t>
            </a:r>
          </a:p>
        </p:txBody>
      </p:sp>
      <p:sp>
        <p:nvSpPr>
          <p:cNvPr id="58" name="Rectangle 57">
            <a:extLst>
              <a:ext uri="{FF2B5EF4-FFF2-40B4-BE49-F238E27FC236}">
                <a16:creationId xmlns:a16="http://schemas.microsoft.com/office/drawing/2014/main" id="{91B01162-E4F4-4199-81B4-EF96B809C164}"/>
              </a:ext>
            </a:extLst>
          </p:cNvPr>
          <p:cNvSpPr>
            <a:spLocks noGrp="1"/>
          </p:cNvSpPr>
          <p:nvPr/>
        </p:nvSpPr>
        <p:spPr>
          <a:xfrm>
            <a:off x="8143875" y="5638800"/>
            <a:ext cx="428625" cy="333375"/>
          </a:xfrm>
          <a:prstGeom prst="rect">
            <a:avLst/>
          </a:prstGeom>
          <a:noFill/>
          <a:ln w="0">
            <a:noFill/>
            <a:prstDash val="solid"/>
          </a:ln>
        </p:spPr>
        <p:txBody>
          <a:bodyPr anchor="ctr"/>
          <a:lstStyle/>
          <a:p>
            <a:pPr algn="ctr">
              <a:buNone/>
              <a:defRPr sz="2100" b="1">
                <a:solidFill>
                  <a:srgbClr val="C73E3A"/>
                </a:solidFill>
              </a:defRPr>
            </a:pPr>
            <a:r>
              <a:rPr sz="2100" b="1">
                <a:solidFill>
                  <a:srgbClr val="C73E3A"/>
                </a:solidFill>
              </a:rPr>
              <a:t>=</a:t>
            </a:r>
          </a:p>
        </p:txBody>
      </p:sp>
      <p:sp>
        <p:nvSpPr>
          <p:cNvPr id="59" name="Rectangle 58">
            <a:extLst>
              <a:ext uri="{FF2B5EF4-FFF2-40B4-BE49-F238E27FC236}">
                <a16:creationId xmlns:a16="http://schemas.microsoft.com/office/drawing/2014/main" id="{D16B6684-21DE-4C33-B69B-BFAB0941A406}"/>
              </a:ext>
            </a:extLst>
          </p:cNvPr>
          <p:cNvSpPr>
            <a:spLocks noGrp="1"/>
          </p:cNvSpPr>
          <p:nvPr/>
        </p:nvSpPr>
        <p:spPr>
          <a:xfrm>
            <a:off x="8667750" y="5572125"/>
            <a:ext cx="1047750" cy="361950"/>
          </a:xfrm>
          <a:prstGeom prst="rect">
            <a:avLst/>
          </a:prstGeom>
          <a:noFill/>
          <a:ln w="0">
            <a:noFill/>
            <a:prstDash val="solid"/>
          </a:ln>
        </p:spPr>
        <p:txBody>
          <a:bodyPr anchor="ctr"/>
          <a:lstStyle/>
          <a:p>
            <a:pPr algn="ctr">
              <a:buNone/>
              <a:defRPr sz="2250" b="1">
                <a:solidFill>
                  <a:srgbClr val="C73E3A"/>
                </a:solidFill>
              </a:defRPr>
            </a:pPr>
            <a:r>
              <a:rPr sz="2250" b="1">
                <a:solidFill>
                  <a:srgbClr val="C73E3A"/>
                </a:solidFill>
              </a:rPr>
              <a:t>7</a:t>
            </a:r>
          </a:p>
        </p:txBody>
      </p:sp>
      <p:sp>
        <p:nvSpPr>
          <p:cNvPr id="60" name="Rectangle 59">
            <a:extLst>
              <a:ext uri="{FF2B5EF4-FFF2-40B4-BE49-F238E27FC236}">
                <a16:creationId xmlns:a16="http://schemas.microsoft.com/office/drawing/2014/main" id="{7C8E9CFC-FE7D-4827-81B6-251ED1880F52}"/>
              </a:ext>
            </a:extLst>
          </p:cNvPr>
          <p:cNvSpPr>
            <a:spLocks noGrp="1"/>
          </p:cNvSpPr>
          <p:nvPr/>
        </p:nvSpPr>
        <p:spPr>
          <a:xfrm>
            <a:off x="8591550" y="5915025"/>
            <a:ext cx="1200150" cy="209550"/>
          </a:xfrm>
          <a:prstGeom prst="rect">
            <a:avLst/>
          </a:prstGeom>
          <a:noFill/>
          <a:ln w="0">
            <a:noFill/>
            <a:prstDash val="solid"/>
          </a:ln>
        </p:spPr>
        <p:txBody>
          <a:bodyPr anchor="ctr"/>
          <a:lstStyle/>
          <a:p>
            <a:pPr algn="ctr">
              <a:buNone/>
              <a:defRPr sz="1050" b="1">
                <a:solidFill>
                  <a:srgbClr val="5E6B78"/>
                </a:solidFill>
              </a:defRPr>
            </a:pPr>
            <a:r>
              <a:rPr sz="1050" b="1">
                <a:solidFill>
                  <a:srgbClr val="5E6B78"/>
                </a:solidFill>
              </a:rPr>
              <a:t>TOTAL WINS</a:t>
            </a:r>
          </a:p>
        </p:txBody>
      </p:sp>
      <p:sp>
        <p:nvSpPr>
          <p:cNvPr id="61" name="Rectangle 60">
            <a:extLst>
              <a:ext uri="{FF2B5EF4-FFF2-40B4-BE49-F238E27FC236}">
                <a16:creationId xmlns:a16="http://schemas.microsoft.com/office/drawing/2014/main" id="{02C913F4-8B84-42AB-9D08-813989CD5A28}"/>
              </a:ext>
            </a:extLst>
          </p:cNvPr>
          <p:cNvSpPr>
            <a:spLocks noGrp="1"/>
          </p:cNvSpPr>
          <p:nvPr/>
        </p:nvSpPr>
        <p:spPr>
          <a:xfrm>
            <a:off x="571500" y="6286500"/>
            <a:ext cx="10001250"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Source: management assumptions benchmarked to market size and comparable enterprise implementations</a:t>
            </a:r>
          </a:p>
        </p:txBody>
      </p:sp>
    </p:spTree>
    <p:extLst>
      <p:ext uri="{BB962C8B-B14F-4D97-AF65-F5344CB8AC3E}">
        <p14:creationId xmlns:p14="http://schemas.microsoft.com/office/powerpoint/2010/main" val="943200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00612336-99F9-48E3-9661-4617F1A54C1E}"/>
              </a:ext>
            </a:extLst>
          </p:cNvPr>
          <p:cNvSpPr>
            <a:spLocks noGrp="1"/>
          </p:cNvSpPr>
          <p:nvPr/>
        </p:nvSpPr>
        <p:spPr>
          <a:xfrm>
            <a:off x="0" y="0"/>
            <a:ext cx="133350" cy="6858000"/>
          </a:xfrm>
          <a:prstGeom prst="rect">
            <a:avLst/>
          </a:prstGeom>
          <a:solidFill>
            <a:srgbClr val="0B1F3A"/>
          </a:solidFill>
          <a:ln w="0">
            <a:solidFill>
              <a:srgbClr val="0B1F3A"/>
            </a:solidFill>
            <a:prstDash val="solid"/>
          </a:ln>
        </p:spPr>
        <p:txBody>
          <a:bodyPr/>
          <a:lstStyle/>
          <a:p>
            <a:endParaRPr lang="en-IN"/>
          </a:p>
        </p:txBody>
      </p:sp>
      <p:sp>
        <p:nvSpPr>
          <p:cNvPr id="2" name="Rectangle 1">
            <a:extLst>
              <a:ext uri="{FF2B5EF4-FFF2-40B4-BE49-F238E27FC236}">
                <a16:creationId xmlns:a16="http://schemas.microsoft.com/office/drawing/2014/main" id="{422599E3-E835-4A80-8C46-CF471C75D313}"/>
              </a:ext>
            </a:extLst>
          </p:cNvPr>
          <p:cNvSpPr>
            <a:spLocks noGrp="1"/>
          </p:cNvSpPr>
          <p:nvPr/>
        </p:nvSpPr>
        <p:spPr>
          <a:xfrm>
            <a:off x="552450" y="228600"/>
            <a:ext cx="10953750" cy="628650"/>
          </a:xfrm>
          <a:prstGeom prst="rect">
            <a:avLst/>
          </a:prstGeom>
          <a:noFill/>
          <a:ln w="0">
            <a:noFill/>
            <a:prstDash val="solid"/>
          </a:ln>
        </p:spPr>
        <p:txBody>
          <a:bodyPr anchor="ctr"/>
          <a:lstStyle/>
          <a:p>
            <a:pPr algn="l">
              <a:buNone/>
              <a:defRPr sz="3000" b="1">
                <a:solidFill>
                  <a:srgbClr val="0B1F3A"/>
                </a:solidFill>
              </a:defRPr>
            </a:pPr>
            <a:r>
              <a:rPr sz="3000" b="1">
                <a:solidFill>
                  <a:srgbClr val="0B1F3A"/>
                </a:solidFill>
              </a:rPr>
              <a:t>Seven wins pay back in 3.6 years; use gated investment</a:t>
            </a:r>
          </a:p>
        </p:txBody>
      </p:sp>
      <p:sp>
        <p:nvSpPr>
          <p:cNvPr id="3" name="Rectangle 2">
            <a:extLst>
              <a:ext uri="{FF2B5EF4-FFF2-40B4-BE49-F238E27FC236}">
                <a16:creationId xmlns:a16="http://schemas.microsoft.com/office/drawing/2014/main" id="{A4ED4D1F-6D77-4322-AFEE-74D837BE8D59}"/>
              </a:ext>
            </a:extLst>
          </p:cNvPr>
          <p:cNvSpPr>
            <a:spLocks noGrp="1"/>
          </p:cNvSpPr>
          <p:nvPr/>
        </p:nvSpPr>
        <p:spPr>
          <a:xfrm>
            <a:off x="571500" y="914400"/>
            <a:ext cx="10668000" cy="314325"/>
          </a:xfrm>
          <a:prstGeom prst="rect">
            <a:avLst/>
          </a:prstGeom>
          <a:noFill/>
          <a:ln w="0">
            <a:noFill/>
            <a:prstDash val="solid"/>
          </a:ln>
        </p:spPr>
        <p:txBody>
          <a:bodyPr anchor="ctr"/>
          <a:lstStyle/>
          <a:p>
            <a:pPr algn="l">
              <a:buNone/>
              <a:defRPr sz="1575" b="0">
                <a:solidFill>
                  <a:srgbClr val="5E6B78"/>
                </a:solidFill>
              </a:defRPr>
            </a:pPr>
            <a:r>
              <a:rPr sz="1575" b="0">
                <a:solidFill>
                  <a:srgbClr val="5E6B78"/>
                </a:solidFill>
              </a:rPr>
              <a:t>Seven customer wins create ₹149 Cr revenue and ₹55 Cr net value over five years</a:t>
            </a:r>
          </a:p>
        </p:txBody>
      </p:sp>
      <p:sp>
        <p:nvSpPr>
          <p:cNvPr id="4" name="Rectangle 3">
            <a:extLst>
              <a:ext uri="{FF2B5EF4-FFF2-40B4-BE49-F238E27FC236}">
                <a16:creationId xmlns:a16="http://schemas.microsoft.com/office/drawing/2014/main" id="{83B71A95-9AB2-4190-82E8-3C240729D901}"/>
              </a:ext>
            </a:extLst>
          </p:cNvPr>
          <p:cNvSpPr>
            <a:spLocks noGrp="1"/>
          </p:cNvSpPr>
          <p:nvPr/>
        </p:nvSpPr>
        <p:spPr>
          <a:xfrm>
            <a:off x="571500" y="1323975"/>
            <a:ext cx="11029950" cy="19050"/>
          </a:xfrm>
          <a:prstGeom prst="rect">
            <a:avLst/>
          </a:prstGeom>
          <a:solidFill>
            <a:srgbClr val="0B1F3A"/>
          </a:solidFill>
          <a:ln w="0">
            <a:solidFill>
              <a:srgbClr val="0B1F3A"/>
            </a:solidFill>
            <a:prstDash val="solid"/>
          </a:ln>
        </p:spPr>
        <p:txBody>
          <a:bodyPr/>
          <a:lstStyle/>
          <a:p>
            <a:endParaRPr lang="en-IN"/>
          </a:p>
        </p:txBody>
      </p:sp>
      <p:sp>
        <p:nvSpPr>
          <p:cNvPr id="5" name="Rectangle 4">
            <a:extLst>
              <a:ext uri="{FF2B5EF4-FFF2-40B4-BE49-F238E27FC236}">
                <a16:creationId xmlns:a16="http://schemas.microsoft.com/office/drawing/2014/main" id="{C5F732A9-9A06-4EF8-8BA7-EF5981DC4E17}"/>
              </a:ext>
            </a:extLst>
          </p:cNvPr>
          <p:cNvSpPr>
            <a:spLocks noGrp="1"/>
          </p:cNvSpPr>
          <p:nvPr/>
        </p:nvSpPr>
        <p:spPr>
          <a:xfrm>
            <a:off x="571500" y="6505575"/>
            <a:ext cx="3619500" cy="190500"/>
          </a:xfrm>
          <a:prstGeom prst="rect">
            <a:avLst/>
          </a:prstGeom>
          <a:noFill/>
          <a:ln w="0">
            <a:noFill/>
            <a:prstDash val="solid"/>
          </a:ln>
        </p:spPr>
        <p:txBody>
          <a:bodyPr anchor="ctr"/>
          <a:lstStyle/>
          <a:p>
            <a:pPr algn="l">
              <a:buNone/>
              <a:defRPr sz="975" b="1">
                <a:solidFill>
                  <a:srgbClr val="8793A0"/>
                </a:solidFill>
              </a:defRPr>
            </a:pPr>
            <a:r>
              <a:rPr sz="975" b="1">
                <a:solidFill>
                  <a:srgbClr val="8793A0"/>
                </a:solidFill>
              </a:rPr>
              <a:t>INDIA GOLD LOAN | BOARD DISCUSSION</a:t>
            </a:r>
          </a:p>
        </p:txBody>
      </p:sp>
      <p:sp>
        <p:nvSpPr>
          <p:cNvPr id="6" name="Rectangle 5">
            <a:extLst>
              <a:ext uri="{FF2B5EF4-FFF2-40B4-BE49-F238E27FC236}">
                <a16:creationId xmlns:a16="http://schemas.microsoft.com/office/drawing/2014/main" id="{4B8094D1-DF35-4FFD-8208-8F158724F105}"/>
              </a:ext>
            </a:extLst>
          </p:cNvPr>
          <p:cNvSpPr>
            <a:spLocks noGrp="1"/>
          </p:cNvSpPr>
          <p:nvPr/>
        </p:nvSpPr>
        <p:spPr>
          <a:xfrm>
            <a:off x="9810750" y="6505575"/>
            <a:ext cx="1143000"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24 AUG 2026</a:t>
            </a:r>
          </a:p>
        </p:txBody>
      </p:sp>
      <p:sp>
        <p:nvSpPr>
          <p:cNvPr id="7" name="Rectangle 6">
            <a:extLst>
              <a:ext uri="{FF2B5EF4-FFF2-40B4-BE49-F238E27FC236}">
                <a16:creationId xmlns:a16="http://schemas.microsoft.com/office/drawing/2014/main" id="{05754DCD-D658-49A9-AFEE-C6E377A5FB87}"/>
              </a:ext>
            </a:extLst>
          </p:cNvPr>
          <p:cNvSpPr>
            <a:spLocks noGrp="1"/>
          </p:cNvSpPr>
          <p:nvPr/>
        </p:nvSpPr>
        <p:spPr>
          <a:xfrm>
            <a:off x="11144250" y="6505575"/>
            <a:ext cx="333375"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4</a:t>
            </a:r>
          </a:p>
        </p:txBody>
      </p:sp>
      <p:sp>
        <p:nvSpPr>
          <p:cNvPr id="8" name="Rectangle 7">
            <a:extLst>
              <a:ext uri="{FF2B5EF4-FFF2-40B4-BE49-F238E27FC236}">
                <a16:creationId xmlns:a16="http://schemas.microsoft.com/office/drawing/2014/main" id="{82558C29-D78B-4F9C-A1BA-A35E585FB6A1}"/>
              </a:ext>
            </a:extLst>
          </p:cNvPr>
          <p:cNvSpPr>
            <a:spLocks noGrp="1"/>
          </p:cNvSpPr>
          <p:nvPr/>
        </p:nvSpPr>
        <p:spPr>
          <a:xfrm>
            <a:off x="638175" y="1524000"/>
            <a:ext cx="4953000" cy="257175"/>
          </a:xfrm>
          <a:prstGeom prst="rect">
            <a:avLst/>
          </a:prstGeom>
          <a:noFill/>
          <a:ln w="0">
            <a:noFill/>
            <a:prstDash val="solid"/>
          </a:ln>
        </p:spPr>
        <p:txBody>
          <a:bodyPr anchor="ctr"/>
          <a:lstStyle/>
          <a:p>
            <a:pPr algn="l">
              <a:buNone/>
              <a:defRPr sz="1425" b="1">
                <a:solidFill>
                  <a:srgbClr val="1C2733"/>
                </a:solidFill>
              </a:defRPr>
            </a:pPr>
            <a:r>
              <a:rPr sz="1425" b="1">
                <a:solidFill>
                  <a:srgbClr val="1C2733"/>
                </a:solidFill>
              </a:rPr>
              <a:t>Annual revenue and cost path, ₹ Cr</a:t>
            </a:r>
          </a:p>
        </p:txBody>
      </p:sp>
      <p:graphicFrame>
        <p:nvGraphicFramePr>
          <p:cNvPr id="55" name="Chart"/>
          <p:cNvGraphicFramePr/>
          <p:nvPr/>
        </p:nvGraphicFramePr>
        <p:xfrm>
          <a:off x="628650" y="1857375"/>
          <a:ext cx="6286500" cy="2714625"/>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473289F1-2998-4FA7-AC6C-44514E35D933}"/>
              </a:ext>
            </a:extLst>
          </p:cNvPr>
          <p:cNvSpPr>
            <a:spLocks noGrp="1"/>
          </p:cNvSpPr>
          <p:nvPr/>
        </p:nvSpPr>
        <p:spPr>
          <a:xfrm>
            <a:off x="7162800" y="1695450"/>
            <a:ext cx="9525" cy="2876550"/>
          </a:xfrm>
          <a:prstGeom prst="rect">
            <a:avLst/>
          </a:prstGeom>
          <a:solidFill>
            <a:srgbClr val="D8DEE6"/>
          </a:solidFill>
          <a:ln w="0">
            <a:solidFill>
              <a:srgbClr val="D8DEE6"/>
            </a:solidFill>
            <a:prstDash val="solid"/>
          </a:ln>
        </p:spPr>
        <p:txBody>
          <a:bodyPr/>
          <a:lstStyle/>
          <a:p>
            <a:endParaRPr lang="en-IN"/>
          </a:p>
        </p:txBody>
      </p:sp>
      <p:sp>
        <p:nvSpPr>
          <p:cNvPr id="11" name="Rectangle 10">
            <a:extLst>
              <a:ext uri="{FF2B5EF4-FFF2-40B4-BE49-F238E27FC236}">
                <a16:creationId xmlns:a16="http://schemas.microsoft.com/office/drawing/2014/main" id="{514E0C73-BFEC-4E45-AF3A-DD6CF7F98499}"/>
              </a:ext>
            </a:extLst>
          </p:cNvPr>
          <p:cNvSpPr>
            <a:spLocks noGrp="1"/>
          </p:cNvSpPr>
          <p:nvPr/>
        </p:nvSpPr>
        <p:spPr>
          <a:xfrm>
            <a:off x="7486650" y="1685925"/>
            <a:ext cx="3143250" cy="257175"/>
          </a:xfrm>
          <a:prstGeom prst="rect">
            <a:avLst/>
          </a:prstGeom>
          <a:noFill/>
          <a:ln w="0">
            <a:noFill/>
            <a:prstDash val="solid"/>
          </a:ln>
        </p:spPr>
        <p:txBody>
          <a:bodyPr anchor="ctr"/>
          <a:lstStyle/>
          <a:p>
            <a:pPr algn="l">
              <a:buNone/>
              <a:defRPr sz="1275" b="1">
                <a:solidFill>
                  <a:srgbClr val="5E6B78"/>
                </a:solidFill>
              </a:defRPr>
            </a:pPr>
            <a:r>
              <a:rPr sz="1275" b="1">
                <a:solidFill>
                  <a:srgbClr val="5E6B78"/>
                </a:solidFill>
              </a:rPr>
              <a:t>BASE-CASE RETURNS</a:t>
            </a:r>
          </a:p>
        </p:txBody>
      </p:sp>
      <p:sp>
        <p:nvSpPr>
          <p:cNvPr id="12" name="Rectangle 11">
            <a:extLst>
              <a:ext uri="{FF2B5EF4-FFF2-40B4-BE49-F238E27FC236}">
                <a16:creationId xmlns:a16="http://schemas.microsoft.com/office/drawing/2014/main" id="{932763A5-FC72-4FAA-BBCC-CDD5CAAF4B0D}"/>
              </a:ext>
            </a:extLst>
          </p:cNvPr>
          <p:cNvSpPr>
            <a:spLocks noGrp="1"/>
          </p:cNvSpPr>
          <p:nvPr/>
        </p:nvSpPr>
        <p:spPr>
          <a:xfrm>
            <a:off x="7486650" y="2047875"/>
            <a:ext cx="1762125" cy="457200"/>
          </a:xfrm>
          <a:prstGeom prst="rect">
            <a:avLst/>
          </a:prstGeom>
          <a:noFill/>
          <a:ln w="0">
            <a:noFill/>
            <a:prstDash val="solid"/>
          </a:ln>
        </p:spPr>
        <p:txBody>
          <a:bodyPr anchor="ctr"/>
          <a:lstStyle/>
          <a:p>
            <a:pPr algn="l">
              <a:buNone/>
              <a:defRPr sz="3000" b="1">
                <a:solidFill>
                  <a:srgbClr val="1473E6"/>
                </a:solidFill>
              </a:defRPr>
            </a:pPr>
            <a:r>
              <a:rPr sz="3000" b="1">
                <a:solidFill>
                  <a:srgbClr val="1473E6"/>
                </a:solidFill>
              </a:rPr>
              <a:t>₹149 Cr</a:t>
            </a:r>
          </a:p>
        </p:txBody>
      </p:sp>
      <p:sp>
        <p:nvSpPr>
          <p:cNvPr id="13" name="Rectangle 12">
            <a:extLst>
              <a:ext uri="{FF2B5EF4-FFF2-40B4-BE49-F238E27FC236}">
                <a16:creationId xmlns:a16="http://schemas.microsoft.com/office/drawing/2014/main" id="{FD7DCA78-AFFD-41CD-B5FC-299C2AE8EAEF}"/>
              </a:ext>
            </a:extLst>
          </p:cNvPr>
          <p:cNvSpPr>
            <a:spLocks noGrp="1"/>
          </p:cNvSpPr>
          <p:nvPr/>
        </p:nvSpPr>
        <p:spPr>
          <a:xfrm>
            <a:off x="7486650" y="2476500"/>
            <a:ext cx="1762125"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Five-year revenue</a:t>
            </a:r>
          </a:p>
        </p:txBody>
      </p:sp>
      <p:sp>
        <p:nvSpPr>
          <p:cNvPr id="14" name="Rectangle 13">
            <a:extLst>
              <a:ext uri="{FF2B5EF4-FFF2-40B4-BE49-F238E27FC236}">
                <a16:creationId xmlns:a16="http://schemas.microsoft.com/office/drawing/2014/main" id="{8D598D58-96A7-4EA1-A919-36D032E15DB2}"/>
              </a:ext>
            </a:extLst>
          </p:cNvPr>
          <p:cNvSpPr>
            <a:spLocks noGrp="1"/>
          </p:cNvSpPr>
          <p:nvPr/>
        </p:nvSpPr>
        <p:spPr>
          <a:xfrm>
            <a:off x="9525000" y="2047875"/>
            <a:ext cx="1809750" cy="457200"/>
          </a:xfrm>
          <a:prstGeom prst="rect">
            <a:avLst/>
          </a:prstGeom>
          <a:noFill/>
          <a:ln w="0">
            <a:noFill/>
            <a:prstDash val="solid"/>
          </a:ln>
        </p:spPr>
        <p:txBody>
          <a:bodyPr anchor="ctr"/>
          <a:lstStyle/>
          <a:p>
            <a:pPr algn="l">
              <a:buNone/>
              <a:defRPr sz="3000" b="1">
                <a:solidFill>
                  <a:srgbClr val="16835A"/>
                </a:solidFill>
              </a:defRPr>
            </a:pPr>
            <a:r>
              <a:rPr sz="3000" b="1">
                <a:solidFill>
                  <a:srgbClr val="16835A"/>
                </a:solidFill>
              </a:rPr>
              <a:t>₹55 Cr</a:t>
            </a:r>
          </a:p>
        </p:txBody>
      </p:sp>
      <p:sp>
        <p:nvSpPr>
          <p:cNvPr id="15" name="Rectangle 14">
            <a:extLst>
              <a:ext uri="{FF2B5EF4-FFF2-40B4-BE49-F238E27FC236}">
                <a16:creationId xmlns:a16="http://schemas.microsoft.com/office/drawing/2014/main" id="{866E966A-3B0A-414A-8333-1B7442E6F2E5}"/>
              </a:ext>
            </a:extLst>
          </p:cNvPr>
          <p:cNvSpPr>
            <a:spLocks noGrp="1"/>
          </p:cNvSpPr>
          <p:nvPr/>
        </p:nvSpPr>
        <p:spPr>
          <a:xfrm>
            <a:off x="9525000" y="2476500"/>
            <a:ext cx="1809750"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Net value created</a:t>
            </a:r>
          </a:p>
        </p:txBody>
      </p:sp>
      <p:sp>
        <p:nvSpPr>
          <p:cNvPr id="16" name="Rectangle 15">
            <a:extLst>
              <a:ext uri="{FF2B5EF4-FFF2-40B4-BE49-F238E27FC236}">
                <a16:creationId xmlns:a16="http://schemas.microsoft.com/office/drawing/2014/main" id="{814515CF-585F-4D03-A324-15094E8010D8}"/>
              </a:ext>
            </a:extLst>
          </p:cNvPr>
          <p:cNvSpPr>
            <a:spLocks noGrp="1"/>
          </p:cNvSpPr>
          <p:nvPr/>
        </p:nvSpPr>
        <p:spPr>
          <a:xfrm>
            <a:off x="7486650" y="2914650"/>
            <a:ext cx="3848100" cy="9525"/>
          </a:xfrm>
          <a:prstGeom prst="rect">
            <a:avLst/>
          </a:prstGeom>
          <a:solidFill>
            <a:srgbClr val="D8DEE6"/>
          </a:solidFill>
          <a:ln w="0">
            <a:solidFill>
              <a:srgbClr val="D8DEE6"/>
            </a:solidFill>
            <a:prstDash val="solid"/>
          </a:ln>
        </p:spPr>
        <p:txBody>
          <a:bodyPr/>
          <a:lstStyle/>
          <a:p>
            <a:endParaRPr lang="en-IN"/>
          </a:p>
        </p:txBody>
      </p:sp>
      <p:sp>
        <p:nvSpPr>
          <p:cNvPr id="17" name="Rectangle 16">
            <a:extLst>
              <a:ext uri="{FF2B5EF4-FFF2-40B4-BE49-F238E27FC236}">
                <a16:creationId xmlns:a16="http://schemas.microsoft.com/office/drawing/2014/main" id="{BA64A855-3C0D-4BE1-AD54-D9ADD17E9248}"/>
              </a:ext>
            </a:extLst>
          </p:cNvPr>
          <p:cNvSpPr>
            <a:spLocks noGrp="1"/>
          </p:cNvSpPr>
          <p:nvPr/>
        </p:nvSpPr>
        <p:spPr>
          <a:xfrm>
            <a:off x="7486650" y="3076575"/>
            <a:ext cx="1762125" cy="457200"/>
          </a:xfrm>
          <a:prstGeom prst="rect">
            <a:avLst/>
          </a:prstGeom>
          <a:noFill/>
          <a:ln w="0">
            <a:noFill/>
            <a:prstDash val="solid"/>
          </a:ln>
        </p:spPr>
        <p:txBody>
          <a:bodyPr anchor="ctr"/>
          <a:lstStyle/>
          <a:p>
            <a:pPr algn="l">
              <a:buNone/>
              <a:defRPr sz="3000" b="1">
                <a:solidFill>
                  <a:srgbClr val="1473E6"/>
                </a:solidFill>
              </a:defRPr>
            </a:pPr>
            <a:r>
              <a:rPr sz="3000" b="1">
                <a:solidFill>
                  <a:srgbClr val="1473E6"/>
                </a:solidFill>
              </a:rPr>
              <a:t>58.5%</a:t>
            </a:r>
          </a:p>
        </p:txBody>
      </p:sp>
      <p:sp>
        <p:nvSpPr>
          <p:cNvPr id="18" name="Rectangle 17">
            <a:extLst>
              <a:ext uri="{FF2B5EF4-FFF2-40B4-BE49-F238E27FC236}">
                <a16:creationId xmlns:a16="http://schemas.microsoft.com/office/drawing/2014/main" id="{9826AA14-631A-42A4-942F-92A65EF494D3}"/>
              </a:ext>
            </a:extLst>
          </p:cNvPr>
          <p:cNvSpPr>
            <a:spLocks noGrp="1"/>
          </p:cNvSpPr>
          <p:nvPr/>
        </p:nvSpPr>
        <p:spPr>
          <a:xfrm>
            <a:off x="7486650" y="3505200"/>
            <a:ext cx="1762125"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Five-year ROI</a:t>
            </a:r>
          </a:p>
        </p:txBody>
      </p:sp>
      <p:sp>
        <p:nvSpPr>
          <p:cNvPr id="19" name="Rectangle 18">
            <a:extLst>
              <a:ext uri="{FF2B5EF4-FFF2-40B4-BE49-F238E27FC236}">
                <a16:creationId xmlns:a16="http://schemas.microsoft.com/office/drawing/2014/main" id="{633D63CA-2204-4C2A-B187-9C806167DCDC}"/>
              </a:ext>
            </a:extLst>
          </p:cNvPr>
          <p:cNvSpPr>
            <a:spLocks noGrp="1"/>
          </p:cNvSpPr>
          <p:nvPr/>
        </p:nvSpPr>
        <p:spPr>
          <a:xfrm>
            <a:off x="9525000" y="3076575"/>
            <a:ext cx="1809750" cy="457200"/>
          </a:xfrm>
          <a:prstGeom prst="rect">
            <a:avLst/>
          </a:prstGeom>
          <a:noFill/>
          <a:ln w="0">
            <a:noFill/>
            <a:prstDash val="solid"/>
          </a:ln>
        </p:spPr>
        <p:txBody>
          <a:bodyPr anchor="ctr"/>
          <a:lstStyle/>
          <a:p>
            <a:pPr algn="l">
              <a:buNone/>
              <a:defRPr sz="3000" b="1">
                <a:solidFill>
                  <a:srgbClr val="0B1F3A"/>
                </a:solidFill>
              </a:defRPr>
            </a:pPr>
            <a:r>
              <a:rPr sz="3000" b="1">
                <a:solidFill>
                  <a:srgbClr val="0B1F3A"/>
                </a:solidFill>
              </a:rPr>
              <a:t>25.9%</a:t>
            </a:r>
          </a:p>
        </p:txBody>
      </p:sp>
      <p:sp>
        <p:nvSpPr>
          <p:cNvPr id="20" name="Rectangle 19">
            <a:extLst>
              <a:ext uri="{FF2B5EF4-FFF2-40B4-BE49-F238E27FC236}">
                <a16:creationId xmlns:a16="http://schemas.microsoft.com/office/drawing/2014/main" id="{E58E1F1B-812F-4512-9A12-3C34A3B4436A}"/>
              </a:ext>
            </a:extLst>
          </p:cNvPr>
          <p:cNvSpPr>
            <a:spLocks noGrp="1"/>
          </p:cNvSpPr>
          <p:nvPr/>
        </p:nvSpPr>
        <p:spPr>
          <a:xfrm>
            <a:off x="9525000" y="3505200"/>
            <a:ext cx="1809750" cy="400050"/>
          </a:xfrm>
          <a:prstGeom prst="rect">
            <a:avLst/>
          </a:prstGeom>
          <a:noFill/>
          <a:ln w="0">
            <a:noFill/>
            <a:prstDash val="solid"/>
          </a:ln>
        </p:spPr>
        <p:txBody>
          <a:bodyPr anchor="ctr"/>
          <a:lstStyle/>
          <a:p>
            <a:pPr algn="l">
              <a:buNone/>
              <a:defRPr sz="1275" b="0">
                <a:solidFill>
                  <a:srgbClr val="5E6B78"/>
                </a:solidFill>
              </a:defRPr>
            </a:pPr>
            <a:r>
              <a:rPr sz="1275" b="0">
                <a:solidFill>
                  <a:srgbClr val="5E6B78"/>
                </a:solidFill>
              </a:rPr>
              <a:t>IRR</a:t>
            </a:r>
          </a:p>
        </p:txBody>
      </p:sp>
      <p:sp>
        <p:nvSpPr>
          <p:cNvPr id="21" name="Rectangle 20">
            <a:extLst>
              <a:ext uri="{FF2B5EF4-FFF2-40B4-BE49-F238E27FC236}">
                <a16:creationId xmlns:a16="http://schemas.microsoft.com/office/drawing/2014/main" id="{3A23FBAD-EEAB-4721-B7FD-0D707DF6E9CB}"/>
              </a:ext>
            </a:extLst>
          </p:cNvPr>
          <p:cNvSpPr>
            <a:spLocks noGrp="1"/>
          </p:cNvSpPr>
          <p:nvPr/>
        </p:nvSpPr>
        <p:spPr>
          <a:xfrm>
            <a:off x="7486650" y="3943350"/>
            <a:ext cx="3848100" cy="9525"/>
          </a:xfrm>
          <a:prstGeom prst="rect">
            <a:avLst/>
          </a:prstGeom>
          <a:solidFill>
            <a:srgbClr val="D8DEE6"/>
          </a:solidFill>
          <a:ln w="0">
            <a:solidFill>
              <a:srgbClr val="D8DEE6"/>
            </a:solidFill>
            <a:prstDash val="solid"/>
          </a:ln>
        </p:spPr>
        <p:txBody>
          <a:bodyPr/>
          <a:lstStyle/>
          <a:p>
            <a:endParaRPr lang="en-IN"/>
          </a:p>
        </p:txBody>
      </p:sp>
      <p:sp>
        <p:nvSpPr>
          <p:cNvPr id="22" name="Rectangle 21">
            <a:extLst>
              <a:ext uri="{FF2B5EF4-FFF2-40B4-BE49-F238E27FC236}">
                <a16:creationId xmlns:a16="http://schemas.microsoft.com/office/drawing/2014/main" id="{81310956-3B50-4FDC-AF8A-D6BBF663F345}"/>
              </a:ext>
            </a:extLst>
          </p:cNvPr>
          <p:cNvSpPr>
            <a:spLocks noGrp="1"/>
          </p:cNvSpPr>
          <p:nvPr/>
        </p:nvSpPr>
        <p:spPr>
          <a:xfrm>
            <a:off x="7486650" y="4105275"/>
            <a:ext cx="1809750" cy="304800"/>
          </a:xfrm>
          <a:prstGeom prst="rect">
            <a:avLst/>
          </a:prstGeom>
          <a:noFill/>
          <a:ln w="0">
            <a:noFill/>
            <a:prstDash val="solid"/>
          </a:ln>
        </p:spPr>
        <p:txBody>
          <a:bodyPr anchor="ctr"/>
          <a:lstStyle/>
          <a:p>
            <a:pPr algn="l">
              <a:buNone/>
              <a:defRPr sz="1650" b="1">
                <a:solidFill>
                  <a:srgbClr val="0B1F3A"/>
                </a:solidFill>
              </a:defRPr>
            </a:pPr>
            <a:r>
              <a:rPr sz="1650" b="1">
                <a:solidFill>
                  <a:srgbClr val="0B1F3A"/>
                </a:solidFill>
              </a:rPr>
              <a:t>₹21 Cr NPV</a:t>
            </a:r>
          </a:p>
        </p:txBody>
      </p:sp>
      <p:sp>
        <p:nvSpPr>
          <p:cNvPr id="23" name="Rectangle 22">
            <a:extLst>
              <a:ext uri="{FF2B5EF4-FFF2-40B4-BE49-F238E27FC236}">
                <a16:creationId xmlns:a16="http://schemas.microsoft.com/office/drawing/2014/main" id="{336747D8-D555-46DD-A1DD-DD8C54A69E02}"/>
              </a:ext>
            </a:extLst>
          </p:cNvPr>
          <p:cNvSpPr>
            <a:spLocks noGrp="1"/>
          </p:cNvSpPr>
          <p:nvPr/>
        </p:nvSpPr>
        <p:spPr>
          <a:xfrm>
            <a:off x="9401175" y="4105275"/>
            <a:ext cx="1933575" cy="304800"/>
          </a:xfrm>
          <a:prstGeom prst="rect">
            <a:avLst/>
          </a:prstGeom>
          <a:noFill/>
          <a:ln w="0">
            <a:noFill/>
            <a:prstDash val="solid"/>
          </a:ln>
        </p:spPr>
        <p:txBody>
          <a:bodyPr anchor="ctr"/>
          <a:lstStyle/>
          <a:p>
            <a:pPr algn="r">
              <a:buNone/>
              <a:defRPr sz="1650" b="1">
                <a:solidFill>
                  <a:srgbClr val="C73E3A"/>
                </a:solidFill>
              </a:defRPr>
            </a:pPr>
            <a:r>
              <a:rPr sz="1650" b="1">
                <a:solidFill>
                  <a:srgbClr val="C73E3A"/>
                </a:solidFill>
              </a:rPr>
              <a:t>3.6-year payback</a:t>
            </a:r>
          </a:p>
        </p:txBody>
      </p:sp>
      <p:sp>
        <p:nvSpPr>
          <p:cNvPr id="24" name="Rectangle 23">
            <a:extLst>
              <a:ext uri="{FF2B5EF4-FFF2-40B4-BE49-F238E27FC236}">
                <a16:creationId xmlns:a16="http://schemas.microsoft.com/office/drawing/2014/main" id="{DF5A2E1D-0360-410E-AE21-A5EAE854C70B}"/>
              </a:ext>
            </a:extLst>
          </p:cNvPr>
          <p:cNvSpPr>
            <a:spLocks noGrp="1"/>
          </p:cNvSpPr>
          <p:nvPr/>
        </p:nvSpPr>
        <p:spPr>
          <a:xfrm>
            <a:off x="628650" y="4762500"/>
            <a:ext cx="4857750" cy="257175"/>
          </a:xfrm>
          <a:prstGeom prst="rect">
            <a:avLst/>
          </a:prstGeom>
          <a:noFill/>
          <a:ln w="0">
            <a:noFill/>
            <a:prstDash val="solid"/>
          </a:ln>
        </p:spPr>
        <p:txBody>
          <a:bodyPr anchor="ctr"/>
          <a:lstStyle/>
          <a:p>
            <a:pPr algn="l">
              <a:buNone/>
              <a:defRPr sz="1350" b="1">
                <a:solidFill>
                  <a:srgbClr val="1C2733"/>
                </a:solidFill>
              </a:defRPr>
            </a:pPr>
            <a:r>
              <a:rPr sz="1350" b="1">
                <a:solidFill>
                  <a:srgbClr val="1C2733"/>
                </a:solidFill>
              </a:rPr>
              <a:t>Outcome is most sensitive to customer wins</a:t>
            </a:r>
          </a:p>
        </p:txBody>
      </p:sp>
      <p:sp>
        <p:nvSpPr>
          <p:cNvPr id="25" name="Rectangle 24">
            <a:extLst>
              <a:ext uri="{FF2B5EF4-FFF2-40B4-BE49-F238E27FC236}">
                <a16:creationId xmlns:a16="http://schemas.microsoft.com/office/drawing/2014/main" id="{38981B9F-D48A-4ADA-B242-8F554A39C664}"/>
              </a:ext>
            </a:extLst>
          </p:cNvPr>
          <p:cNvSpPr>
            <a:spLocks noGrp="1"/>
          </p:cNvSpPr>
          <p:nvPr/>
        </p:nvSpPr>
        <p:spPr>
          <a:xfrm>
            <a:off x="628650" y="5067300"/>
            <a:ext cx="3333750" cy="581025"/>
          </a:xfrm>
          <a:prstGeom prst="rect">
            <a:avLst/>
          </a:prstGeom>
          <a:solidFill>
            <a:srgbClr val="F5F7FA"/>
          </a:solidFill>
          <a:ln w="9525">
            <a:solidFill>
              <a:srgbClr val="D8DEE6"/>
            </a:solidFill>
            <a:prstDash val="solid"/>
          </a:ln>
        </p:spPr>
        <p:txBody>
          <a:bodyPr/>
          <a:lstStyle/>
          <a:p>
            <a:endParaRPr lang="en-IN"/>
          </a:p>
        </p:txBody>
      </p:sp>
      <p:sp>
        <p:nvSpPr>
          <p:cNvPr id="26" name="Rectangle 25">
            <a:extLst>
              <a:ext uri="{FF2B5EF4-FFF2-40B4-BE49-F238E27FC236}">
                <a16:creationId xmlns:a16="http://schemas.microsoft.com/office/drawing/2014/main" id="{95AD09EA-CC82-4A6A-AD08-1DA2D1359834}"/>
              </a:ext>
            </a:extLst>
          </p:cNvPr>
          <p:cNvSpPr>
            <a:spLocks noGrp="1"/>
          </p:cNvSpPr>
          <p:nvPr/>
        </p:nvSpPr>
        <p:spPr>
          <a:xfrm>
            <a:off x="762000" y="5124450"/>
            <a:ext cx="1285875" cy="209550"/>
          </a:xfrm>
          <a:prstGeom prst="rect">
            <a:avLst/>
          </a:prstGeom>
          <a:noFill/>
          <a:ln w="0">
            <a:noFill/>
            <a:prstDash val="solid"/>
          </a:ln>
        </p:spPr>
        <p:txBody>
          <a:bodyPr anchor="ctr"/>
          <a:lstStyle/>
          <a:p>
            <a:pPr algn="l">
              <a:buNone/>
              <a:defRPr sz="975" b="1">
                <a:solidFill>
                  <a:srgbClr val="5E6B78"/>
                </a:solidFill>
              </a:defRPr>
            </a:pPr>
            <a:r>
              <a:rPr sz="975" b="1">
                <a:solidFill>
                  <a:srgbClr val="5E6B78"/>
                </a:solidFill>
              </a:rPr>
              <a:t>CONSERVATIVE</a:t>
            </a:r>
          </a:p>
        </p:txBody>
      </p:sp>
      <p:sp>
        <p:nvSpPr>
          <p:cNvPr id="27" name="Rectangle 26">
            <a:extLst>
              <a:ext uri="{FF2B5EF4-FFF2-40B4-BE49-F238E27FC236}">
                <a16:creationId xmlns:a16="http://schemas.microsoft.com/office/drawing/2014/main" id="{30F6D55A-269B-42E4-A1F2-D31ADA61E7A9}"/>
              </a:ext>
            </a:extLst>
          </p:cNvPr>
          <p:cNvSpPr>
            <a:spLocks noGrp="1"/>
          </p:cNvSpPr>
          <p:nvPr/>
        </p:nvSpPr>
        <p:spPr>
          <a:xfrm>
            <a:off x="2009775" y="5124450"/>
            <a:ext cx="714375" cy="209550"/>
          </a:xfrm>
          <a:prstGeom prst="rect">
            <a:avLst/>
          </a:prstGeom>
          <a:noFill/>
          <a:ln w="0">
            <a:noFill/>
            <a:prstDash val="solid"/>
          </a:ln>
        </p:spPr>
        <p:txBody>
          <a:bodyPr anchor="ctr"/>
          <a:lstStyle/>
          <a:p>
            <a:pPr algn="ctr">
              <a:buNone/>
              <a:defRPr sz="1200" b="1">
                <a:solidFill>
                  <a:srgbClr val="0B1F3A"/>
                </a:solidFill>
              </a:defRPr>
            </a:pPr>
            <a:r>
              <a:rPr sz="1200" b="1">
                <a:solidFill>
                  <a:srgbClr val="0B1F3A"/>
                </a:solidFill>
              </a:rPr>
              <a:t>3 wins</a:t>
            </a:r>
          </a:p>
        </p:txBody>
      </p:sp>
      <p:sp>
        <p:nvSpPr>
          <p:cNvPr id="28" name="Rectangle 27">
            <a:extLst>
              <a:ext uri="{FF2B5EF4-FFF2-40B4-BE49-F238E27FC236}">
                <a16:creationId xmlns:a16="http://schemas.microsoft.com/office/drawing/2014/main" id="{27F3CBBD-666E-4AB3-B15E-309F4D20265A}"/>
              </a:ext>
            </a:extLst>
          </p:cNvPr>
          <p:cNvSpPr>
            <a:spLocks noGrp="1"/>
          </p:cNvSpPr>
          <p:nvPr/>
        </p:nvSpPr>
        <p:spPr>
          <a:xfrm>
            <a:off x="2724150" y="5105400"/>
            <a:ext cx="1095375" cy="238125"/>
          </a:xfrm>
          <a:prstGeom prst="rect">
            <a:avLst/>
          </a:prstGeom>
          <a:noFill/>
          <a:ln w="0">
            <a:noFill/>
            <a:prstDash val="solid"/>
          </a:ln>
        </p:spPr>
        <p:txBody>
          <a:bodyPr anchor="ctr"/>
          <a:lstStyle/>
          <a:p>
            <a:pPr algn="r">
              <a:buNone/>
              <a:defRPr sz="1350" b="1">
                <a:solidFill>
                  <a:srgbClr val="C73E3A"/>
                </a:solidFill>
              </a:defRPr>
            </a:pPr>
            <a:r>
              <a:rPr sz="1350" b="1">
                <a:solidFill>
                  <a:srgbClr val="C73E3A"/>
                </a:solidFill>
              </a:rPr>
              <a:t>–17% ROI</a:t>
            </a:r>
          </a:p>
        </p:txBody>
      </p:sp>
      <p:sp>
        <p:nvSpPr>
          <p:cNvPr id="29" name="Rectangle 28">
            <a:extLst>
              <a:ext uri="{FF2B5EF4-FFF2-40B4-BE49-F238E27FC236}">
                <a16:creationId xmlns:a16="http://schemas.microsoft.com/office/drawing/2014/main" id="{DC46C97E-2934-4BA7-BEC8-97CE47E2E46E}"/>
              </a:ext>
            </a:extLst>
          </p:cNvPr>
          <p:cNvSpPr>
            <a:spLocks noGrp="1"/>
          </p:cNvSpPr>
          <p:nvPr/>
        </p:nvSpPr>
        <p:spPr>
          <a:xfrm>
            <a:off x="762000" y="5381625"/>
            <a:ext cx="3000375"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No payback</a:t>
            </a:r>
          </a:p>
        </p:txBody>
      </p:sp>
      <p:sp>
        <p:nvSpPr>
          <p:cNvPr id="30" name="Rectangle 29">
            <a:extLst>
              <a:ext uri="{FF2B5EF4-FFF2-40B4-BE49-F238E27FC236}">
                <a16:creationId xmlns:a16="http://schemas.microsoft.com/office/drawing/2014/main" id="{AF8FAFB6-C7E6-4C93-8060-2A5A2473046C}"/>
              </a:ext>
            </a:extLst>
          </p:cNvPr>
          <p:cNvSpPr>
            <a:spLocks noGrp="1"/>
          </p:cNvSpPr>
          <p:nvPr/>
        </p:nvSpPr>
        <p:spPr>
          <a:xfrm>
            <a:off x="4210050" y="5067300"/>
            <a:ext cx="3333750" cy="581025"/>
          </a:xfrm>
          <a:prstGeom prst="rect">
            <a:avLst/>
          </a:prstGeom>
          <a:solidFill>
            <a:srgbClr val="EAF3FF"/>
          </a:solidFill>
          <a:ln w="19050">
            <a:solidFill>
              <a:srgbClr val="1473E6"/>
            </a:solidFill>
            <a:prstDash val="solid"/>
          </a:ln>
        </p:spPr>
        <p:txBody>
          <a:bodyPr/>
          <a:lstStyle/>
          <a:p>
            <a:endParaRPr lang="en-IN"/>
          </a:p>
        </p:txBody>
      </p:sp>
      <p:sp>
        <p:nvSpPr>
          <p:cNvPr id="31" name="Rectangle 30">
            <a:extLst>
              <a:ext uri="{FF2B5EF4-FFF2-40B4-BE49-F238E27FC236}">
                <a16:creationId xmlns:a16="http://schemas.microsoft.com/office/drawing/2014/main" id="{D5D96C0F-81FD-4D28-ADD8-FFF85EBF9EF8}"/>
              </a:ext>
            </a:extLst>
          </p:cNvPr>
          <p:cNvSpPr>
            <a:spLocks noGrp="1"/>
          </p:cNvSpPr>
          <p:nvPr/>
        </p:nvSpPr>
        <p:spPr>
          <a:xfrm>
            <a:off x="4343400" y="5124450"/>
            <a:ext cx="1285875" cy="209550"/>
          </a:xfrm>
          <a:prstGeom prst="rect">
            <a:avLst/>
          </a:prstGeom>
          <a:noFill/>
          <a:ln w="0">
            <a:noFill/>
            <a:prstDash val="solid"/>
          </a:ln>
        </p:spPr>
        <p:txBody>
          <a:bodyPr anchor="ctr"/>
          <a:lstStyle/>
          <a:p>
            <a:pPr algn="l">
              <a:buNone/>
              <a:defRPr sz="975" b="1">
                <a:solidFill>
                  <a:srgbClr val="5E6B78"/>
                </a:solidFill>
              </a:defRPr>
            </a:pPr>
            <a:r>
              <a:rPr sz="975" b="1">
                <a:solidFill>
                  <a:srgbClr val="5E6B78"/>
                </a:solidFill>
              </a:rPr>
              <a:t>BASE</a:t>
            </a:r>
          </a:p>
        </p:txBody>
      </p:sp>
      <p:sp>
        <p:nvSpPr>
          <p:cNvPr id="32" name="Rectangle 31">
            <a:extLst>
              <a:ext uri="{FF2B5EF4-FFF2-40B4-BE49-F238E27FC236}">
                <a16:creationId xmlns:a16="http://schemas.microsoft.com/office/drawing/2014/main" id="{F104883E-AE83-49E3-90DB-9BF714B9DFF1}"/>
              </a:ext>
            </a:extLst>
          </p:cNvPr>
          <p:cNvSpPr>
            <a:spLocks noGrp="1"/>
          </p:cNvSpPr>
          <p:nvPr/>
        </p:nvSpPr>
        <p:spPr>
          <a:xfrm>
            <a:off x="5591175" y="5124450"/>
            <a:ext cx="714375" cy="209550"/>
          </a:xfrm>
          <a:prstGeom prst="rect">
            <a:avLst/>
          </a:prstGeom>
          <a:noFill/>
          <a:ln w="0">
            <a:noFill/>
            <a:prstDash val="solid"/>
          </a:ln>
        </p:spPr>
        <p:txBody>
          <a:bodyPr anchor="ctr"/>
          <a:lstStyle/>
          <a:p>
            <a:pPr algn="ctr">
              <a:buNone/>
              <a:defRPr sz="1200" b="1">
                <a:solidFill>
                  <a:srgbClr val="0B1F3A"/>
                </a:solidFill>
              </a:defRPr>
            </a:pPr>
            <a:r>
              <a:rPr sz="1200" b="1">
                <a:solidFill>
                  <a:srgbClr val="0B1F3A"/>
                </a:solidFill>
              </a:rPr>
              <a:t>7 wins</a:t>
            </a:r>
          </a:p>
        </p:txBody>
      </p:sp>
      <p:sp>
        <p:nvSpPr>
          <p:cNvPr id="33" name="Rectangle 32">
            <a:extLst>
              <a:ext uri="{FF2B5EF4-FFF2-40B4-BE49-F238E27FC236}">
                <a16:creationId xmlns:a16="http://schemas.microsoft.com/office/drawing/2014/main" id="{B828EAFF-A763-4C06-B7CF-11962B12FD70}"/>
              </a:ext>
            </a:extLst>
          </p:cNvPr>
          <p:cNvSpPr>
            <a:spLocks noGrp="1"/>
          </p:cNvSpPr>
          <p:nvPr/>
        </p:nvSpPr>
        <p:spPr>
          <a:xfrm>
            <a:off x="6305550" y="5105400"/>
            <a:ext cx="1095375" cy="238125"/>
          </a:xfrm>
          <a:prstGeom prst="rect">
            <a:avLst/>
          </a:prstGeom>
          <a:noFill/>
          <a:ln w="0">
            <a:noFill/>
            <a:prstDash val="solid"/>
          </a:ln>
        </p:spPr>
        <p:txBody>
          <a:bodyPr anchor="ctr"/>
          <a:lstStyle/>
          <a:p>
            <a:pPr algn="r">
              <a:buNone/>
              <a:defRPr sz="1350" b="1">
                <a:solidFill>
                  <a:srgbClr val="1473E6"/>
                </a:solidFill>
              </a:defRPr>
            </a:pPr>
            <a:r>
              <a:rPr sz="1350" b="1">
                <a:solidFill>
                  <a:srgbClr val="1473E6"/>
                </a:solidFill>
              </a:rPr>
              <a:t>+59% ROI</a:t>
            </a:r>
          </a:p>
        </p:txBody>
      </p:sp>
      <p:sp>
        <p:nvSpPr>
          <p:cNvPr id="34" name="Rectangle 33">
            <a:extLst>
              <a:ext uri="{FF2B5EF4-FFF2-40B4-BE49-F238E27FC236}">
                <a16:creationId xmlns:a16="http://schemas.microsoft.com/office/drawing/2014/main" id="{90A8E4B6-BD1C-45F9-8690-AEF3EC4F4077}"/>
              </a:ext>
            </a:extLst>
          </p:cNvPr>
          <p:cNvSpPr>
            <a:spLocks noGrp="1"/>
          </p:cNvSpPr>
          <p:nvPr/>
        </p:nvSpPr>
        <p:spPr>
          <a:xfrm>
            <a:off x="4343400" y="5381625"/>
            <a:ext cx="3000375"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Payback 3.6y</a:t>
            </a:r>
          </a:p>
        </p:txBody>
      </p:sp>
      <p:sp>
        <p:nvSpPr>
          <p:cNvPr id="35" name="Rectangle 34">
            <a:extLst>
              <a:ext uri="{FF2B5EF4-FFF2-40B4-BE49-F238E27FC236}">
                <a16:creationId xmlns:a16="http://schemas.microsoft.com/office/drawing/2014/main" id="{581677A1-A846-4CAA-AD3C-514A5C644B75}"/>
              </a:ext>
            </a:extLst>
          </p:cNvPr>
          <p:cNvSpPr>
            <a:spLocks noGrp="1"/>
          </p:cNvSpPr>
          <p:nvPr/>
        </p:nvSpPr>
        <p:spPr>
          <a:xfrm>
            <a:off x="7791450" y="5067300"/>
            <a:ext cx="3333750" cy="581025"/>
          </a:xfrm>
          <a:prstGeom prst="rect">
            <a:avLst/>
          </a:prstGeom>
          <a:solidFill>
            <a:srgbClr val="F5F7FA"/>
          </a:solidFill>
          <a:ln w="9525">
            <a:solidFill>
              <a:srgbClr val="D8DEE6"/>
            </a:solidFill>
            <a:prstDash val="solid"/>
          </a:ln>
        </p:spPr>
        <p:txBody>
          <a:bodyPr/>
          <a:lstStyle/>
          <a:p>
            <a:endParaRPr lang="en-IN"/>
          </a:p>
        </p:txBody>
      </p:sp>
      <p:sp>
        <p:nvSpPr>
          <p:cNvPr id="36" name="Rectangle 35">
            <a:extLst>
              <a:ext uri="{FF2B5EF4-FFF2-40B4-BE49-F238E27FC236}">
                <a16:creationId xmlns:a16="http://schemas.microsoft.com/office/drawing/2014/main" id="{715E56F4-13F9-496A-9985-7B70BEADA184}"/>
              </a:ext>
            </a:extLst>
          </p:cNvPr>
          <p:cNvSpPr>
            <a:spLocks noGrp="1"/>
          </p:cNvSpPr>
          <p:nvPr/>
        </p:nvSpPr>
        <p:spPr>
          <a:xfrm>
            <a:off x="7924800" y="5124450"/>
            <a:ext cx="1285875" cy="209550"/>
          </a:xfrm>
          <a:prstGeom prst="rect">
            <a:avLst/>
          </a:prstGeom>
          <a:noFill/>
          <a:ln w="0">
            <a:noFill/>
            <a:prstDash val="solid"/>
          </a:ln>
        </p:spPr>
        <p:txBody>
          <a:bodyPr anchor="ctr"/>
          <a:lstStyle/>
          <a:p>
            <a:pPr algn="l">
              <a:buNone/>
              <a:defRPr sz="975" b="1">
                <a:solidFill>
                  <a:srgbClr val="5E6B78"/>
                </a:solidFill>
              </a:defRPr>
            </a:pPr>
            <a:r>
              <a:rPr sz="975" b="1">
                <a:solidFill>
                  <a:srgbClr val="5E6B78"/>
                </a:solidFill>
              </a:rPr>
              <a:t>AGGRESSIVE</a:t>
            </a:r>
          </a:p>
        </p:txBody>
      </p:sp>
      <p:sp>
        <p:nvSpPr>
          <p:cNvPr id="37" name="Rectangle 36">
            <a:extLst>
              <a:ext uri="{FF2B5EF4-FFF2-40B4-BE49-F238E27FC236}">
                <a16:creationId xmlns:a16="http://schemas.microsoft.com/office/drawing/2014/main" id="{FB36CFC6-3555-4CB2-BAD4-2691EDD1CF27}"/>
              </a:ext>
            </a:extLst>
          </p:cNvPr>
          <p:cNvSpPr>
            <a:spLocks noGrp="1"/>
          </p:cNvSpPr>
          <p:nvPr/>
        </p:nvSpPr>
        <p:spPr>
          <a:xfrm>
            <a:off x="9172575" y="5124450"/>
            <a:ext cx="714375" cy="209550"/>
          </a:xfrm>
          <a:prstGeom prst="rect">
            <a:avLst/>
          </a:prstGeom>
          <a:noFill/>
          <a:ln w="0">
            <a:noFill/>
            <a:prstDash val="solid"/>
          </a:ln>
        </p:spPr>
        <p:txBody>
          <a:bodyPr anchor="ctr"/>
          <a:lstStyle/>
          <a:p>
            <a:pPr algn="ctr">
              <a:buNone/>
              <a:defRPr sz="1200" b="1">
                <a:solidFill>
                  <a:srgbClr val="0B1F3A"/>
                </a:solidFill>
              </a:defRPr>
            </a:pPr>
            <a:r>
              <a:rPr sz="1200" b="1">
                <a:solidFill>
                  <a:srgbClr val="0B1F3A"/>
                </a:solidFill>
              </a:rPr>
              <a:t>12 wins</a:t>
            </a:r>
          </a:p>
        </p:txBody>
      </p:sp>
      <p:sp>
        <p:nvSpPr>
          <p:cNvPr id="38" name="Rectangle 37">
            <a:extLst>
              <a:ext uri="{FF2B5EF4-FFF2-40B4-BE49-F238E27FC236}">
                <a16:creationId xmlns:a16="http://schemas.microsoft.com/office/drawing/2014/main" id="{F18B2649-055D-4CB1-A890-37635B7BEA79}"/>
              </a:ext>
            </a:extLst>
          </p:cNvPr>
          <p:cNvSpPr>
            <a:spLocks noGrp="1"/>
          </p:cNvSpPr>
          <p:nvPr/>
        </p:nvSpPr>
        <p:spPr>
          <a:xfrm>
            <a:off x="9886950" y="5105400"/>
            <a:ext cx="1095375" cy="238125"/>
          </a:xfrm>
          <a:prstGeom prst="rect">
            <a:avLst/>
          </a:prstGeom>
          <a:noFill/>
          <a:ln w="0">
            <a:noFill/>
            <a:prstDash val="solid"/>
          </a:ln>
        </p:spPr>
        <p:txBody>
          <a:bodyPr anchor="ctr"/>
          <a:lstStyle/>
          <a:p>
            <a:pPr algn="r">
              <a:buNone/>
              <a:defRPr sz="1350" b="1">
                <a:solidFill>
                  <a:srgbClr val="16835A"/>
                </a:solidFill>
              </a:defRPr>
            </a:pPr>
            <a:r>
              <a:rPr sz="1350" b="1">
                <a:solidFill>
                  <a:srgbClr val="16835A"/>
                </a:solidFill>
              </a:rPr>
              <a:t>+117% ROI</a:t>
            </a:r>
          </a:p>
        </p:txBody>
      </p:sp>
      <p:sp>
        <p:nvSpPr>
          <p:cNvPr id="39" name="Rectangle 38">
            <a:extLst>
              <a:ext uri="{FF2B5EF4-FFF2-40B4-BE49-F238E27FC236}">
                <a16:creationId xmlns:a16="http://schemas.microsoft.com/office/drawing/2014/main" id="{42ABD51B-4342-48B6-8D19-CD8EB2834076}"/>
              </a:ext>
            </a:extLst>
          </p:cNvPr>
          <p:cNvSpPr>
            <a:spLocks noGrp="1"/>
          </p:cNvSpPr>
          <p:nvPr/>
        </p:nvSpPr>
        <p:spPr>
          <a:xfrm>
            <a:off x="7924800" y="5381625"/>
            <a:ext cx="3000375"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Payback 2.9y</a:t>
            </a:r>
          </a:p>
        </p:txBody>
      </p:sp>
      <p:sp>
        <p:nvSpPr>
          <p:cNvPr id="40" name="Rectangle 39">
            <a:extLst>
              <a:ext uri="{FF2B5EF4-FFF2-40B4-BE49-F238E27FC236}">
                <a16:creationId xmlns:a16="http://schemas.microsoft.com/office/drawing/2014/main" id="{B83A14FF-0036-41EA-BD8C-BBC23181A0F3}"/>
              </a:ext>
            </a:extLst>
          </p:cNvPr>
          <p:cNvSpPr>
            <a:spLocks noGrp="1"/>
          </p:cNvSpPr>
          <p:nvPr/>
        </p:nvSpPr>
        <p:spPr>
          <a:xfrm>
            <a:off x="571500" y="5819775"/>
            <a:ext cx="10744200" cy="504825"/>
          </a:xfrm>
          <a:prstGeom prst="rect">
            <a:avLst/>
          </a:prstGeom>
          <a:solidFill>
            <a:srgbClr val="0B1F3A"/>
          </a:solidFill>
          <a:ln w="0">
            <a:solidFill>
              <a:srgbClr val="0B1F3A"/>
            </a:solidFill>
            <a:prstDash val="solid"/>
          </a:ln>
        </p:spPr>
        <p:txBody>
          <a:bodyPr/>
          <a:lstStyle/>
          <a:p>
            <a:endParaRPr lang="en-IN"/>
          </a:p>
        </p:txBody>
      </p:sp>
      <p:sp>
        <p:nvSpPr>
          <p:cNvPr id="41" name="Rectangle 40">
            <a:extLst>
              <a:ext uri="{FF2B5EF4-FFF2-40B4-BE49-F238E27FC236}">
                <a16:creationId xmlns:a16="http://schemas.microsoft.com/office/drawing/2014/main" id="{437D77A2-EDA4-4D62-9E45-F0DAB2E76168}"/>
              </a:ext>
            </a:extLst>
          </p:cNvPr>
          <p:cNvSpPr>
            <a:spLocks noGrp="1"/>
          </p:cNvSpPr>
          <p:nvPr/>
        </p:nvSpPr>
        <p:spPr>
          <a:xfrm>
            <a:off x="571500" y="5819775"/>
            <a:ext cx="1190625" cy="504825"/>
          </a:xfrm>
          <a:prstGeom prst="rect">
            <a:avLst/>
          </a:prstGeom>
          <a:solidFill>
            <a:srgbClr val="C73E3A"/>
          </a:solidFill>
          <a:ln w="0">
            <a:solidFill>
              <a:srgbClr val="C73E3A"/>
            </a:solidFill>
            <a:prstDash val="solid"/>
          </a:ln>
        </p:spPr>
        <p:txBody>
          <a:bodyPr/>
          <a:lstStyle/>
          <a:p>
            <a:endParaRPr lang="en-IN"/>
          </a:p>
        </p:txBody>
      </p:sp>
      <p:sp>
        <p:nvSpPr>
          <p:cNvPr id="42" name="Rectangle 41">
            <a:extLst>
              <a:ext uri="{FF2B5EF4-FFF2-40B4-BE49-F238E27FC236}">
                <a16:creationId xmlns:a16="http://schemas.microsoft.com/office/drawing/2014/main" id="{F1AAC463-5DA8-4FA8-A4AA-BD950DFA8CF4}"/>
              </a:ext>
            </a:extLst>
          </p:cNvPr>
          <p:cNvSpPr>
            <a:spLocks noGrp="1"/>
          </p:cNvSpPr>
          <p:nvPr/>
        </p:nvSpPr>
        <p:spPr>
          <a:xfrm>
            <a:off x="666750" y="5876925"/>
            <a:ext cx="1000125" cy="371475"/>
          </a:xfrm>
          <a:prstGeom prst="rect">
            <a:avLst/>
          </a:prstGeom>
          <a:noFill/>
          <a:ln w="0">
            <a:noFill/>
            <a:prstDash val="solid"/>
          </a:ln>
        </p:spPr>
        <p:txBody>
          <a:bodyPr anchor="ctr"/>
          <a:lstStyle/>
          <a:p>
            <a:pPr algn="ctr">
              <a:buNone/>
              <a:defRPr sz="1200" b="1">
                <a:solidFill>
                  <a:srgbClr val="FFFFFF"/>
                </a:solidFill>
              </a:defRPr>
            </a:pPr>
            <a:r>
              <a:rPr sz="1200" b="1">
                <a:solidFill>
                  <a:srgbClr val="FFFFFF"/>
                </a:solidFill>
              </a:rPr>
              <a:t>BOARD ASK</a:t>
            </a:r>
          </a:p>
        </p:txBody>
      </p:sp>
      <p:sp>
        <p:nvSpPr>
          <p:cNvPr id="43" name="Rectangle 42">
            <a:extLst>
              <a:ext uri="{FF2B5EF4-FFF2-40B4-BE49-F238E27FC236}">
                <a16:creationId xmlns:a16="http://schemas.microsoft.com/office/drawing/2014/main" id="{AFA6F53C-53C0-4857-8D1A-7E84CD9DB778}"/>
              </a:ext>
            </a:extLst>
          </p:cNvPr>
          <p:cNvSpPr>
            <a:spLocks noGrp="1"/>
          </p:cNvSpPr>
          <p:nvPr/>
        </p:nvSpPr>
        <p:spPr>
          <a:xfrm>
            <a:off x="1971675" y="5876925"/>
            <a:ext cx="9096375" cy="371475"/>
          </a:xfrm>
          <a:prstGeom prst="rect">
            <a:avLst/>
          </a:prstGeom>
          <a:noFill/>
          <a:ln w="0">
            <a:noFill/>
            <a:prstDash val="solid"/>
          </a:ln>
        </p:spPr>
        <p:txBody>
          <a:bodyPr anchor="ctr"/>
          <a:lstStyle/>
          <a:p>
            <a:pPr algn="l">
              <a:buNone/>
              <a:defRPr sz="1575" b="1">
                <a:solidFill>
                  <a:srgbClr val="FFFFFF"/>
                </a:solidFill>
              </a:defRPr>
            </a:pPr>
            <a:r>
              <a:rPr sz="1575" b="1">
                <a:solidFill>
                  <a:srgbClr val="FFFFFF"/>
                </a:solidFill>
              </a:rPr>
              <a:t>Approve a phased ₹28 Cr envelope; release scale funding after 2 lighthouse wins or ₹15–20 Cr contracted.</a:t>
            </a:r>
          </a:p>
        </p:txBody>
      </p:sp>
      <p:sp>
        <p:nvSpPr>
          <p:cNvPr id="44" name="Rectangle 43">
            <a:extLst>
              <a:ext uri="{FF2B5EF4-FFF2-40B4-BE49-F238E27FC236}">
                <a16:creationId xmlns:a16="http://schemas.microsoft.com/office/drawing/2014/main" id="{54E11E86-E48F-42C2-BAA5-F13AD9C4072A}"/>
              </a:ext>
            </a:extLst>
          </p:cNvPr>
          <p:cNvSpPr>
            <a:spLocks noGrp="1"/>
          </p:cNvSpPr>
          <p:nvPr/>
        </p:nvSpPr>
        <p:spPr>
          <a:xfrm>
            <a:off x="571500" y="6362700"/>
            <a:ext cx="7620000"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Source: management business-case assumptions and calculations, Aug-26</a:t>
            </a:r>
          </a:p>
        </p:txBody>
      </p:sp>
    </p:spTree>
    <p:extLst>
      <p:ext uri="{BB962C8B-B14F-4D97-AF65-F5344CB8AC3E}">
        <p14:creationId xmlns:p14="http://schemas.microsoft.com/office/powerpoint/2010/main" val="2065301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5E78426C-93D9-4C8F-A364-CA6D959C4618}"/>
              </a:ext>
            </a:extLst>
          </p:cNvPr>
          <p:cNvSpPr>
            <a:spLocks noGrp="1"/>
          </p:cNvSpPr>
          <p:nvPr/>
        </p:nvSpPr>
        <p:spPr>
          <a:xfrm>
            <a:off x="0" y="0"/>
            <a:ext cx="133350" cy="6858000"/>
          </a:xfrm>
          <a:prstGeom prst="rect">
            <a:avLst/>
          </a:prstGeom>
          <a:solidFill>
            <a:srgbClr val="0B1F3A"/>
          </a:solidFill>
          <a:ln w="0">
            <a:solidFill>
              <a:srgbClr val="0B1F3A"/>
            </a:solidFill>
            <a:prstDash val="solid"/>
          </a:ln>
        </p:spPr>
        <p:txBody>
          <a:bodyPr/>
          <a:lstStyle/>
          <a:p>
            <a:endParaRPr lang="en-IN"/>
          </a:p>
        </p:txBody>
      </p:sp>
      <p:sp>
        <p:nvSpPr>
          <p:cNvPr id="2" name="Rectangle 1">
            <a:extLst>
              <a:ext uri="{FF2B5EF4-FFF2-40B4-BE49-F238E27FC236}">
                <a16:creationId xmlns:a16="http://schemas.microsoft.com/office/drawing/2014/main" id="{8751723B-767E-476A-857B-9566582D8E86}"/>
              </a:ext>
            </a:extLst>
          </p:cNvPr>
          <p:cNvSpPr>
            <a:spLocks noGrp="1"/>
          </p:cNvSpPr>
          <p:nvPr/>
        </p:nvSpPr>
        <p:spPr>
          <a:xfrm>
            <a:off x="552450" y="228600"/>
            <a:ext cx="10953750" cy="628650"/>
          </a:xfrm>
          <a:prstGeom prst="rect">
            <a:avLst/>
          </a:prstGeom>
          <a:noFill/>
          <a:ln w="0">
            <a:noFill/>
            <a:prstDash val="solid"/>
          </a:ln>
        </p:spPr>
        <p:txBody>
          <a:bodyPr anchor="ctr"/>
          <a:lstStyle/>
          <a:p>
            <a:pPr algn="l">
              <a:buNone/>
              <a:defRPr sz="3000" b="1">
                <a:solidFill>
                  <a:srgbClr val="0B1F3A"/>
                </a:solidFill>
              </a:defRPr>
            </a:pPr>
            <a:r>
              <a:rPr sz="3000" b="1">
                <a:solidFill>
                  <a:srgbClr val="0B1F3A"/>
                </a:solidFill>
              </a:rPr>
              <a:t>Gold-loan landscape: incumbents and new entrants</a:t>
            </a:r>
          </a:p>
        </p:txBody>
      </p:sp>
      <p:sp>
        <p:nvSpPr>
          <p:cNvPr id="3" name="Rectangle 2">
            <a:extLst>
              <a:ext uri="{FF2B5EF4-FFF2-40B4-BE49-F238E27FC236}">
                <a16:creationId xmlns:a16="http://schemas.microsoft.com/office/drawing/2014/main" id="{EBADAF38-853C-42E7-AFC2-167E503F1E02}"/>
              </a:ext>
            </a:extLst>
          </p:cNvPr>
          <p:cNvSpPr>
            <a:spLocks noGrp="1"/>
          </p:cNvSpPr>
          <p:nvPr/>
        </p:nvSpPr>
        <p:spPr>
          <a:xfrm>
            <a:off x="571500" y="914400"/>
            <a:ext cx="10668000" cy="314325"/>
          </a:xfrm>
          <a:prstGeom prst="rect">
            <a:avLst/>
          </a:prstGeom>
          <a:noFill/>
          <a:ln w="0">
            <a:noFill/>
            <a:prstDash val="solid"/>
          </a:ln>
        </p:spPr>
        <p:txBody>
          <a:bodyPr anchor="ctr"/>
          <a:lstStyle/>
          <a:p>
            <a:pPr algn="l">
              <a:buNone/>
              <a:defRPr sz="1575" b="0">
                <a:solidFill>
                  <a:srgbClr val="5E6B78"/>
                </a:solidFill>
              </a:defRPr>
            </a:pPr>
            <a:r>
              <a:rPr sz="1575" b="0">
                <a:solidFill>
                  <a:srgbClr val="5E6B78"/>
                </a:solidFill>
              </a:rPr>
              <a:t>18 institutions matter; five expanding platforms create the near-term technology window</a:t>
            </a:r>
          </a:p>
        </p:txBody>
      </p:sp>
      <p:sp>
        <p:nvSpPr>
          <p:cNvPr id="4" name="Rectangle 3">
            <a:extLst>
              <a:ext uri="{FF2B5EF4-FFF2-40B4-BE49-F238E27FC236}">
                <a16:creationId xmlns:a16="http://schemas.microsoft.com/office/drawing/2014/main" id="{4A09F653-5506-44C8-835C-2414E4661DCE}"/>
              </a:ext>
            </a:extLst>
          </p:cNvPr>
          <p:cNvSpPr>
            <a:spLocks noGrp="1"/>
          </p:cNvSpPr>
          <p:nvPr/>
        </p:nvSpPr>
        <p:spPr>
          <a:xfrm>
            <a:off x="571500" y="1323975"/>
            <a:ext cx="11029950" cy="19050"/>
          </a:xfrm>
          <a:prstGeom prst="rect">
            <a:avLst/>
          </a:prstGeom>
          <a:solidFill>
            <a:srgbClr val="0B1F3A"/>
          </a:solidFill>
          <a:ln w="0">
            <a:solidFill>
              <a:srgbClr val="0B1F3A"/>
            </a:solidFill>
            <a:prstDash val="solid"/>
          </a:ln>
        </p:spPr>
        <p:txBody>
          <a:bodyPr/>
          <a:lstStyle/>
          <a:p>
            <a:endParaRPr lang="en-IN"/>
          </a:p>
        </p:txBody>
      </p:sp>
      <p:sp>
        <p:nvSpPr>
          <p:cNvPr id="5" name="Rectangle 4">
            <a:extLst>
              <a:ext uri="{FF2B5EF4-FFF2-40B4-BE49-F238E27FC236}">
                <a16:creationId xmlns:a16="http://schemas.microsoft.com/office/drawing/2014/main" id="{7098E5B2-C2D0-4F92-8062-95376F91DA28}"/>
              </a:ext>
            </a:extLst>
          </p:cNvPr>
          <p:cNvSpPr>
            <a:spLocks noGrp="1"/>
          </p:cNvSpPr>
          <p:nvPr/>
        </p:nvSpPr>
        <p:spPr>
          <a:xfrm>
            <a:off x="571500" y="6505575"/>
            <a:ext cx="3619500" cy="190500"/>
          </a:xfrm>
          <a:prstGeom prst="rect">
            <a:avLst/>
          </a:prstGeom>
          <a:noFill/>
          <a:ln w="0">
            <a:noFill/>
            <a:prstDash val="solid"/>
          </a:ln>
        </p:spPr>
        <p:txBody>
          <a:bodyPr anchor="ctr"/>
          <a:lstStyle/>
          <a:p>
            <a:pPr algn="l">
              <a:buNone/>
              <a:defRPr sz="975" b="1">
                <a:solidFill>
                  <a:srgbClr val="8793A0"/>
                </a:solidFill>
              </a:defRPr>
            </a:pPr>
            <a:r>
              <a:rPr sz="975" b="1">
                <a:solidFill>
                  <a:srgbClr val="8793A0"/>
                </a:solidFill>
              </a:rPr>
              <a:t>INDIA GOLD LOAN | BOARD DISCUSSION</a:t>
            </a:r>
          </a:p>
        </p:txBody>
      </p:sp>
      <p:sp>
        <p:nvSpPr>
          <p:cNvPr id="6" name="Rectangle 5">
            <a:extLst>
              <a:ext uri="{FF2B5EF4-FFF2-40B4-BE49-F238E27FC236}">
                <a16:creationId xmlns:a16="http://schemas.microsoft.com/office/drawing/2014/main" id="{ADFED183-41AC-4230-B7D7-A76484332C42}"/>
              </a:ext>
            </a:extLst>
          </p:cNvPr>
          <p:cNvSpPr>
            <a:spLocks noGrp="1"/>
          </p:cNvSpPr>
          <p:nvPr/>
        </p:nvSpPr>
        <p:spPr>
          <a:xfrm>
            <a:off x="9810750" y="6505575"/>
            <a:ext cx="1143000"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24 AUG 2026</a:t>
            </a:r>
          </a:p>
        </p:txBody>
      </p:sp>
      <p:sp>
        <p:nvSpPr>
          <p:cNvPr id="7" name="Rectangle 6">
            <a:extLst>
              <a:ext uri="{FF2B5EF4-FFF2-40B4-BE49-F238E27FC236}">
                <a16:creationId xmlns:a16="http://schemas.microsoft.com/office/drawing/2014/main" id="{487CDD38-C169-43BD-8299-50456DD0068C}"/>
              </a:ext>
            </a:extLst>
          </p:cNvPr>
          <p:cNvSpPr>
            <a:spLocks noGrp="1"/>
          </p:cNvSpPr>
          <p:nvPr/>
        </p:nvSpPr>
        <p:spPr>
          <a:xfrm>
            <a:off x="11144250" y="6505575"/>
            <a:ext cx="333375" cy="190500"/>
          </a:xfrm>
          <a:prstGeom prst="rect">
            <a:avLst/>
          </a:prstGeom>
          <a:noFill/>
          <a:ln w="0">
            <a:noFill/>
            <a:prstDash val="solid"/>
          </a:ln>
        </p:spPr>
        <p:txBody>
          <a:bodyPr anchor="ctr"/>
          <a:lstStyle/>
          <a:p>
            <a:pPr algn="r">
              <a:buNone/>
              <a:defRPr sz="975" b="1">
                <a:solidFill>
                  <a:srgbClr val="8793A0"/>
                </a:solidFill>
              </a:defRPr>
            </a:pPr>
            <a:r>
              <a:rPr sz="975" b="1">
                <a:solidFill>
                  <a:srgbClr val="8793A0"/>
                </a:solidFill>
              </a:rPr>
              <a:t>5</a:t>
            </a:r>
          </a:p>
        </p:txBody>
      </p:sp>
      <p:sp>
        <p:nvSpPr>
          <p:cNvPr id="75" name="Rectangle 74">
            <a:extLst>
              <a:ext uri="{FF2B5EF4-FFF2-40B4-BE49-F238E27FC236}">
                <a16:creationId xmlns:a16="http://schemas.microsoft.com/office/drawing/2014/main" id="{54138DC1-6DF9-4064-A18B-B7F0E906915C}"/>
              </a:ext>
            </a:extLst>
          </p:cNvPr>
          <p:cNvSpPr>
            <a:spLocks noGrp="1"/>
          </p:cNvSpPr>
          <p:nvPr/>
        </p:nvSpPr>
        <p:spPr>
          <a:xfrm>
            <a:off x="571500" y="6286500"/>
            <a:ext cx="8572500" cy="171450"/>
          </a:xfrm>
          <a:prstGeom prst="rect">
            <a:avLst/>
          </a:prstGeom>
          <a:noFill/>
          <a:ln w="0">
            <a:noFill/>
            <a:prstDash val="solid"/>
          </a:ln>
        </p:spPr>
        <p:txBody>
          <a:bodyPr anchor="ctr"/>
          <a:lstStyle/>
          <a:p>
            <a:pPr algn="l">
              <a:buNone/>
              <a:defRPr sz="975" b="0">
                <a:solidFill>
                  <a:srgbClr val="8793A0"/>
                </a:solidFill>
              </a:defRPr>
            </a:pPr>
            <a:r>
              <a:rPr sz="975" b="0">
                <a:solidFill>
                  <a:srgbClr val="8793A0"/>
                </a:solidFill>
              </a:rPr>
              <a:t>Source: official company websites and verified logo assets; company filings; internal analysis</a:t>
            </a:r>
          </a:p>
        </p:txBody>
      </p:sp>
      <p:sp>
        <p:nvSpPr>
          <p:cNvPr id="77" name="Rectangle 76">
            <a:extLst>
              <a:ext uri="{FF2B5EF4-FFF2-40B4-BE49-F238E27FC236}">
                <a16:creationId xmlns:a16="http://schemas.microsoft.com/office/drawing/2014/main" id="{720D9C28-9FD3-413B-AF90-74733BFA7229}"/>
              </a:ext>
            </a:extLst>
          </p:cNvPr>
          <p:cNvSpPr>
            <a:spLocks noGrp="1"/>
          </p:cNvSpPr>
          <p:nvPr/>
        </p:nvSpPr>
        <p:spPr>
          <a:xfrm>
            <a:off x="609600" y="1495425"/>
            <a:ext cx="1809750" cy="266700"/>
          </a:xfrm>
          <a:prstGeom prst="rect">
            <a:avLst/>
          </a:prstGeom>
          <a:noFill/>
          <a:ln w="0">
            <a:noFill/>
            <a:prstDash val="solid"/>
          </a:ln>
        </p:spPr>
        <p:txBody>
          <a:bodyPr anchor="ctr"/>
          <a:lstStyle/>
          <a:p>
            <a:pPr algn="l">
              <a:defRPr sz="1350" b="1">
                <a:solidFill>
                  <a:srgbClr val="1473E6"/>
                </a:solidFill>
              </a:defRPr>
            </a:pPr>
            <a:r>
              <a:rPr sz="1350" b="1">
                <a:solidFill>
                  <a:srgbClr val="1473E6"/>
                </a:solidFill>
              </a:rPr>
              <a:t>SCALED BANKS</a:t>
            </a:r>
          </a:p>
        </p:txBody>
      </p:sp>
      <p:sp>
        <p:nvSpPr>
          <p:cNvPr id="78" name="Rectangle 77">
            <a:extLst>
              <a:ext uri="{FF2B5EF4-FFF2-40B4-BE49-F238E27FC236}">
                <a16:creationId xmlns:a16="http://schemas.microsoft.com/office/drawing/2014/main" id="{E435A777-4E85-4273-BD80-85D200CE46A9}"/>
              </a:ext>
            </a:extLst>
          </p:cNvPr>
          <p:cNvSpPr>
            <a:spLocks noGrp="1"/>
          </p:cNvSpPr>
          <p:nvPr/>
        </p:nvSpPr>
        <p:spPr>
          <a:xfrm>
            <a:off x="2362200" y="1495425"/>
            <a:ext cx="3619500" cy="266700"/>
          </a:xfrm>
          <a:prstGeom prst="rect">
            <a:avLst/>
          </a:prstGeom>
          <a:noFill/>
          <a:ln w="0">
            <a:noFill/>
            <a:prstDash val="solid"/>
          </a:ln>
        </p:spPr>
        <p:txBody>
          <a:bodyPr anchor="ctr"/>
          <a:lstStyle/>
          <a:p>
            <a:pPr algn="l">
              <a:defRPr sz="1200" b="0">
                <a:solidFill>
                  <a:srgbClr val="5E6B78"/>
                </a:solidFill>
              </a:defRPr>
            </a:pPr>
            <a:r>
              <a:rPr sz="1200" b="0">
                <a:solidFill>
                  <a:srgbClr val="5E6B78"/>
                </a:solidFill>
              </a:rPr>
              <a:t>8 institutions • ~78% of organized AUM</a:t>
            </a:r>
          </a:p>
        </p:txBody>
      </p:sp>
      <p:sp>
        <p:nvSpPr>
          <p:cNvPr id="79" name="Rectangle 78">
            <a:extLst>
              <a:ext uri="{FF2B5EF4-FFF2-40B4-BE49-F238E27FC236}">
                <a16:creationId xmlns:a16="http://schemas.microsoft.com/office/drawing/2014/main" id="{238F8EB0-7BC2-4881-A3C7-32470F27CFC0}"/>
              </a:ext>
            </a:extLst>
          </p:cNvPr>
          <p:cNvSpPr>
            <a:spLocks noGrp="1"/>
          </p:cNvSpPr>
          <p:nvPr/>
        </p:nvSpPr>
        <p:spPr>
          <a:xfrm>
            <a:off x="571500" y="1809750"/>
            <a:ext cx="10744200" cy="9525"/>
          </a:xfrm>
          <a:prstGeom prst="rect">
            <a:avLst/>
          </a:prstGeom>
          <a:solidFill>
            <a:srgbClr val="D8DEE6"/>
          </a:solidFill>
          <a:ln w="0">
            <a:solidFill>
              <a:srgbClr val="D8DEE6"/>
            </a:solidFill>
            <a:prstDash val="solid"/>
          </a:ln>
        </p:spPr>
        <p:txBody>
          <a:bodyPr/>
          <a:lstStyle/>
          <a:p>
            <a:endParaRPr lang="en-IN"/>
          </a:p>
        </p:txBody>
      </p:sp>
      <p:pic>
        <p:nvPicPr>
          <p:cNvPr id="133" name="Picture 132"/>
          <p:cNvPicPr>
            <a:picLocks noChangeAspect="1"/>
          </p:cNvPicPr>
          <p:nvPr/>
        </p:nvPicPr>
        <p:blipFill>
          <a:blip r:embed="rId3"/>
          <a:stretch/>
        </p:blipFill>
        <p:spPr>
          <a:xfrm>
            <a:off x="976313" y="1924050"/>
            <a:ext cx="533400" cy="533400"/>
          </a:xfrm>
          <a:prstGeom prst="rect">
            <a:avLst/>
          </a:prstGeom>
        </p:spPr>
      </p:pic>
      <p:sp>
        <p:nvSpPr>
          <p:cNvPr id="81" name="Rectangle 80">
            <a:extLst>
              <a:ext uri="{FF2B5EF4-FFF2-40B4-BE49-F238E27FC236}">
                <a16:creationId xmlns:a16="http://schemas.microsoft.com/office/drawing/2014/main" id="{EA034872-83C1-4541-A4DD-A97EFAB5743C}"/>
              </a:ext>
            </a:extLst>
          </p:cNvPr>
          <p:cNvSpPr>
            <a:spLocks noGrp="1"/>
          </p:cNvSpPr>
          <p:nvPr/>
        </p:nvSpPr>
        <p:spPr>
          <a:xfrm>
            <a:off x="600075" y="2524125"/>
            <a:ext cx="1285875" cy="361950"/>
          </a:xfrm>
          <a:prstGeom prst="rect">
            <a:avLst/>
          </a:prstGeom>
          <a:noFill/>
          <a:ln w="0">
            <a:noFill/>
            <a:prstDash val="solid"/>
          </a:ln>
        </p:spPr>
        <p:txBody>
          <a:bodyPr anchor="ctr"/>
          <a:lstStyle/>
          <a:p>
            <a:pPr algn="ctr">
              <a:defRPr sz="1125" b="1">
                <a:solidFill>
                  <a:srgbClr val="0B1F3A"/>
                </a:solidFill>
              </a:defRPr>
            </a:pPr>
            <a:r>
              <a:rPr sz="1125" b="1">
                <a:solidFill>
                  <a:srgbClr val="0B1F3A"/>
                </a:solidFill>
              </a:rPr>
              <a:t>State Bank of India</a:t>
            </a:r>
          </a:p>
        </p:txBody>
      </p:sp>
      <p:pic>
        <p:nvPicPr>
          <p:cNvPr id="135" name="Picture 134"/>
          <p:cNvPicPr>
            <a:picLocks noChangeAspect="1"/>
          </p:cNvPicPr>
          <p:nvPr/>
        </p:nvPicPr>
        <p:blipFill>
          <a:blip r:embed="rId4"/>
          <a:stretch/>
        </p:blipFill>
        <p:spPr>
          <a:xfrm>
            <a:off x="2319338" y="1924050"/>
            <a:ext cx="533400" cy="533400"/>
          </a:xfrm>
          <a:prstGeom prst="rect">
            <a:avLst/>
          </a:prstGeom>
        </p:spPr>
      </p:pic>
      <p:sp>
        <p:nvSpPr>
          <p:cNvPr id="83" name="Rectangle 82">
            <a:extLst>
              <a:ext uri="{FF2B5EF4-FFF2-40B4-BE49-F238E27FC236}">
                <a16:creationId xmlns:a16="http://schemas.microsoft.com/office/drawing/2014/main" id="{E2DE737C-ED82-47EC-BC5E-60CC6BE8C72D}"/>
              </a:ext>
            </a:extLst>
          </p:cNvPr>
          <p:cNvSpPr>
            <a:spLocks noGrp="1"/>
          </p:cNvSpPr>
          <p:nvPr/>
        </p:nvSpPr>
        <p:spPr>
          <a:xfrm>
            <a:off x="1943100" y="2524125"/>
            <a:ext cx="1285875" cy="361950"/>
          </a:xfrm>
          <a:prstGeom prst="rect">
            <a:avLst/>
          </a:prstGeom>
          <a:noFill/>
          <a:ln w="0">
            <a:noFill/>
            <a:prstDash val="solid"/>
          </a:ln>
        </p:spPr>
        <p:txBody>
          <a:bodyPr anchor="ctr"/>
          <a:lstStyle/>
          <a:p>
            <a:pPr algn="ctr">
              <a:defRPr sz="1125" b="1">
                <a:solidFill>
                  <a:srgbClr val="0B1F3A"/>
                </a:solidFill>
              </a:defRPr>
            </a:pPr>
            <a:r>
              <a:rPr sz="1125" b="1">
                <a:solidFill>
                  <a:srgbClr val="0B1F3A"/>
                </a:solidFill>
              </a:rPr>
              <a:t>Canara Bank</a:t>
            </a:r>
          </a:p>
        </p:txBody>
      </p:sp>
      <p:pic>
        <p:nvPicPr>
          <p:cNvPr id="137" name="Picture 136"/>
          <p:cNvPicPr>
            <a:picLocks noChangeAspect="1"/>
          </p:cNvPicPr>
          <p:nvPr/>
        </p:nvPicPr>
        <p:blipFill>
          <a:blip r:embed="rId5"/>
          <a:stretch/>
        </p:blipFill>
        <p:spPr>
          <a:xfrm>
            <a:off x="3668262" y="1924050"/>
            <a:ext cx="521602" cy="533400"/>
          </a:xfrm>
          <a:prstGeom prst="rect">
            <a:avLst/>
          </a:prstGeom>
        </p:spPr>
      </p:pic>
      <p:sp>
        <p:nvSpPr>
          <p:cNvPr id="85" name="Rectangle 84">
            <a:extLst>
              <a:ext uri="{FF2B5EF4-FFF2-40B4-BE49-F238E27FC236}">
                <a16:creationId xmlns:a16="http://schemas.microsoft.com/office/drawing/2014/main" id="{AE17A92A-CBD0-4CA9-AA5A-B1B6AFED66E8}"/>
              </a:ext>
            </a:extLst>
          </p:cNvPr>
          <p:cNvSpPr>
            <a:spLocks noGrp="1"/>
          </p:cNvSpPr>
          <p:nvPr/>
        </p:nvSpPr>
        <p:spPr>
          <a:xfrm>
            <a:off x="3286125" y="2524125"/>
            <a:ext cx="1285875" cy="361950"/>
          </a:xfrm>
          <a:prstGeom prst="rect">
            <a:avLst/>
          </a:prstGeom>
          <a:noFill/>
          <a:ln w="0">
            <a:noFill/>
            <a:prstDash val="solid"/>
          </a:ln>
        </p:spPr>
        <p:txBody>
          <a:bodyPr anchor="ctr"/>
          <a:lstStyle/>
          <a:p>
            <a:pPr algn="ctr">
              <a:defRPr sz="1125" b="1">
                <a:solidFill>
                  <a:srgbClr val="0B1F3A"/>
                </a:solidFill>
              </a:defRPr>
            </a:pPr>
            <a:r>
              <a:rPr sz="1125" b="1">
                <a:solidFill>
                  <a:srgbClr val="0B1F3A"/>
                </a:solidFill>
              </a:rPr>
              <a:t>Indian Bank</a:t>
            </a:r>
          </a:p>
        </p:txBody>
      </p:sp>
      <p:pic>
        <p:nvPicPr>
          <p:cNvPr id="139" name="Picture 138"/>
          <p:cNvPicPr>
            <a:picLocks noChangeAspect="1"/>
          </p:cNvPicPr>
          <p:nvPr/>
        </p:nvPicPr>
        <p:blipFill>
          <a:blip r:embed="rId6"/>
          <a:stretch/>
        </p:blipFill>
        <p:spPr>
          <a:xfrm>
            <a:off x="5005610" y="1924050"/>
            <a:ext cx="532956" cy="533400"/>
          </a:xfrm>
          <a:prstGeom prst="rect">
            <a:avLst/>
          </a:prstGeom>
        </p:spPr>
      </p:pic>
      <p:sp>
        <p:nvSpPr>
          <p:cNvPr id="87" name="Rectangle 86">
            <a:extLst>
              <a:ext uri="{FF2B5EF4-FFF2-40B4-BE49-F238E27FC236}">
                <a16:creationId xmlns:a16="http://schemas.microsoft.com/office/drawing/2014/main" id="{0EC0AD42-CD6B-4248-AB8B-F59BB6942D46}"/>
              </a:ext>
            </a:extLst>
          </p:cNvPr>
          <p:cNvSpPr>
            <a:spLocks noGrp="1"/>
          </p:cNvSpPr>
          <p:nvPr/>
        </p:nvSpPr>
        <p:spPr>
          <a:xfrm>
            <a:off x="4629150" y="2524125"/>
            <a:ext cx="1285875" cy="361950"/>
          </a:xfrm>
          <a:prstGeom prst="rect">
            <a:avLst/>
          </a:prstGeom>
          <a:noFill/>
          <a:ln w="0">
            <a:noFill/>
            <a:prstDash val="solid"/>
          </a:ln>
        </p:spPr>
        <p:txBody>
          <a:bodyPr anchor="ctr"/>
          <a:lstStyle/>
          <a:p>
            <a:pPr algn="ctr">
              <a:defRPr sz="1125" b="1">
                <a:solidFill>
                  <a:srgbClr val="0B1F3A"/>
                </a:solidFill>
              </a:defRPr>
            </a:pPr>
            <a:r>
              <a:rPr sz="1125" b="1">
                <a:solidFill>
                  <a:srgbClr val="0B1F3A"/>
                </a:solidFill>
              </a:rPr>
              <a:t>Federal Bank</a:t>
            </a:r>
          </a:p>
        </p:txBody>
      </p:sp>
      <p:pic>
        <p:nvPicPr>
          <p:cNvPr id="141" name="Picture 140"/>
          <p:cNvPicPr>
            <a:picLocks noChangeAspect="1"/>
          </p:cNvPicPr>
          <p:nvPr/>
        </p:nvPicPr>
        <p:blipFill>
          <a:blip r:embed="rId7"/>
          <a:stretch/>
        </p:blipFill>
        <p:spPr>
          <a:xfrm>
            <a:off x="6346939" y="1924050"/>
            <a:ext cx="536347" cy="533400"/>
          </a:xfrm>
          <a:prstGeom prst="rect">
            <a:avLst/>
          </a:prstGeom>
        </p:spPr>
      </p:pic>
      <p:sp>
        <p:nvSpPr>
          <p:cNvPr id="89" name="Rectangle 88">
            <a:extLst>
              <a:ext uri="{FF2B5EF4-FFF2-40B4-BE49-F238E27FC236}">
                <a16:creationId xmlns:a16="http://schemas.microsoft.com/office/drawing/2014/main" id="{C3713026-CA14-46E9-AF88-8F5F5F6827BD}"/>
              </a:ext>
            </a:extLst>
          </p:cNvPr>
          <p:cNvSpPr>
            <a:spLocks noGrp="1"/>
          </p:cNvSpPr>
          <p:nvPr/>
        </p:nvSpPr>
        <p:spPr>
          <a:xfrm>
            <a:off x="5972175" y="2524125"/>
            <a:ext cx="1285875" cy="361950"/>
          </a:xfrm>
          <a:prstGeom prst="rect">
            <a:avLst/>
          </a:prstGeom>
          <a:noFill/>
          <a:ln w="0">
            <a:noFill/>
            <a:prstDash val="solid"/>
          </a:ln>
        </p:spPr>
        <p:txBody>
          <a:bodyPr anchor="ctr"/>
          <a:lstStyle/>
          <a:p>
            <a:pPr algn="ctr">
              <a:defRPr sz="1125" b="1">
                <a:solidFill>
                  <a:srgbClr val="0B1F3A"/>
                </a:solidFill>
              </a:defRPr>
            </a:pPr>
            <a:r>
              <a:rPr sz="1125" b="1">
                <a:solidFill>
                  <a:srgbClr val="0B1F3A"/>
                </a:solidFill>
              </a:rPr>
              <a:t>Karur Vysya Bank</a:t>
            </a:r>
          </a:p>
        </p:txBody>
      </p:sp>
      <p:pic>
        <p:nvPicPr>
          <p:cNvPr id="143" name="Picture 142"/>
          <p:cNvPicPr>
            <a:picLocks noChangeAspect="1"/>
          </p:cNvPicPr>
          <p:nvPr/>
        </p:nvPicPr>
        <p:blipFill>
          <a:blip r:embed="rId8"/>
          <a:stretch/>
        </p:blipFill>
        <p:spPr>
          <a:xfrm>
            <a:off x="7691438" y="1924050"/>
            <a:ext cx="533400" cy="533400"/>
          </a:xfrm>
          <a:prstGeom prst="rect">
            <a:avLst/>
          </a:prstGeom>
        </p:spPr>
      </p:pic>
      <p:sp>
        <p:nvSpPr>
          <p:cNvPr id="91" name="Rectangle 90">
            <a:extLst>
              <a:ext uri="{FF2B5EF4-FFF2-40B4-BE49-F238E27FC236}">
                <a16:creationId xmlns:a16="http://schemas.microsoft.com/office/drawing/2014/main" id="{86462989-1452-4626-B07F-C16A9BFF15CE}"/>
              </a:ext>
            </a:extLst>
          </p:cNvPr>
          <p:cNvSpPr>
            <a:spLocks noGrp="1"/>
          </p:cNvSpPr>
          <p:nvPr/>
        </p:nvSpPr>
        <p:spPr>
          <a:xfrm>
            <a:off x="7315200" y="2524125"/>
            <a:ext cx="1285875" cy="361950"/>
          </a:xfrm>
          <a:prstGeom prst="rect">
            <a:avLst/>
          </a:prstGeom>
          <a:noFill/>
          <a:ln w="0">
            <a:noFill/>
            <a:prstDash val="solid"/>
          </a:ln>
        </p:spPr>
        <p:txBody>
          <a:bodyPr anchor="ctr"/>
          <a:lstStyle/>
          <a:p>
            <a:pPr algn="ctr">
              <a:defRPr sz="1125" b="1">
                <a:solidFill>
                  <a:srgbClr val="0B1F3A"/>
                </a:solidFill>
              </a:defRPr>
            </a:pPr>
            <a:r>
              <a:rPr sz="1125" b="1">
                <a:solidFill>
                  <a:srgbClr val="0B1F3A"/>
                </a:solidFill>
              </a:rPr>
              <a:t>Tamilnad Mercantile</a:t>
            </a:r>
          </a:p>
        </p:txBody>
      </p:sp>
      <p:pic>
        <p:nvPicPr>
          <p:cNvPr id="145" name="Picture 144"/>
          <p:cNvPicPr>
            <a:picLocks noChangeAspect="1"/>
          </p:cNvPicPr>
          <p:nvPr/>
        </p:nvPicPr>
        <p:blipFill>
          <a:blip r:embed="rId9"/>
          <a:stretch/>
        </p:blipFill>
        <p:spPr>
          <a:xfrm>
            <a:off x="9034463" y="1924050"/>
            <a:ext cx="533400" cy="533400"/>
          </a:xfrm>
          <a:prstGeom prst="rect">
            <a:avLst/>
          </a:prstGeom>
        </p:spPr>
      </p:pic>
      <p:sp>
        <p:nvSpPr>
          <p:cNvPr id="93" name="Rectangle 92">
            <a:extLst>
              <a:ext uri="{FF2B5EF4-FFF2-40B4-BE49-F238E27FC236}">
                <a16:creationId xmlns:a16="http://schemas.microsoft.com/office/drawing/2014/main" id="{D3FFCB65-7941-4A37-B0EB-5FB8AE70CF1D}"/>
              </a:ext>
            </a:extLst>
          </p:cNvPr>
          <p:cNvSpPr>
            <a:spLocks noGrp="1"/>
          </p:cNvSpPr>
          <p:nvPr/>
        </p:nvSpPr>
        <p:spPr>
          <a:xfrm>
            <a:off x="8658225" y="2524125"/>
            <a:ext cx="1285875" cy="361950"/>
          </a:xfrm>
          <a:prstGeom prst="rect">
            <a:avLst/>
          </a:prstGeom>
          <a:noFill/>
          <a:ln w="0">
            <a:noFill/>
            <a:prstDash val="solid"/>
          </a:ln>
        </p:spPr>
        <p:txBody>
          <a:bodyPr anchor="ctr"/>
          <a:lstStyle/>
          <a:p>
            <a:pPr algn="ctr">
              <a:defRPr sz="1125" b="1">
                <a:solidFill>
                  <a:srgbClr val="0B1F3A"/>
                </a:solidFill>
              </a:defRPr>
            </a:pPr>
            <a:r>
              <a:rPr sz="1125" b="1">
                <a:solidFill>
                  <a:srgbClr val="0B1F3A"/>
                </a:solidFill>
              </a:rPr>
              <a:t>South Indian Bank</a:t>
            </a:r>
          </a:p>
        </p:txBody>
      </p:sp>
      <p:pic>
        <p:nvPicPr>
          <p:cNvPr id="147" name="Picture 146"/>
          <p:cNvPicPr>
            <a:picLocks noChangeAspect="1"/>
          </p:cNvPicPr>
          <p:nvPr/>
        </p:nvPicPr>
        <p:blipFill>
          <a:blip r:embed="rId10"/>
          <a:stretch/>
        </p:blipFill>
        <p:spPr>
          <a:xfrm>
            <a:off x="10170054" y="1924050"/>
            <a:ext cx="948267" cy="533400"/>
          </a:xfrm>
          <a:prstGeom prst="rect">
            <a:avLst/>
          </a:prstGeom>
        </p:spPr>
      </p:pic>
      <p:sp>
        <p:nvSpPr>
          <p:cNvPr id="95" name="Rectangle 94">
            <a:extLst>
              <a:ext uri="{FF2B5EF4-FFF2-40B4-BE49-F238E27FC236}">
                <a16:creationId xmlns:a16="http://schemas.microsoft.com/office/drawing/2014/main" id="{86F746F6-0FE7-4CFE-90F8-903E9412451B}"/>
              </a:ext>
            </a:extLst>
          </p:cNvPr>
          <p:cNvSpPr>
            <a:spLocks noGrp="1"/>
          </p:cNvSpPr>
          <p:nvPr/>
        </p:nvSpPr>
        <p:spPr>
          <a:xfrm>
            <a:off x="10001250" y="2524125"/>
            <a:ext cx="1285875" cy="361950"/>
          </a:xfrm>
          <a:prstGeom prst="rect">
            <a:avLst/>
          </a:prstGeom>
          <a:noFill/>
          <a:ln w="0">
            <a:noFill/>
            <a:prstDash val="solid"/>
          </a:ln>
        </p:spPr>
        <p:txBody>
          <a:bodyPr anchor="ctr"/>
          <a:lstStyle/>
          <a:p>
            <a:pPr algn="ctr">
              <a:defRPr sz="1125" b="1">
                <a:solidFill>
                  <a:srgbClr val="0B1F3A"/>
                </a:solidFill>
              </a:defRPr>
            </a:pPr>
            <a:r>
              <a:rPr sz="1125" b="1">
                <a:solidFill>
                  <a:srgbClr val="0B1F3A"/>
                </a:solidFill>
              </a:rPr>
              <a:t>CSB Bank</a:t>
            </a:r>
          </a:p>
        </p:txBody>
      </p:sp>
      <p:sp>
        <p:nvSpPr>
          <p:cNvPr id="96" name="Rectangle 95">
            <a:extLst>
              <a:ext uri="{FF2B5EF4-FFF2-40B4-BE49-F238E27FC236}">
                <a16:creationId xmlns:a16="http://schemas.microsoft.com/office/drawing/2014/main" id="{DE1FCE86-7BD2-49FF-AD77-9ED4CB7E3BC6}"/>
              </a:ext>
            </a:extLst>
          </p:cNvPr>
          <p:cNvSpPr>
            <a:spLocks noGrp="1"/>
          </p:cNvSpPr>
          <p:nvPr/>
        </p:nvSpPr>
        <p:spPr>
          <a:xfrm>
            <a:off x="609600" y="3048000"/>
            <a:ext cx="2095500" cy="266700"/>
          </a:xfrm>
          <a:prstGeom prst="rect">
            <a:avLst/>
          </a:prstGeom>
          <a:noFill/>
          <a:ln w="0">
            <a:noFill/>
            <a:prstDash val="solid"/>
          </a:ln>
        </p:spPr>
        <p:txBody>
          <a:bodyPr anchor="ctr"/>
          <a:lstStyle/>
          <a:p>
            <a:pPr algn="l">
              <a:defRPr sz="1350" b="1">
                <a:solidFill>
                  <a:srgbClr val="1473E6"/>
                </a:solidFill>
              </a:defRPr>
            </a:pPr>
            <a:r>
              <a:rPr sz="1350" b="1">
                <a:solidFill>
                  <a:srgbClr val="1473E6"/>
                </a:solidFill>
              </a:rPr>
              <a:t>INCUMBENT NBFCs</a:t>
            </a:r>
          </a:p>
        </p:txBody>
      </p:sp>
      <p:sp>
        <p:nvSpPr>
          <p:cNvPr id="97" name="Rectangle 96">
            <a:extLst>
              <a:ext uri="{FF2B5EF4-FFF2-40B4-BE49-F238E27FC236}">
                <a16:creationId xmlns:a16="http://schemas.microsoft.com/office/drawing/2014/main" id="{A7789832-C4AC-49E7-A8E6-61053D3B6F31}"/>
              </a:ext>
            </a:extLst>
          </p:cNvPr>
          <p:cNvSpPr>
            <a:spLocks noGrp="1"/>
          </p:cNvSpPr>
          <p:nvPr/>
        </p:nvSpPr>
        <p:spPr>
          <a:xfrm>
            <a:off x="2571750" y="3048000"/>
            <a:ext cx="2952750" cy="266700"/>
          </a:xfrm>
          <a:prstGeom prst="rect">
            <a:avLst/>
          </a:prstGeom>
          <a:noFill/>
          <a:ln w="0">
            <a:noFill/>
            <a:prstDash val="solid"/>
          </a:ln>
        </p:spPr>
        <p:txBody>
          <a:bodyPr anchor="ctr"/>
          <a:lstStyle/>
          <a:p>
            <a:pPr algn="l">
              <a:defRPr sz="1200" b="0">
                <a:solidFill>
                  <a:srgbClr val="5E6B78"/>
                </a:solidFill>
              </a:defRPr>
            </a:pPr>
            <a:r>
              <a:rPr sz="1200" b="0">
                <a:solidFill>
                  <a:srgbClr val="5E6B78"/>
                </a:solidFill>
              </a:rPr>
              <a:t>5 scaled specialist platforms</a:t>
            </a:r>
          </a:p>
        </p:txBody>
      </p:sp>
      <p:sp>
        <p:nvSpPr>
          <p:cNvPr id="98" name="Rectangle 97">
            <a:extLst>
              <a:ext uri="{FF2B5EF4-FFF2-40B4-BE49-F238E27FC236}">
                <a16:creationId xmlns:a16="http://schemas.microsoft.com/office/drawing/2014/main" id="{D1A774C9-9FC4-454A-A687-F84EBA920E54}"/>
              </a:ext>
            </a:extLst>
          </p:cNvPr>
          <p:cNvSpPr>
            <a:spLocks noGrp="1"/>
          </p:cNvSpPr>
          <p:nvPr/>
        </p:nvSpPr>
        <p:spPr>
          <a:xfrm>
            <a:off x="571500" y="3362325"/>
            <a:ext cx="10744200" cy="9525"/>
          </a:xfrm>
          <a:prstGeom prst="rect">
            <a:avLst/>
          </a:prstGeom>
          <a:solidFill>
            <a:srgbClr val="D8DEE6"/>
          </a:solidFill>
          <a:ln w="0">
            <a:solidFill>
              <a:srgbClr val="D8DEE6"/>
            </a:solidFill>
            <a:prstDash val="solid"/>
          </a:ln>
        </p:spPr>
        <p:txBody>
          <a:bodyPr/>
          <a:lstStyle/>
          <a:p>
            <a:endParaRPr lang="en-IN"/>
          </a:p>
        </p:txBody>
      </p:sp>
      <p:pic>
        <p:nvPicPr>
          <p:cNvPr id="152" name="Picture 151"/>
          <p:cNvPicPr>
            <a:picLocks noChangeAspect="1"/>
          </p:cNvPicPr>
          <p:nvPr/>
        </p:nvPicPr>
        <p:blipFill>
          <a:blip r:embed="rId11"/>
          <a:stretch/>
        </p:blipFill>
        <p:spPr>
          <a:xfrm>
            <a:off x="1369695" y="3476625"/>
            <a:ext cx="552450" cy="552450"/>
          </a:xfrm>
          <a:prstGeom prst="rect">
            <a:avLst/>
          </a:prstGeom>
        </p:spPr>
      </p:pic>
      <p:sp>
        <p:nvSpPr>
          <p:cNvPr id="100" name="Rectangle 99">
            <a:extLst>
              <a:ext uri="{FF2B5EF4-FFF2-40B4-BE49-F238E27FC236}">
                <a16:creationId xmlns:a16="http://schemas.microsoft.com/office/drawing/2014/main" id="{65937614-A92D-4410-8482-8833DB7FC770}"/>
              </a:ext>
            </a:extLst>
          </p:cNvPr>
          <p:cNvSpPr>
            <a:spLocks noGrp="1"/>
          </p:cNvSpPr>
          <p:nvPr/>
        </p:nvSpPr>
        <p:spPr>
          <a:xfrm>
            <a:off x="600075" y="4095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Muthoot Finance</a:t>
            </a:r>
          </a:p>
        </p:txBody>
      </p:sp>
      <p:pic>
        <p:nvPicPr>
          <p:cNvPr id="154" name="Picture 153"/>
          <p:cNvPicPr>
            <a:picLocks noChangeAspect="1"/>
          </p:cNvPicPr>
          <p:nvPr/>
        </p:nvPicPr>
        <p:blipFill>
          <a:blip r:embed="rId12"/>
          <a:stretch/>
        </p:blipFill>
        <p:spPr>
          <a:xfrm>
            <a:off x="3518535" y="3476625"/>
            <a:ext cx="552450" cy="552450"/>
          </a:xfrm>
          <a:prstGeom prst="rect">
            <a:avLst/>
          </a:prstGeom>
        </p:spPr>
      </p:pic>
      <p:sp>
        <p:nvSpPr>
          <p:cNvPr id="102" name="Rectangle 101">
            <a:extLst>
              <a:ext uri="{FF2B5EF4-FFF2-40B4-BE49-F238E27FC236}">
                <a16:creationId xmlns:a16="http://schemas.microsoft.com/office/drawing/2014/main" id="{E9DACA0B-528D-4E56-92FF-917B0492C441}"/>
              </a:ext>
            </a:extLst>
          </p:cNvPr>
          <p:cNvSpPr>
            <a:spLocks noGrp="1"/>
          </p:cNvSpPr>
          <p:nvPr/>
        </p:nvSpPr>
        <p:spPr>
          <a:xfrm>
            <a:off x="2748915" y="4095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Manappuram Finance</a:t>
            </a:r>
          </a:p>
        </p:txBody>
      </p:sp>
      <p:pic>
        <p:nvPicPr>
          <p:cNvPr id="156" name="Picture 155"/>
          <p:cNvPicPr>
            <a:picLocks noChangeAspect="1"/>
          </p:cNvPicPr>
          <p:nvPr/>
        </p:nvPicPr>
        <p:blipFill>
          <a:blip r:embed="rId13"/>
          <a:stretch/>
        </p:blipFill>
        <p:spPr>
          <a:xfrm>
            <a:off x="5667375" y="3476625"/>
            <a:ext cx="552450" cy="552450"/>
          </a:xfrm>
          <a:prstGeom prst="rect">
            <a:avLst/>
          </a:prstGeom>
        </p:spPr>
      </p:pic>
      <p:sp>
        <p:nvSpPr>
          <p:cNvPr id="104" name="Rectangle 103">
            <a:extLst>
              <a:ext uri="{FF2B5EF4-FFF2-40B4-BE49-F238E27FC236}">
                <a16:creationId xmlns:a16="http://schemas.microsoft.com/office/drawing/2014/main" id="{01683684-63A6-4CD6-8ED0-6527CD95C5CB}"/>
              </a:ext>
            </a:extLst>
          </p:cNvPr>
          <p:cNvSpPr>
            <a:spLocks noGrp="1"/>
          </p:cNvSpPr>
          <p:nvPr/>
        </p:nvSpPr>
        <p:spPr>
          <a:xfrm>
            <a:off x="4897755" y="4095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IIFL Finance</a:t>
            </a:r>
          </a:p>
        </p:txBody>
      </p:sp>
      <p:pic>
        <p:nvPicPr>
          <p:cNvPr id="158" name="Picture 157"/>
          <p:cNvPicPr>
            <a:picLocks noChangeAspect="1"/>
          </p:cNvPicPr>
          <p:nvPr/>
        </p:nvPicPr>
        <p:blipFill>
          <a:blip r:embed="rId14"/>
          <a:stretch/>
        </p:blipFill>
        <p:spPr>
          <a:xfrm>
            <a:off x="7816215" y="3476625"/>
            <a:ext cx="552450" cy="552450"/>
          </a:xfrm>
          <a:prstGeom prst="rect">
            <a:avLst/>
          </a:prstGeom>
        </p:spPr>
      </p:pic>
      <p:sp>
        <p:nvSpPr>
          <p:cNvPr id="106" name="Rectangle 105">
            <a:extLst>
              <a:ext uri="{FF2B5EF4-FFF2-40B4-BE49-F238E27FC236}">
                <a16:creationId xmlns:a16="http://schemas.microsoft.com/office/drawing/2014/main" id="{72677F5B-79D5-4B66-8255-E502B21FB985}"/>
              </a:ext>
            </a:extLst>
          </p:cNvPr>
          <p:cNvSpPr>
            <a:spLocks noGrp="1"/>
          </p:cNvSpPr>
          <p:nvPr/>
        </p:nvSpPr>
        <p:spPr>
          <a:xfrm>
            <a:off x="7046595" y="4095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Muthoot FinCorp</a:t>
            </a:r>
          </a:p>
        </p:txBody>
      </p:sp>
      <p:pic>
        <p:nvPicPr>
          <p:cNvPr id="160" name="Picture 159"/>
          <p:cNvPicPr>
            <a:picLocks noChangeAspect="1"/>
          </p:cNvPicPr>
          <p:nvPr/>
        </p:nvPicPr>
        <p:blipFill>
          <a:blip r:embed="rId15"/>
          <a:stretch/>
        </p:blipFill>
        <p:spPr>
          <a:xfrm>
            <a:off x="9744075" y="3476625"/>
            <a:ext cx="994410" cy="552450"/>
          </a:xfrm>
          <a:prstGeom prst="rect">
            <a:avLst/>
          </a:prstGeom>
        </p:spPr>
      </p:pic>
      <p:sp>
        <p:nvSpPr>
          <p:cNvPr id="108" name="Rectangle 107">
            <a:extLst>
              <a:ext uri="{FF2B5EF4-FFF2-40B4-BE49-F238E27FC236}">
                <a16:creationId xmlns:a16="http://schemas.microsoft.com/office/drawing/2014/main" id="{4E53A681-AA12-4C33-B950-28EE1AC6B520}"/>
              </a:ext>
            </a:extLst>
          </p:cNvPr>
          <p:cNvSpPr>
            <a:spLocks noGrp="1"/>
          </p:cNvSpPr>
          <p:nvPr/>
        </p:nvSpPr>
        <p:spPr>
          <a:xfrm>
            <a:off x="9195435" y="4095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Fedfina</a:t>
            </a:r>
          </a:p>
        </p:txBody>
      </p:sp>
      <p:sp>
        <p:nvSpPr>
          <p:cNvPr id="109" name="Rectangle 108">
            <a:extLst>
              <a:ext uri="{FF2B5EF4-FFF2-40B4-BE49-F238E27FC236}">
                <a16:creationId xmlns:a16="http://schemas.microsoft.com/office/drawing/2014/main" id="{D133C8BC-AC94-4BB6-8328-E41D68F561F0}"/>
              </a:ext>
            </a:extLst>
          </p:cNvPr>
          <p:cNvSpPr>
            <a:spLocks noGrp="1"/>
          </p:cNvSpPr>
          <p:nvPr/>
        </p:nvSpPr>
        <p:spPr>
          <a:xfrm>
            <a:off x="609600" y="4572000"/>
            <a:ext cx="2095500" cy="266700"/>
          </a:xfrm>
          <a:prstGeom prst="rect">
            <a:avLst/>
          </a:prstGeom>
          <a:noFill/>
          <a:ln w="0">
            <a:noFill/>
            <a:prstDash val="solid"/>
          </a:ln>
        </p:spPr>
        <p:txBody>
          <a:bodyPr anchor="ctr"/>
          <a:lstStyle/>
          <a:p>
            <a:pPr algn="l">
              <a:defRPr sz="1350" b="1">
                <a:solidFill>
                  <a:srgbClr val="1473E6"/>
                </a:solidFill>
              </a:defRPr>
            </a:pPr>
            <a:r>
              <a:rPr sz="1350" b="1">
                <a:solidFill>
                  <a:srgbClr val="1473E6"/>
                </a:solidFill>
              </a:rPr>
              <a:t>NEW / EXPANDING</a:t>
            </a:r>
          </a:p>
        </p:txBody>
      </p:sp>
      <p:sp>
        <p:nvSpPr>
          <p:cNvPr id="110" name="Rectangle 109">
            <a:extLst>
              <a:ext uri="{FF2B5EF4-FFF2-40B4-BE49-F238E27FC236}">
                <a16:creationId xmlns:a16="http://schemas.microsoft.com/office/drawing/2014/main" id="{34F34270-E061-44F5-9CB0-A4D4C66EC610}"/>
              </a:ext>
            </a:extLst>
          </p:cNvPr>
          <p:cNvSpPr>
            <a:spLocks noGrp="1"/>
          </p:cNvSpPr>
          <p:nvPr/>
        </p:nvSpPr>
        <p:spPr>
          <a:xfrm>
            <a:off x="2495550" y="4572000"/>
            <a:ext cx="3714750" cy="266700"/>
          </a:xfrm>
          <a:prstGeom prst="rect">
            <a:avLst/>
          </a:prstGeom>
          <a:noFill/>
          <a:ln w="0">
            <a:noFill/>
            <a:prstDash val="solid"/>
          </a:ln>
        </p:spPr>
        <p:txBody>
          <a:bodyPr anchor="ctr"/>
          <a:lstStyle/>
          <a:p>
            <a:pPr algn="l">
              <a:defRPr sz="1200" b="0">
                <a:solidFill>
                  <a:srgbClr val="5E6B78"/>
                </a:solidFill>
              </a:defRPr>
            </a:pPr>
            <a:r>
              <a:rPr sz="1200" b="0">
                <a:solidFill>
                  <a:srgbClr val="5E6B78"/>
                </a:solidFill>
              </a:rPr>
              <a:t>5 near-term platform-buying opportunities</a:t>
            </a:r>
          </a:p>
        </p:txBody>
      </p:sp>
      <p:sp>
        <p:nvSpPr>
          <p:cNvPr id="111" name="Rectangle 110">
            <a:extLst>
              <a:ext uri="{FF2B5EF4-FFF2-40B4-BE49-F238E27FC236}">
                <a16:creationId xmlns:a16="http://schemas.microsoft.com/office/drawing/2014/main" id="{8D961F99-AE48-4260-98BF-58AC17D885B7}"/>
              </a:ext>
            </a:extLst>
          </p:cNvPr>
          <p:cNvSpPr>
            <a:spLocks noGrp="1"/>
          </p:cNvSpPr>
          <p:nvPr/>
        </p:nvSpPr>
        <p:spPr>
          <a:xfrm>
            <a:off x="571500" y="4886325"/>
            <a:ext cx="10744200" cy="9525"/>
          </a:xfrm>
          <a:prstGeom prst="rect">
            <a:avLst/>
          </a:prstGeom>
          <a:solidFill>
            <a:srgbClr val="D8DEE6"/>
          </a:solidFill>
          <a:ln w="0">
            <a:solidFill>
              <a:srgbClr val="D8DEE6"/>
            </a:solidFill>
            <a:prstDash val="solid"/>
          </a:ln>
        </p:spPr>
        <p:txBody>
          <a:bodyPr/>
          <a:lstStyle/>
          <a:p>
            <a:endParaRPr lang="en-IN"/>
          </a:p>
        </p:txBody>
      </p:sp>
      <p:pic>
        <p:nvPicPr>
          <p:cNvPr id="165" name="Picture 164"/>
          <p:cNvPicPr>
            <a:picLocks noChangeAspect="1"/>
          </p:cNvPicPr>
          <p:nvPr/>
        </p:nvPicPr>
        <p:blipFill>
          <a:blip r:embed="rId16"/>
          <a:stretch/>
        </p:blipFill>
        <p:spPr>
          <a:xfrm>
            <a:off x="1369695" y="5000625"/>
            <a:ext cx="552450" cy="552450"/>
          </a:xfrm>
          <a:prstGeom prst="rect">
            <a:avLst/>
          </a:prstGeom>
        </p:spPr>
      </p:pic>
      <p:sp>
        <p:nvSpPr>
          <p:cNvPr id="113" name="Rectangle 112">
            <a:extLst>
              <a:ext uri="{FF2B5EF4-FFF2-40B4-BE49-F238E27FC236}">
                <a16:creationId xmlns:a16="http://schemas.microsoft.com/office/drawing/2014/main" id="{47145036-3EAA-4E02-BB20-088C4C74A72E}"/>
              </a:ext>
            </a:extLst>
          </p:cNvPr>
          <p:cNvSpPr>
            <a:spLocks noGrp="1"/>
          </p:cNvSpPr>
          <p:nvPr/>
        </p:nvSpPr>
        <p:spPr>
          <a:xfrm>
            <a:off x="600075" y="5619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Cholamandalam</a:t>
            </a:r>
          </a:p>
        </p:txBody>
      </p:sp>
      <p:pic>
        <p:nvPicPr>
          <p:cNvPr id="167" name="Picture 166"/>
          <p:cNvPicPr>
            <a:picLocks noChangeAspect="1"/>
          </p:cNvPicPr>
          <p:nvPr/>
        </p:nvPicPr>
        <p:blipFill>
          <a:blip r:embed="rId17"/>
          <a:stretch/>
        </p:blipFill>
        <p:spPr>
          <a:xfrm>
            <a:off x="3518535" y="5000625"/>
            <a:ext cx="552450" cy="552450"/>
          </a:xfrm>
          <a:prstGeom prst="rect">
            <a:avLst/>
          </a:prstGeom>
        </p:spPr>
      </p:pic>
      <p:sp>
        <p:nvSpPr>
          <p:cNvPr id="115" name="Rectangle 114">
            <a:extLst>
              <a:ext uri="{FF2B5EF4-FFF2-40B4-BE49-F238E27FC236}">
                <a16:creationId xmlns:a16="http://schemas.microsoft.com/office/drawing/2014/main" id="{256762C5-FF16-4407-A1A7-874D4661FCAF}"/>
              </a:ext>
            </a:extLst>
          </p:cNvPr>
          <p:cNvSpPr>
            <a:spLocks noGrp="1"/>
          </p:cNvSpPr>
          <p:nvPr/>
        </p:nvSpPr>
        <p:spPr>
          <a:xfrm>
            <a:off x="2748915" y="5619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L&amp;T Finance</a:t>
            </a:r>
          </a:p>
        </p:txBody>
      </p:sp>
      <p:pic>
        <p:nvPicPr>
          <p:cNvPr id="169" name="Picture 168"/>
          <p:cNvPicPr>
            <a:picLocks noChangeAspect="1"/>
          </p:cNvPicPr>
          <p:nvPr/>
        </p:nvPicPr>
        <p:blipFill>
          <a:blip r:embed="rId18"/>
          <a:stretch/>
        </p:blipFill>
        <p:spPr>
          <a:xfrm>
            <a:off x="5667375" y="5000625"/>
            <a:ext cx="552450" cy="552450"/>
          </a:xfrm>
          <a:prstGeom prst="rect">
            <a:avLst/>
          </a:prstGeom>
        </p:spPr>
      </p:pic>
      <p:sp>
        <p:nvSpPr>
          <p:cNvPr id="117" name="Rectangle 116">
            <a:extLst>
              <a:ext uri="{FF2B5EF4-FFF2-40B4-BE49-F238E27FC236}">
                <a16:creationId xmlns:a16="http://schemas.microsoft.com/office/drawing/2014/main" id="{9A1E2157-AA7D-4874-9AD4-260A2F202189}"/>
              </a:ext>
            </a:extLst>
          </p:cNvPr>
          <p:cNvSpPr>
            <a:spLocks noGrp="1"/>
          </p:cNvSpPr>
          <p:nvPr/>
        </p:nvSpPr>
        <p:spPr>
          <a:xfrm>
            <a:off x="4897755" y="5619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Aditya Birla Capital</a:t>
            </a:r>
          </a:p>
        </p:txBody>
      </p:sp>
      <p:pic>
        <p:nvPicPr>
          <p:cNvPr id="171" name="Picture 170"/>
          <p:cNvPicPr>
            <a:picLocks noChangeAspect="1"/>
          </p:cNvPicPr>
          <p:nvPr/>
        </p:nvPicPr>
        <p:blipFill>
          <a:blip r:embed="rId19"/>
          <a:stretch/>
        </p:blipFill>
        <p:spPr>
          <a:xfrm>
            <a:off x="7816215" y="5000625"/>
            <a:ext cx="552450" cy="552450"/>
          </a:xfrm>
          <a:prstGeom prst="rect">
            <a:avLst/>
          </a:prstGeom>
        </p:spPr>
      </p:pic>
      <p:sp>
        <p:nvSpPr>
          <p:cNvPr id="119" name="Rectangle 118">
            <a:extLst>
              <a:ext uri="{FF2B5EF4-FFF2-40B4-BE49-F238E27FC236}">
                <a16:creationId xmlns:a16="http://schemas.microsoft.com/office/drawing/2014/main" id="{7E726E35-08E7-49D5-A2F1-DEC142DA9E2A}"/>
              </a:ext>
            </a:extLst>
          </p:cNvPr>
          <p:cNvSpPr>
            <a:spLocks noGrp="1"/>
          </p:cNvSpPr>
          <p:nvPr/>
        </p:nvSpPr>
        <p:spPr>
          <a:xfrm>
            <a:off x="7046595" y="5619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Tata Capital</a:t>
            </a:r>
          </a:p>
        </p:txBody>
      </p:sp>
      <p:pic>
        <p:nvPicPr>
          <p:cNvPr id="173" name="Picture 172"/>
          <p:cNvPicPr>
            <a:picLocks noChangeAspect="1"/>
          </p:cNvPicPr>
          <p:nvPr/>
        </p:nvPicPr>
        <p:blipFill>
          <a:blip r:embed="rId20"/>
          <a:stretch/>
        </p:blipFill>
        <p:spPr>
          <a:xfrm>
            <a:off x="9965055" y="5000625"/>
            <a:ext cx="552450" cy="552450"/>
          </a:xfrm>
          <a:prstGeom prst="rect">
            <a:avLst/>
          </a:prstGeom>
        </p:spPr>
      </p:pic>
      <p:sp>
        <p:nvSpPr>
          <p:cNvPr id="121" name="Rectangle 120">
            <a:extLst>
              <a:ext uri="{FF2B5EF4-FFF2-40B4-BE49-F238E27FC236}">
                <a16:creationId xmlns:a16="http://schemas.microsoft.com/office/drawing/2014/main" id="{9C891C8F-1CEC-4378-9C03-EFCE4010B672}"/>
              </a:ext>
            </a:extLst>
          </p:cNvPr>
          <p:cNvSpPr>
            <a:spLocks noGrp="1"/>
          </p:cNvSpPr>
          <p:nvPr/>
        </p:nvSpPr>
        <p:spPr>
          <a:xfrm>
            <a:off x="9195435" y="5619750"/>
            <a:ext cx="2091690" cy="361950"/>
          </a:xfrm>
          <a:prstGeom prst="rect">
            <a:avLst/>
          </a:prstGeom>
          <a:noFill/>
          <a:ln w="0">
            <a:noFill/>
            <a:prstDash val="solid"/>
          </a:ln>
        </p:spPr>
        <p:txBody>
          <a:bodyPr anchor="ctr"/>
          <a:lstStyle/>
          <a:p>
            <a:pPr algn="ctr">
              <a:defRPr sz="1200" b="1">
                <a:solidFill>
                  <a:srgbClr val="0B1F3A"/>
                </a:solidFill>
              </a:defRPr>
            </a:pPr>
            <a:r>
              <a:rPr sz="1200" b="1">
                <a:solidFill>
                  <a:srgbClr val="0B1F3A"/>
                </a:solidFill>
              </a:rPr>
              <a:t>Godrej Capital</a:t>
            </a:r>
          </a:p>
        </p:txBody>
      </p:sp>
    </p:spTree>
    <p:extLst>
      <p:ext uri="{BB962C8B-B14F-4D97-AF65-F5344CB8AC3E}">
        <p14:creationId xmlns:p14="http://schemas.microsoft.com/office/powerpoint/2010/main" val="586217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eyebrow">
            <a:extLst>
              <a:ext uri="{FF2B5EF4-FFF2-40B4-BE49-F238E27FC236}">
                <a16:creationId xmlns:a16="http://schemas.microsoft.com/office/drawing/2014/main" id="{21DF5737-C9A5-489F-93C6-D13D22D48540}"/>
              </a:ext>
            </a:extLst>
          </p:cNvPr>
          <p:cNvSpPr>
            <a:spLocks noGrp="1"/>
          </p:cNvSpPr>
          <p:nvPr/>
        </p:nvSpPr>
        <p:spPr>
          <a:xfrm>
            <a:off x="419100" y="266700"/>
            <a:ext cx="4953000" cy="190500"/>
          </a:xfrm>
          <a:prstGeom prst="rect">
            <a:avLst/>
          </a:prstGeom>
          <a:noFill/>
          <a:ln w="0">
            <a:noFill/>
            <a:prstDash val="solid"/>
          </a:ln>
        </p:spPr>
        <p:txBody>
          <a:bodyPr wrap="square"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FUTURE PROSPECT MARKETS  |  GOLD LOANS</a:t>
            </a:r>
          </a:p>
        </p:txBody>
      </p:sp>
      <p:sp>
        <p:nvSpPr>
          <p:cNvPr id="2" name="takeaway-title">
            <a:extLst>
              <a:ext uri="{FF2B5EF4-FFF2-40B4-BE49-F238E27FC236}">
                <a16:creationId xmlns:a16="http://schemas.microsoft.com/office/drawing/2014/main" id="{07A8E6B3-7308-4354-8F59-AE3934C8FA49}"/>
              </a:ext>
            </a:extLst>
          </p:cNvPr>
          <p:cNvSpPr>
            <a:spLocks noGrp="1"/>
          </p:cNvSpPr>
          <p:nvPr/>
        </p:nvSpPr>
        <p:spPr>
          <a:xfrm>
            <a:off x="419100" y="495300"/>
            <a:ext cx="11144250" cy="514350"/>
          </a:xfrm>
          <a:prstGeom prst="rect">
            <a:avLst/>
          </a:prstGeom>
          <a:noFill/>
          <a:ln w="0">
            <a:noFill/>
            <a:prstDash val="solid"/>
          </a:ln>
        </p:spPr>
        <p:txBody>
          <a:bodyPr wrap="square" lIns="0" tIns="0" rIns="0" bIns="0" anchor="t">
            <a:noAutofit/>
          </a:bodyPr>
          <a:lstStyle/>
          <a:p>
            <a:pPr algn="l">
              <a:buNone/>
              <a:defRPr sz="2700" b="1">
                <a:solidFill>
                  <a:srgbClr val="071B33"/>
                </a:solidFill>
                <a:latin typeface="Arial"/>
                <a:ea typeface="Arial"/>
                <a:cs typeface="Arial"/>
              </a:defRPr>
            </a:pPr>
            <a:r>
              <a:rPr sz="2700" b="1">
                <a:solidFill>
                  <a:srgbClr val="071B33"/>
                </a:solidFill>
                <a:latin typeface="Arial"/>
                <a:ea typeface="Arial"/>
                <a:cs typeface="Arial"/>
              </a:rPr>
              <a:t>UAE and Saudi should lead the next gold-loan expansion wave</a:t>
            </a:r>
          </a:p>
        </p:txBody>
      </p:sp>
      <p:sp>
        <p:nvSpPr>
          <p:cNvPr id="3" name="subtitle">
            <a:extLst>
              <a:ext uri="{FF2B5EF4-FFF2-40B4-BE49-F238E27FC236}">
                <a16:creationId xmlns:a16="http://schemas.microsoft.com/office/drawing/2014/main" id="{0170A5DB-7F62-445C-947D-4DB965114296}"/>
              </a:ext>
            </a:extLst>
          </p:cNvPr>
          <p:cNvSpPr>
            <a:spLocks noGrp="1"/>
          </p:cNvSpPr>
          <p:nvPr/>
        </p:nvSpPr>
        <p:spPr>
          <a:xfrm>
            <a:off x="419100" y="1066800"/>
            <a:ext cx="11144250" cy="266700"/>
          </a:xfrm>
          <a:prstGeom prst="rect">
            <a:avLst/>
          </a:prstGeom>
          <a:noFill/>
          <a:ln w="0">
            <a:noFill/>
            <a:prstDash val="solid"/>
          </a:ln>
        </p:spPr>
        <p:txBody>
          <a:bodyPr wrap="square" lIns="0" tIns="0" rIns="0" bIns="0" anchor="t">
            <a:normAutofit/>
          </a:bodyPr>
          <a:lstStyle/>
          <a:p>
            <a:pPr algn="l">
              <a:buNone/>
              <a:defRPr sz="1350">
                <a:solidFill>
                  <a:srgbClr val="5B6573"/>
                </a:solidFill>
                <a:latin typeface="Arial"/>
                <a:ea typeface="Arial"/>
                <a:cs typeface="Arial"/>
              </a:defRPr>
            </a:pPr>
            <a:r>
              <a:rPr sz="1350">
                <a:solidFill>
                  <a:srgbClr val="5B6573"/>
                </a:solidFill>
                <a:latin typeface="Arial"/>
                <a:ea typeface="Arial"/>
                <a:cs typeface="Arial"/>
              </a:rPr>
              <a:t>Vietnam and Türkiye are attractive follow-ons; mature Asian markets are system-modernisation plays.</a:t>
            </a:r>
          </a:p>
        </p:txBody>
      </p:sp>
      <p:sp>
        <p:nvSpPr>
          <p:cNvPr id="4" name="matrix-frame">
            <a:extLst>
              <a:ext uri="{FF2B5EF4-FFF2-40B4-BE49-F238E27FC236}">
                <a16:creationId xmlns:a16="http://schemas.microsoft.com/office/drawing/2014/main" id="{E0A11A63-FE45-4BE3-A78C-08D8A8C4B317}"/>
              </a:ext>
            </a:extLst>
          </p:cNvPr>
          <p:cNvSpPr>
            <a:spLocks noGrp="1"/>
          </p:cNvSpPr>
          <p:nvPr/>
        </p:nvSpPr>
        <p:spPr>
          <a:xfrm>
            <a:off x="533400" y="1571625"/>
            <a:ext cx="6572250" cy="4000500"/>
          </a:xfrm>
          <a:prstGeom prst="rect">
            <a:avLst/>
          </a:prstGeom>
          <a:solidFill>
            <a:srgbClr val="FFFFFF"/>
          </a:solidFill>
          <a:ln w="9525">
            <a:solidFill>
              <a:srgbClr val="D1D5DB"/>
            </a:solidFill>
            <a:prstDash val="solid"/>
          </a:ln>
        </p:spPr>
        <p:txBody>
          <a:bodyPr/>
          <a:lstStyle/>
          <a:p>
            <a:endParaRPr lang="en-IN"/>
          </a:p>
        </p:txBody>
      </p:sp>
      <p:sp>
        <p:nvSpPr>
          <p:cNvPr id="5" name="matrix-label-y">
            <a:extLst>
              <a:ext uri="{FF2B5EF4-FFF2-40B4-BE49-F238E27FC236}">
                <a16:creationId xmlns:a16="http://schemas.microsoft.com/office/drawing/2014/main" id="{2D089C3F-0E00-4972-A6B9-44A75CAFCE9E}"/>
              </a:ext>
            </a:extLst>
          </p:cNvPr>
          <p:cNvSpPr>
            <a:spLocks noGrp="1"/>
          </p:cNvSpPr>
          <p:nvPr/>
        </p:nvSpPr>
        <p:spPr>
          <a:xfrm>
            <a:off x="723900" y="1695450"/>
            <a:ext cx="2571750" cy="209550"/>
          </a:xfrm>
          <a:prstGeom prst="rect">
            <a:avLst/>
          </a:prstGeom>
          <a:noFill/>
          <a:ln w="0">
            <a:noFill/>
            <a:prstDash val="solid"/>
          </a:ln>
        </p:spPr>
        <p:txBody>
          <a:bodyPr wrap="square" lIns="0" tIns="0" rIns="0" bIns="0" anchor="t">
            <a:normAutofit/>
          </a:bodyPr>
          <a:lstStyle/>
          <a:p>
            <a:pPr algn="l">
              <a:buNone/>
              <a:defRPr sz="1050" b="1">
                <a:solidFill>
                  <a:srgbClr val="475569"/>
                </a:solidFill>
                <a:latin typeface="Arial"/>
                <a:ea typeface="Arial"/>
                <a:cs typeface="Arial"/>
              </a:defRPr>
            </a:pPr>
            <a:r>
              <a:rPr sz="1050" b="1">
                <a:solidFill>
                  <a:srgbClr val="475569"/>
                </a:solidFill>
                <a:latin typeface="Arial"/>
                <a:ea typeface="Arial"/>
                <a:cs typeface="Arial"/>
              </a:rPr>
              <a:t>GREENFIELD POTENTIAL  ↑</a:t>
            </a:r>
          </a:p>
        </p:txBody>
      </p:sp>
      <p:sp>
        <p:nvSpPr>
          <p:cNvPr id="6" name="q-validate">
            <a:extLst>
              <a:ext uri="{FF2B5EF4-FFF2-40B4-BE49-F238E27FC236}">
                <a16:creationId xmlns:a16="http://schemas.microsoft.com/office/drawing/2014/main" id="{4EB16513-DCC8-4E1F-91F0-CCBC25B1DEB5}"/>
              </a:ext>
            </a:extLst>
          </p:cNvPr>
          <p:cNvSpPr>
            <a:spLocks noGrp="1"/>
          </p:cNvSpPr>
          <p:nvPr/>
        </p:nvSpPr>
        <p:spPr>
          <a:xfrm>
            <a:off x="990600" y="2076450"/>
            <a:ext cx="2724150" cy="1409700"/>
          </a:xfrm>
          <a:prstGeom prst="rect">
            <a:avLst/>
          </a:prstGeom>
          <a:solidFill>
            <a:srgbClr val="F6F7F8"/>
          </a:solidFill>
          <a:ln w="0">
            <a:noFill/>
            <a:prstDash val="solid"/>
          </a:ln>
        </p:spPr>
        <p:txBody>
          <a:bodyPr/>
          <a:lstStyle/>
          <a:p>
            <a:endParaRPr lang="en-IN"/>
          </a:p>
        </p:txBody>
      </p:sp>
      <p:sp>
        <p:nvSpPr>
          <p:cNvPr id="7" name="q-scale">
            <a:extLst>
              <a:ext uri="{FF2B5EF4-FFF2-40B4-BE49-F238E27FC236}">
                <a16:creationId xmlns:a16="http://schemas.microsoft.com/office/drawing/2014/main" id="{1A2A1DAA-0C65-4C88-BC4A-C3B4A60B6558}"/>
              </a:ext>
            </a:extLst>
          </p:cNvPr>
          <p:cNvSpPr>
            <a:spLocks noGrp="1"/>
          </p:cNvSpPr>
          <p:nvPr/>
        </p:nvSpPr>
        <p:spPr>
          <a:xfrm>
            <a:off x="3714750" y="2076450"/>
            <a:ext cx="2724150" cy="1409700"/>
          </a:xfrm>
          <a:prstGeom prst="rect">
            <a:avLst/>
          </a:prstGeom>
          <a:solidFill>
            <a:srgbClr val="E8F3FF"/>
          </a:solidFill>
          <a:ln w="0">
            <a:noFill/>
            <a:prstDash val="solid"/>
          </a:ln>
        </p:spPr>
        <p:txBody>
          <a:bodyPr/>
          <a:lstStyle/>
          <a:p>
            <a:endParaRPr lang="en-IN"/>
          </a:p>
        </p:txBody>
      </p:sp>
      <p:sp>
        <p:nvSpPr>
          <p:cNvPr id="8" name="q-niche">
            <a:extLst>
              <a:ext uri="{FF2B5EF4-FFF2-40B4-BE49-F238E27FC236}">
                <a16:creationId xmlns:a16="http://schemas.microsoft.com/office/drawing/2014/main" id="{EDCD74C9-F031-4FCE-B8D8-C4CDEF037846}"/>
              </a:ext>
            </a:extLst>
          </p:cNvPr>
          <p:cNvSpPr>
            <a:spLocks noGrp="1"/>
          </p:cNvSpPr>
          <p:nvPr/>
        </p:nvSpPr>
        <p:spPr>
          <a:xfrm>
            <a:off x="990600" y="3486150"/>
            <a:ext cx="2724150" cy="1409700"/>
          </a:xfrm>
          <a:prstGeom prst="rect">
            <a:avLst/>
          </a:prstGeom>
          <a:solidFill>
            <a:srgbClr val="FAFAFA"/>
          </a:solidFill>
          <a:ln w="0">
            <a:noFill/>
            <a:prstDash val="solid"/>
          </a:ln>
        </p:spPr>
        <p:txBody>
          <a:bodyPr/>
          <a:lstStyle/>
          <a:p>
            <a:endParaRPr lang="en-IN"/>
          </a:p>
        </p:txBody>
      </p:sp>
      <p:sp>
        <p:nvSpPr>
          <p:cNvPr id="9" name="q-modernise">
            <a:extLst>
              <a:ext uri="{FF2B5EF4-FFF2-40B4-BE49-F238E27FC236}">
                <a16:creationId xmlns:a16="http://schemas.microsoft.com/office/drawing/2014/main" id="{B6FF7ECD-7ED4-4ECD-9E9D-794097190D89}"/>
              </a:ext>
            </a:extLst>
          </p:cNvPr>
          <p:cNvSpPr>
            <a:spLocks noGrp="1"/>
          </p:cNvSpPr>
          <p:nvPr/>
        </p:nvSpPr>
        <p:spPr>
          <a:xfrm>
            <a:off x="3714750" y="3486150"/>
            <a:ext cx="2724150" cy="1409700"/>
          </a:xfrm>
          <a:prstGeom prst="rect">
            <a:avLst/>
          </a:prstGeom>
          <a:solidFill>
            <a:srgbClr val="F0F3F6"/>
          </a:solidFill>
          <a:ln w="0">
            <a:noFill/>
            <a:prstDash val="solid"/>
          </a:ln>
        </p:spPr>
        <p:txBody>
          <a:bodyPr/>
          <a:lstStyle/>
          <a:p>
            <a:endParaRPr lang="en-IN"/>
          </a:p>
        </p:txBody>
      </p:sp>
      <p:sp>
        <p:nvSpPr>
          <p:cNvPr id="10" name="matrix-x-axis">
            <a:extLst>
              <a:ext uri="{FF2B5EF4-FFF2-40B4-BE49-F238E27FC236}">
                <a16:creationId xmlns:a16="http://schemas.microsoft.com/office/drawing/2014/main" id="{8E2B50D3-59CE-4C94-A101-F992520C57D8}"/>
              </a:ext>
            </a:extLst>
          </p:cNvPr>
          <p:cNvSpPr>
            <a:spLocks noGrp="1"/>
          </p:cNvSpPr>
          <p:nvPr/>
        </p:nvSpPr>
        <p:spPr>
          <a:xfrm>
            <a:off x="990600" y="4895850"/>
            <a:ext cx="5448300" cy="0"/>
          </a:xfrm>
          <a:prstGeom prst="line">
            <a:avLst/>
          </a:prstGeom>
          <a:noFill/>
          <a:ln w="13335">
            <a:solidFill>
              <a:srgbClr val="7B8491"/>
            </a:solidFill>
            <a:prstDash val="solid"/>
          </a:ln>
        </p:spPr>
        <p:txBody>
          <a:bodyPr/>
          <a:lstStyle/>
          <a:p>
            <a:endParaRPr lang="en-IN"/>
          </a:p>
        </p:txBody>
      </p:sp>
      <p:sp>
        <p:nvSpPr>
          <p:cNvPr id="11" name="matrix-y-axis">
            <a:extLst>
              <a:ext uri="{FF2B5EF4-FFF2-40B4-BE49-F238E27FC236}">
                <a16:creationId xmlns:a16="http://schemas.microsoft.com/office/drawing/2014/main" id="{154C440C-53B2-416A-8042-6E7735FD61D8}"/>
              </a:ext>
            </a:extLst>
          </p:cNvPr>
          <p:cNvSpPr>
            <a:spLocks noGrp="1"/>
          </p:cNvSpPr>
          <p:nvPr/>
        </p:nvSpPr>
        <p:spPr>
          <a:xfrm>
            <a:off x="990600" y="2076450"/>
            <a:ext cx="0" cy="2819400"/>
          </a:xfrm>
          <a:prstGeom prst="line">
            <a:avLst/>
          </a:prstGeom>
          <a:noFill/>
          <a:ln w="13335">
            <a:solidFill>
              <a:srgbClr val="7B8491"/>
            </a:solidFill>
            <a:prstDash val="solid"/>
          </a:ln>
        </p:spPr>
        <p:txBody>
          <a:bodyPr/>
          <a:lstStyle/>
          <a:p>
            <a:endParaRPr lang="en-IN"/>
          </a:p>
        </p:txBody>
      </p:sp>
      <p:sp>
        <p:nvSpPr>
          <p:cNvPr id="12" name="matrix-v-mid">
            <a:extLst>
              <a:ext uri="{FF2B5EF4-FFF2-40B4-BE49-F238E27FC236}">
                <a16:creationId xmlns:a16="http://schemas.microsoft.com/office/drawing/2014/main" id="{E511E4FE-99F3-4EDA-981F-11403E5AF99D}"/>
              </a:ext>
            </a:extLst>
          </p:cNvPr>
          <p:cNvSpPr>
            <a:spLocks noGrp="1"/>
          </p:cNvSpPr>
          <p:nvPr/>
        </p:nvSpPr>
        <p:spPr>
          <a:xfrm>
            <a:off x="3714750" y="2076450"/>
            <a:ext cx="0" cy="2819400"/>
          </a:xfrm>
          <a:prstGeom prst="line">
            <a:avLst/>
          </a:prstGeom>
          <a:noFill/>
          <a:ln w="9525">
            <a:solidFill>
              <a:srgbClr val="B8BCC4"/>
            </a:solidFill>
            <a:prstDash val="solid"/>
          </a:ln>
        </p:spPr>
        <p:txBody>
          <a:bodyPr/>
          <a:lstStyle/>
          <a:p>
            <a:endParaRPr lang="en-IN"/>
          </a:p>
        </p:txBody>
      </p:sp>
      <p:sp>
        <p:nvSpPr>
          <p:cNvPr id="13" name="matrix-h-mid">
            <a:extLst>
              <a:ext uri="{FF2B5EF4-FFF2-40B4-BE49-F238E27FC236}">
                <a16:creationId xmlns:a16="http://schemas.microsoft.com/office/drawing/2014/main" id="{4F64E004-9431-417B-9190-25ACC3BB79A6}"/>
              </a:ext>
            </a:extLst>
          </p:cNvPr>
          <p:cNvSpPr>
            <a:spLocks noGrp="1"/>
          </p:cNvSpPr>
          <p:nvPr/>
        </p:nvSpPr>
        <p:spPr>
          <a:xfrm>
            <a:off x="990600" y="3486150"/>
            <a:ext cx="5448300" cy="0"/>
          </a:xfrm>
          <a:prstGeom prst="line">
            <a:avLst/>
          </a:prstGeom>
          <a:noFill/>
          <a:ln w="9525">
            <a:solidFill>
              <a:srgbClr val="B8BCC4"/>
            </a:solidFill>
            <a:prstDash val="solid"/>
          </a:ln>
        </p:spPr>
        <p:txBody>
          <a:bodyPr/>
          <a:lstStyle/>
          <a:p>
            <a:endParaRPr lang="en-IN"/>
          </a:p>
        </p:txBody>
      </p:sp>
      <p:sp>
        <p:nvSpPr>
          <p:cNvPr id="14" name="q-label-validate">
            <a:extLst>
              <a:ext uri="{FF2B5EF4-FFF2-40B4-BE49-F238E27FC236}">
                <a16:creationId xmlns:a16="http://schemas.microsoft.com/office/drawing/2014/main" id="{01B92EB1-DE7B-4B1B-8D63-5281FD5CD9A3}"/>
              </a:ext>
            </a:extLst>
          </p:cNvPr>
          <p:cNvSpPr>
            <a:spLocks noGrp="1"/>
          </p:cNvSpPr>
          <p:nvPr/>
        </p:nvSpPr>
        <p:spPr>
          <a:xfrm>
            <a:off x="1104900" y="2162175"/>
            <a:ext cx="1047750" cy="190500"/>
          </a:xfrm>
          <a:prstGeom prst="rect">
            <a:avLst/>
          </a:prstGeom>
          <a:noFill/>
          <a:ln w="0">
            <a:noFill/>
            <a:prstDash val="solid"/>
          </a:ln>
        </p:spPr>
        <p:txBody>
          <a:bodyPr wrap="square" lIns="0" tIns="0" rIns="0" bIns="0" anchor="t">
            <a:normAutofit/>
          </a:bodyPr>
          <a:lstStyle/>
          <a:p>
            <a:pPr algn="l">
              <a:buNone/>
              <a:defRPr sz="975" b="1">
                <a:solidFill>
                  <a:srgbClr val="7B8491"/>
                </a:solidFill>
                <a:latin typeface="Arial"/>
                <a:ea typeface="Arial"/>
                <a:cs typeface="Arial"/>
              </a:defRPr>
            </a:pPr>
            <a:r>
              <a:rPr sz="975" b="1">
                <a:solidFill>
                  <a:srgbClr val="7B8491"/>
                </a:solidFill>
                <a:latin typeface="Arial"/>
                <a:ea typeface="Arial"/>
                <a:cs typeface="Arial"/>
              </a:rPr>
              <a:t>VALIDATE</a:t>
            </a:r>
          </a:p>
        </p:txBody>
      </p:sp>
      <p:sp>
        <p:nvSpPr>
          <p:cNvPr id="15" name="q-label-scale">
            <a:extLst>
              <a:ext uri="{FF2B5EF4-FFF2-40B4-BE49-F238E27FC236}">
                <a16:creationId xmlns:a16="http://schemas.microsoft.com/office/drawing/2014/main" id="{DDDD4E6E-A138-405E-A343-B6F537A8691D}"/>
              </a:ext>
            </a:extLst>
          </p:cNvPr>
          <p:cNvSpPr>
            <a:spLocks noGrp="1"/>
          </p:cNvSpPr>
          <p:nvPr/>
        </p:nvSpPr>
        <p:spPr>
          <a:xfrm>
            <a:off x="3829050" y="2162175"/>
            <a:ext cx="1238250" cy="190500"/>
          </a:xfrm>
          <a:prstGeom prst="rect">
            <a:avLst/>
          </a:prstGeom>
          <a:noFill/>
          <a:ln w="0">
            <a:noFill/>
            <a:prstDash val="solid"/>
          </a:ln>
        </p:spPr>
        <p:txBody>
          <a:bodyPr wrap="square" lIns="0" tIns="0" rIns="0" bIns="0" anchor="t">
            <a:normAutofit/>
          </a:bodyPr>
          <a:lstStyle/>
          <a:p>
            <a:pPr algn="l">
              <a:buNone/>
              <a:defRPr sz="975" b="1">
                <a:solidFill>
                  <a:srgbClr val="1F6FD5"/>
                </a:solidFill>
                <a:latin typeface="Arial"/>
                <a:ea typeface="Arial"/>
                <a:cs typeface="Arial"/>
              </a:defRPr>
            </a:pPr>
            <a:r>
              <a:rPr sz="975" b="1">
                <a:solidFill>
                  <a:srgbClr val="1F6FD5"/>
                </a:solidFill>
                <a:latin typeface="Arial"/>
                <a:ea typeface="Arial"/>
                <a:cs typeface="Arial"/>
              </a:rPr>
              <a:t>SCALE NOW</a:t>
            </a:r>
          </a:p>
        </p:txBody>
      </p:sp>
      <p:sp>
        <p:nvSpPr>
          <p:cNvPr id="16" name="q-label-niche">
            <a:extLst>
              <a:ext uri="{FF2B5EF4-FFF2-40B4-BE49-F238E27FC236}">
                <a16:creationId xmlns:a16="http://schemas.microsoft.com/office/drawing/2014/main" id="{27A532B7-EB77-4C47-8D90-BF76F2404EB8}"/>
              </a:ext>
            </a:extLst>
          </p:cNvPr>
          <p:cNvSpPr>
            <a:spLocks noGrp="1"/>
          </p:cNvSpPr>
          <p:nvPr/>
        </p:nvSpPr>
        <p:spPr>
          <a:xfrm>
            <a:off x="1104900" y="3581400"/>
            <a:ext cx="1428750" cy="190500"/>
          </a:xfrm>
          <a:prstGeom prst="rect">
            <a:avLst/>
          </a:prstGeom>
          <a:noFill/>
          <a:ln w="0">
            <a:noFill/>
            <a:prstDash val="solid"/>
          </a:ln>
        </p:spPr>
        <p:txBody>
          <a:bodyPr wrap="square" lIns="0" tIns="0" rIns="0" bIns="0" anchor="t">
            <a:normAutofit/>
          </a:bodyPr>
          <a:lstStyle/>
          <a:p>
            <a:pPr algn="l">
              <a:buNone/>
              <a:defRPr sz="975" b="1">
                <a:solidFill>
                  <a:srgbClr val="9299A3"/>
                </a:solidFill>
                <a:latin typeface="Arial"/>
                <a:ea typeface="Arial"/>
                <a:cs typeface="Arial"/>
              </a:defRPr>
            </a:pPr>
            <a:r>
              <a:rPr sz="975" b="1">
                <a:solidFill>
                  <a:srgbClr val="9299A3"/>
                </a:solidFill>
                <a:latin typeface="Arial"/>
                <a:ea typeface="Arial"/>
                <a:cs typeface="Arial"/>
              </a:rPr>
              <a:t>NICHE / DEFER</a:t>
            </a:r>
          </a:p>
        </p:txBody>
      </p:sp>
      <p:sp>
        <p:nvSpPr>
          <p:cNvPr id="17" name="q-label-modernise">
            <a:extLst>
              <a:ext uri="{FF2B5EF4-FFF2-40B4-BE49-F238E27FC236}">
                <a16:creationId xmlns:a16="http://schemas.microsoft.com/office/drawing/2014/main" id="{816449A7-CFD2-451E-A46D-B7C155072784}"/>
              </a:ext>
            </a:extLst>
          </p:cNvPr>
          <p:cNvSpPr>
            <a:spLocks noGrp="1"/>
          </p:cNvSpPr>
          <p:nvPr/>
        </p:nvSpPr>
        <p:spPr>
          <a:xfrm>
            <a:off x="3829050" y="3581400"/>
            <a:ext cx="1238250" cy="190500"/>
          </a:xfrm>
          <a:prstGeom prst="rect">
            <a:avLst/>
          </a:prstGeom>
          <a:noFill/>
          <a:ln w="0">
            <a:noFill/>
            <a:prstDash val="solid"/>
          </a:ln>
        </p:spPr>
        <p:txBody>
          <a:bodyPr wrap="square" lIns="0" tIns="0" rIns="0" bIns="0" anchor="t">
            <a:normAutofit/>
          </a:bodyPr>
          <a:lstStyle/>
          <a:p>
            <a:pPr algn="l">
              <a:buNone/>
              <a:defRPr sz="975" b="1">
                <a:solidFill>
                  <a:srgbClr val="667085"/>
                </a:solidFill>
                <a:latin typeface="Arial"/>
                <a:ea typeface="Arial"/>
                <a:cs typeface="Arial"/>
              </a:defRPr>
            </a:pPr>
            <a:r>
              <a:rPr sz="975" b="1">
                <a:solidFill>
                  <a:srgbClr val="667085"/>
                </a:solidFill>
                <a:latin typeface="Arial"/>
                <a:ea typeface="Arial"/>
                <a:cs typeface="Arial"/>
              </a:rPr>
              <a:t>MODERNISE</a:t>
            </a:r>
          </a:p>
        </p:txBody>
      </p:sp>
      <p:sp>
        <p:nvSpPr>
          <p:cNvPr id="18" name="matrix-label-x">
            <a:extLst>
              <a:ext uri="{FF2B5EF4-FFF2-40B4-BE49-F238E27FC236}">
                <a16:creationId xmlns:a16="http://schemas.microsoft.com/office/drawing/2014/main" id="{1CC0BFF3-AE40-4813-93CA-F6F53BBFCA4F}"/>
              </a:ext>
            </a:extLst>
          </p:cNvPr>
          <p:cNvSpPr>
            <a:spLocks noGrp="1"/>
          </p:cNvSpPr>
          <p:nvPr/>
        </p:nvSpPr>
        <p:spPr>
          <a:xfrm>
            <a:off x="4210050" y="5095875"/>
            <a:ext cx="2476500" cy="209550"/>
          </a:xfrm>
          <a:prstGeom prst="rect">
            <a:avLst/>
          </a:prstGeom>
          <a:noFill/>
          <a:ln w="0">
            <a:noFill/>
            <a:prstDash val="solid"/>
          </a:ln>
        </p:spPr>
        <p:txBody>
          <a:bodyPr wrap="square" lIns="0" tIns="0" rIns="0" bIns="0" anchor="t">
            <a:normAutofit/>
          </a:bodyPr>
          <a:lstStyle/>
          <a:p>
            <a:pPr algn="r">
              <a:buNone/>
              <a:defRPr sz="1050" b="1">
                <a:solidFill>
                  <a:srgbClr val="475569"/>
                </a:solidFill>
                <a:latin typeface="Arial"/>
                <a:ea typeface="Arial"/>
                <a:cs typeface="Arial"/>
              </a:defRPr>
            </a:pPr>
            <a:r>
              <a:rPr sz="1050" b="1">
                <a:solidFill>
                  <a:srgbClr val="475569"/>
                </a:solidFill>
                <a:latin typeface="Arial"/>
                <a:ea typeface="Arial"/>
                <a:cs typeface="Arial"/>
              </a:rPr>
              <a:t>REGULATORY READINESS  →</a:t>
            </a:r>
          </a:p>
        </p:txBody>
      </p:sp>
      <p:sp>
        <p:nvSpPr>
          <p:cNvPr id="19" name="market-uae">
            <a:extLst>
              <a:ext uri="{FF2B5EF4-FFF2-40B4-BE49-F238E27FC236}">
                <a16:creationId xmlns:a16="http://schemas.microsoft.com/office/drawing/2014/main" id="{65681946-9EF8-46C2-968F-15E98CFAA90E}"/>
              </a:ext>
            </a:extLst>
          </p:cNvPr>
          <p:cNvSpPr>
            <a:spLocks noGrp="1"/>
          </p:cNvSpPr>
          <p:nvPr/>
        </p:nvSpPr>
        <p:spPr>
          <a:xfrm>
            <a:off x="5705475" y="2324100"/>
            <a:ext cx="704850" cy="704850"/>
          </a:xfrm>
          <a:prstGeom prst="ellipse">
            <a:avLst/>
          </a:prstGeom>
          <a:solidFill>
            <a:srgbClr val="0057B8"/>
          </a:solidFill>
          <a:ln w="0">
            <a:noFill/>
            <a:prstDash val="solid"/>
          </a:ln>
        </p:spPr>
        <p:txBody>
          <a:bodyPr/>
          <a:lstStyle/>
          <a:p>
            <a:endParaRPr lang="en-IN"/>
          </a:p>
        </p:txBody>
      </p:sp>
      <p:sp>
        <p:nvSpPr>
          <p:cNvPr id="20" name="market-uae-label">
            <a:extLst>
              <a:ext uri="{FF2B5EF4-FFF2-40B4-BE49-F238E27FC236}">
                <a16:creationId xmlns:a16="http://schemas.microsoft.com/office/drawing/2014/main" id="{1C4387F0-0C28-4BEF-A67B-FE4C3F1F2A9A}"/>
              </a:ext>
            </a:extLst>
          </p:cNvPr>
          <p:cNvSpPr>
            <a:spLocks noGrp="1"/>
          </p:cNvSpPr>
          <p:nvPr/>
        </p:nvSpPr>
        <p:spPr>
          <a:xfrm>
            <a:off x="5743575" y="2549652"/>
            <a:ext cx="628650" cy="161925"/>
          </a:xfrm>
          <a:prstGeom prst="rect">
            <a:avLst/>
          </a:prstGeom>
          <a:noFill/>
          <a:ln w="0">
            <a:noFill/>
            <a:prstDash val="solid"/>
          </a:ln>
        </p:spPr>
        <p:txBody>
          <a:bodyPr wrap="square" lIns="0" tIns="0" rIns="0" bIns="0" anchor="ctr">
            <a:normAutofit/>
          </a:bodyPr>
          <a:lstStyle/>
          <a:p>
            <a:pPr algn="ctr">
              <a:buNone/>
              <a:defRPr sz="938" b="1">
                <a:solidFill>
                  <a:srgbClr val="FFFFFF"/>
                </a:solidFill>
                <a:latin typeface="Arial"/>
                <a:ea typeface="Arial"/>
                <a:cs typeface="Arial"/>
              </a:defRPr>
            </a:pPr>
            <a:r>
              <a:rPr sz="938" b="1">
                <a:solidFill>
                  <a:srgbClr val="FFFFFF"/>
                </a:solidFill>
                <a:latin typeface="Arial"/>
                <a:ea typeface="Arial"/>
                <a:cs typeface="Arial"/>
              </a:rPr>
              <a:t>UAE</a:t>
            </a:r>
          </a:p>
        </p:txBody>
      </p:sp>
      <p:sp>
        <p:nvSpPr>
          <p:cNvPr id="21" name="market-uae-score">
            <a:extLst>
              <a:ext uri="{FF2B5EF4-FFF2-40B4-BE49-F238E27FC236}">
                <a16:creationId xmlns:a16="http://schemas.microsoft.com/office/drawing/2014/main" id="{F909D3CA-FEC0-460E-B21B-CF4D42FB836F}"/>
              </a:ext>
            </a:extLst>
          </p:cNvPr>
          <p:cNvSpPr>
            <a:spLocks noGrp="1"/>
          </p:cNvSpPr>
          <p:nvPr/>
        </p:nvSpPr>
        <p:spPr>
          <a:xfrm>
            <a:off x="5743575" y="2704719"/>
            <a:ext cx="628650" cy="161925"/>
          </a:xfrm>
          <a:prstGeom prst="rect">
            <a:avLst/>
          </a:prstGeom>
          <a:noFill/>
          <a:ln w="0">
            <a:noFill/>
            <a:prstDash val="solid"/>
          </a:ln>
        </p:spPr>
        <p:txBody>
          <a:bodyPr wrap="square" lIns="0" tIns="0" rIns="0" bIns="0" anchor="ctr">
            <a:normAutofit/>
          </a:bodyPr>
          <a:lstStyle/>
          <a:p>
            <a:pPr algn="ctr">
              <a:buNone/>
              <a:defRPr sz="975" b="1">
                <a:solidFill>
                  <a:srgbClr val="FFFFFF"/>
                </a:solidFill>
                <a:latin typeface="Arial"/>
                <a:ea typeface="Arial"/>
                <a:cs typeface="Arial"/>
              </a:defRPr>
            </a:pPr>
            <a:r>
              <a:rPr sz="975" b="1">
                <a:solidFill>
                  <a:srgbClr val="FFFFFF"/>
                </a:solidFill>
                <a:latin typeface="Arial"/>
                <a:ea typeface="Arial"/>
                <a:cs typeface="Arial"/>
              </a:rPr>
              <a:t>92%</a:t>
            </a:r>
          </a:p>
        </p:txBody>
      </p:sp>
      <p:sp>
        <p:nvSpPr>
          <p:cNvPr id="22" name="market-saudi">
            <a:extLst>
              <a:ext uri="{FF2B5EF4-FFF2-40B4-BE49-F238E27FC236}">
                <a16:creationId xmlns:a16="http://schemas.microsoft.com/office/drawing/2014/main" id="{FF6D92C5-FB1F-40B2-B509-C76F49946D4F}"/>
              </a:ext>
            </a:extLst>
          </p:cNvPr>
          <p:cNvSpPr>
            <a:spLocks noGrp="1"/>
          </p:cNvSpPr>
          <p:nvPr/>
        </p:nvSpPr>
        <p:spPr>
          <a:xfrm>
            <a:off x="4819650" y="2571750"/>
            <a:ext cx="762000" cy="762000"/>
          </a:xfrm>
          <a:prstGeom prst="ellipse">
            <a:avLst/>
          </a:prstGeom>
          <a:solidFill>
            <a:srgbClr val="0057B8"/>
          </a:solidFill>
          <a:ln w="0">
            <a:noFill/>
            <a:prstDash val="solid"/>
          </a:ln>
        </p:spPr>
        <p:txBody>
          <a:bodyPr/>
          <a:lstStyle/>
          <a:p>
            <a:endParaRPr lang="en-IN"/>
          </a:p>
        </p:txBody>
      </p:sp>
      <p:sp>
        <p:nvSpPr>
          <p:cNvPr id="23" name="market-saudi-label">
            <a:extLst>
              <a:ext uri="{FF2B5EF4-FFF2-40B4-BE49-F238E27FC236}">
                <a16:creationId xmlns:a16="http://schemas.microsoft.com/office/drawing/2014/main" id="{D5AAAEAF-5A15-4CE7-B4CB-D4F5CDB5EE37}"/>
              </a:ext>
            </a:extLst>
          </p:cNvPr>
          <p:cNvSpPr>
            <a:spLocks noGrp="1"/>
          </p:cNvSpPr>
          <p:nvPr/>
        </p:nvSpPr>
        <p:spPr>
          <a:xfrm>
            <a:off x="4857750" y="2815590"/>
            <a:ext cx="685800" cy="161925"/>
          </a:xfrm>
          <a:prstGeom prst="rect">
            <a:avLst/>
          </a:prstGeom>
          <a:noFill/>
          <a:ln w="0">
            <a:noFill/>
            <a:prstDash val="solid"/>
          </a:ln>
        </p:spPr>
        <p:txBody>
          <a:bodyPr wrap="square" lIns="0" tIns="0" rIns="0" bIns="0" anchor="ctr">
            <a:normAutofit/>
          </a:bodyPr>
          <a:lstStyle/>
          <a:p>
            <a:pPr algn="ctr">
              <a:buNone/>
              <a:defRPr sz="938" b="1">
                <a:solidFill>
                  <a:srgbClr val="FFFFFF"/>
                </a:solidFill>
                <a:latin typeface="Arial"/>
                <a:ea typeface="Arial"/>
                <a:cs typeface="Arial"/>
              </a:defRPr>
            </a:pPr>
            <a:r>
              <a:rPr sz="938" b="1">
                <a:solidFill>
                  <a:srgbClr val="FFFFFF"/>
                </a:solidFill>
                <a:latin typeface="Arial"/>
                <a:ea typeface="Arial"/>
                <a:cs typeface="Arial"/>
              </a:rPr>
              <a:t>SAUDI</a:t>
            </a:r>
          </a:p>
        </p:txBody>
      </p:sp>
      <p:sp>
        <p:nvSpPr>
          <p:cNvPr id="24" name="market-saudi-score">
            <a:extLst>
              <a:ext uri="{FF2B5EF4-FFF2-40B4-BE49-F238E27FC236}">
                <a16:creationId xmlns:a16="http://schemas.microsoft.com/office/drawing/2014/main" id="{6374169E-5C08-4182-B8FA-1BC6C4D43BA4}"/>
              </a:ext>
            </a:extLst>
          </p:cNvPr>
          <p:cNvSpPr>
            <a:spLocks noGrp="1"/>
          </p:cNvSpPr>
          <p:nvPr/>
        </p:nvSpPr>
        <p:spPr>
          <a:xfrm>
            <a:off x="4857750" y="2983230"/>
            <a:ext cx="685800" cy="161925"/>
          </a:xfrm>
          <a:prstGeom prst="rect">
            <a:avLst/>
          </a:prstGeom>
          <a:noFill/>
          <a:ln w="0">
            <a:noFill/>
            <a:prstDash val="solid"/>
          </a:ln>
        </p:spPr>
        <p:txBody>
          <a:bodyPr wrap="square" lIns="0" tIns="0" rIns="0" bIns="0" anchor="ctr">
            <a:normAutofit/>
          </a:bodyPr>
          <a:lstStyle/>
          <a:p>
            <a:pPr algn="ctr">
              <a:buNone/>
              <a:defRPr sz="975" b="1">
                <a:solidFill>
                  <a:srgbClr val="FFFFFF"/>
                </a:solidFill>
                <a:latin typeface="Arial"/>
                <a:ea typeface="Arial"/>
                <a:cs typeface="Arial"/>
              </a:defRPr>
            </a:pPr>
            <a:r>
              <a:rPr sz="975" b="1">
                <a:solidFill>
                  <a:srgbClr val="FFFFFF"/>
                </a:solidFill>
                <a:latin typeface="Arial"/>
                <a:ea typeface="Arial"/>
                <a:cs typeface="Arial"/>
              </a:rPr>
              <a:t>82%</a:t>
            </a:r>
          </a:p>
        </p:txBody>
      </p:sp>
      <p:sp>
        <p:nvSpPr>
          <p:cNvPr id="25" name="market-vietnam">
            <a:extLst>
              <a:ext uri="{FF2B5EF4-FFF2-40B4-BE49-F238E27FC236}">
                <a16:creationId xmlns:a16="http://schemas.microsoft.com/office/drawing/2014/main" id="{02A0C211-F2D4-4B6A-81C7-C98E783CBDB2}"/>
              </a:ext>
            </a:extLst>
          </p:cNvPr>
          <p:cNvSpPr>
            <a:spLocks noGrp="1"/>
          </p:cNvSpPr>
          <p:nvPr/>
        </p:nvSpPr>
        <p:spPr>
          <a:xfrm>
            <a:off x="2724150" y="2438400"/>
            <a:ext cx="800100" cy="800100"/>
          </a:xfrm>
          <a:prstGeom prst="ellipse">
            <a:avLst/>
          </a:prstGeom>
          <a:solidFill>
            <a:srgbClr val="3D8DFF"/>
          </a:solidFill>
          <a:ln w="0">
            <a:noFill/>
            <a:prstDash val="solid"/>
          </a:ln>
        </p:spPr>
        <p:txBody>
          <a:bodyPr/>
          <a:lstStyle/>
          <a:p>
            <a:endParaRPr lang="en-IN"/>
          </a:p>
        </p:txBody>
      </p:sp>
      <p:sp>
        <p:nvSpPr>
          <p:cNvPr id="26" name="market-vietnam-label">
            <a:extLst>
              <a:ext uri="{FF2B5EF4-FFF2-40B4-BE49-F238E27FC236}">
                <a16:creationId xmlns:a16="http://schemas.microsoft.com/office/drawing/2014/main" id="{D4D89C98-EA4F-432D-A63C-06CAD8843D55}"/>
              </a:ext>
            </a:extLst>
          </p:cNvPr>
          <p:cNvSpPr>
            <a:spLocks noGrp="1"/>
          </p:cNvSpPr>
          <p:nvPr/>
        </p:nvSpPr>
        <p:spPr>
          <a:xfrm>
            <a:off x="2762250" y="2694432"/>
            <a:ext cx="723900" cy="161925"/>
          </a:xfrm>
          <a:prstGeom prst="rect">
            <a:avLst/>
          </a:prstGeom>
          <a:noFill/>
          <a:ln w="0">
            <a:noFill/>
            <a:prstDash val="solid"/>
          </a:ln>
        </p:spPr>
        <p:txBody>
          <a:bodyPr wrap="square" lIns="0" tIns="0" rIns="0" bIns="0" anchor="ctr">
            <a:normAutofit/>
          </a:bodyPr>
          <a:lstStyle/>
          <a:p>
            <a:pPr algn="ctr">
              <a:buNone/>
              <a:defRPr sz="938" b="1">
                <a:solidFill>
                  <a:srgbClr val="FFFFFF"/>
                </a:solidFill>
                <a:latin typeface="Arial"/>
                <a:ea typeface="Arial"/>
                <a:cs typeface="Arial"/>
              </a:defRPr>
            </a:pPr>
            <a:r>
              <a:rPr sz="938" b="1">
                <a:solidFill>
                  <a:srgbClr val="FFFFFF"/>
                </a:solidFill>
                <a:latin typeface="Arial"/>
                <a:ea typeface="Arial"/>
                <a:cs typeface="Arial"/>
              </a:rPr>
              <a:t>VIETNAM</a:t>
            </a:r>
          </a:p>
        </p:txBody>
      </p:sp>
      <p:sp>
        <p:nvSpPr>
          <p:cNvPr id="27" name="market-vietnam-score">
            <a:extLst>
              <a:ext uri="{FF2B5EF4-FFF2-40B4-BE49-F238E27FC236}">
                <a16:creationId xmlns:a16="http://schemas.microsoft.com/office/drawing/2014/main" id="{2F8C2B61-65D8-4148-8460-46D7BE50FC19}"/>
              </a:ext>
            </a:extLst>
          </p:cNvPr>
          <p:cNvSpPr>
            <a:spLocks noGrp="1"/>
          </p:cNvSpPr>
          <p:nvPr/>
        </p:nvSpPr>
        <p:spPr>
          <a:xfrm>
            <a:off x="2762250" y="2870454"/>
            <a:ext cx="723900" cy="161925"/>
          </a:xfrm>
          <a:prstGeom prst="rect">
            <a:avLst/>
          </a:prstGeom>
          <a:noFill/>
          <a:ln w="0">
            <a:noFill/>
            <a:prstDash val="solid"/>
          </a:ln>
        </p:spPr>
        <p:txBody>
          <a:bodyPr wrap="square" lIns="0" tIns="0" rIns="0" bIns="0" anchor="ctr">
            <a:normAutofit/>
          </a:bodyPr>
          <a:lstStyle/>
          <a:p>
            <a:pPr algn="ctr">
              <a:buNone/>
              <a:defRPr sz="975" b="1">
                <a:solidFill>
                  <a:srgbClr val="FFFFFF"/>
                </a:solidFill>
                <a:latin typeface="Arial"/>
                <a:ea typeface="Arial"/>
                <a:cs typeface="Arial"/>
              </a:defRPr>
            </a:pPr>
            <a:r>
              <a:rPr sz="975" b="1">
                <a:solidFill>
                  <a:srgbClr val="FFFFFF"/>
                </a:solidFill>
                <a:latin typeface="Arial"/>
                <a:ea typeface="Arial"/>
                <a:cs typeface="Arial"/>
              </a:rPr>
              <a:t>65%</a:t>
            </a:r>
          </a:p>
        </p:txBody>
      </p:sp>
      <p:sp>
        <p:nvSpPr>
          <p:cNvPr id="28" name="market-turkiye">
            <a:extLst>
              <a:ext uri="{FF2B5EF4-FFF2-40B4-BE49-F238E27FC236}">
                <a16:creationId xmlns:a16="http://schemas.microsoft.com/office/drawing/2014/main" id="{3526AF69-4400-48AC-97F6-F4781598CBAE}"/>
              </a:ext>
            </a:extLst>
          </p:cNvPr>
          <p:cNvSpPr>
            <a:spLocks noGrp="1"/>
          </p:cNvSpPr>
          <p:nvPr/>
        </p:nvSpPr>
        <p:spPr>
          <a:xfrm>
            <a:off x="3638550" y="2952750"/>
            <a:ext cx="781050" cy="781050"/>
          </a:xfrm>
          <a:prstGeom prst="ellipse">
            <a:avLst/>
          </a:prstGeom>
          <a:solidFill>
            <a:srgbClr val="3D8DFF"/>
          </a:solidFill>
          <a:ln w="0">
            <a:noFill/>
            <a:prstDash val="solid"/>
          </a:ln>
        </p:spPr>
        <p:txBody>
          <a:bodyPr/>
          <a:lstStyle/>
          <a:p>
            <a:endParaRPr lang="en-IN"/>
          </a:p>
        </p:txBody>
      </p:sp>
      <p:sp>
        <p:nvSpPr>
          <p:cNvPr id="29" name="market-turkiye-label">
            <a:extLst>
              <a:ext uri="{FF2B5EF4-FFF2-40B4-BE49-F238E27FC236}">
                <a16:creationId xmlns:a16="http://schemas.microsoft.com/office/drawing/2014/main" id="{0B6C369E-7107-427E-9702-2D8FC1D5BDC5}"/>
              </a:ext>
            </a:extLst>
          </p:cNvPr>
          <p:cNvSpPr>
            <a:spLocks noGrp="1"/>
          </p:cNvSpPr>
          <p:nvPr/>
        </p:nvSpPr>
        <p:spPr>
          <a:xfrm>
            <a:off x="3676650" y="3202686"/>
            <a:ext cx="704850" cy="161925"/>
          </a:xfrm>
          <a:prstGeom prst="rect">
            <a:avLst/>
          </a:prstGeom>
          <a:noFill/>
          <a:ln w="0">
            <a:noFill/>
            <a:prstDash val="solid"/>
          </a:ln>
        </p:spPr>
        <p:txBody>
          <a:bodyPr wrap="square" lIns="0" tIns="0" rIns="0" bIns="0" anchor="ctr">
            <a:normAutofit/>
          </a:bodyPr>
          <a:lstStyle/>
          <a:p>
            <a:pPr algn="ctr">
              <a:buNone/>
              <a:defRPr sz="938" b="1">
                <a:solidFill>
                  <a:srgbClr val="FFFFFF"/>
                </a:solidFill>
                <a:latin typeface="Arial"/>
                <a:ea typeface="Arial"/>
                <a:cs typeface="Arial"/>
              </a:defRPr>
            </a:pPr>
            <a:r>
              <a:rPr sz="938" b="1">
                <a:solidFill>
                  <a:srgbClr val="FFFFFF"/>
                </a:solidFill>
                <a:latin typeface="Arial"/>
                <a:ea typeface="Arial"/>
                <a:cs typeface="Arial"/>
              </a:rPr>
              <a:t>TÜRKİYE</a:t>
            </a:r>
          </a:p>
        </p:txBody>
      </p:sp>
      <p:sp>
        <p:nvSpPr>
          <p:cNvPr id="30" name="market-turkiye-score">
            <a:extLst>
              <a:ext uri="{FF2B5EF4-FFF2-40B4-BE49-F238E27FC236}">
                <a16:creationId xmlns:a16="http://schemas.microsoft.com/office/drawing/2014/main" id="{7FF9C4F1-8708-46E0-B6C8-F29871205B22}"/>
              </a:ext>
            </a:extLst>
          </p:cNvPr>
          <p:cNvSpPr>
            <a:spLocks noGrp="1"/>
          </p:cNvSpPr>
          <p:nvPr/>
        </p:nvSpPr>
        <p:spPr>
          <a:xfrm>
            <a:off x="3676650" y="3374517"/>
            <a:ext cx="704850" cy="161925"/>
          </a:xfrm>
          <a:prstGeom prst="rect">
            <a:avLst/>
          </a:prstGeom>
          <a:noFill/>
          <a:ln w="0">
            <a:noFill/>
            <a:prstDash val="solid"/>
          </a:ln>
        </p:spPr>
        <p:txBody>
          <a:bodyPr wrap="square" lIns="0" tIns="0" rIns="0" bIns="0" anchor="ctr">
            <a:normAutofit/>
          </a:bodyPr>
          <a:lstStyle/>
          <a:p>
            <a:pPr algn="ctr">
              <a:buNone/>
              <a:defRPr sz="975" b="1">
                <a:solidFill>
                  <a:srgbClr val="FFFFFF"/>
                </a:solidFill>
                <a:latin typeface="Arial"/>
                <a:ea typeface="Arial"/>
                <a:cs typeface="Arial"/>
              </a:defRPr>
            </a:pPr>
            <a:r>
              <a:rPr sz="975" b="1">
                <a:solidFill>
                  <a:srgbClr val="FFFFFF"/>
                </a:solidFill>
                <a:latin typeface="Arial"/>
                <a:ea typeface="Arial"/>
                <a:cs typeface="Arial"/>
              </a:rPr>
              <a:t>68%</a:t>
            </a:r>
          </a:p>
        </p:txBody>
      </p:sp>
      <p:sp>
        <p:nvSpPr>
          <p:cNvPr id="31" name="market-pakistan">
            <a:extLst>
              <a:ext uri="{FF2B5EF4-FFF2-40B4-BE49-F238E27FC236}">
                <a16:creationId xmlns:a16="http://schemas.microsoft.com/office/drawing/2014/main" id="{146B1A9A-C495-4303-994F-7649E961CB3C}"/>
              </a:ext>
            </a:extLst>
          </p:cNvPr>
          <p:cNvSpPr>
            <a:spLocks noGrp="1"/>
          </p:cNvSpPr>
          <p:nvPr/>
        </p:nvSpPr>
        <p:spPr>
          <a:xfrm>
            <a:off x="4810125" y="3676650"/>
            <a:ext cx="781050" cy="781050"/>
          </a:xfrm>
          <a:prstGeom prst="ellipse">
            <a:avLst/>
          </a:prstGeom>
          <a:solidFill>
            <a:srgbClr val="6DCBF4"/>
          </a:solidFill>
          <a:ln w="0">
            <a:noFill/>
            <a:prstDash val="solid"/>
          </a:ln>
        </p:spPr>
        <p:txBody>
          <a:bodyPr/>
          <a:lstStyle/>
          <a:p>
            <a:endParaRPr lang="en-IN"/>
          </a:p>
        </p:txBody>
      </p:sp>
      <p:sp>
        <p:nvSpPr>
          <p:cNvPr id="32" name="market-pakistan-label">
            <a:extLst>
              <a:ext uri="{FF2B5EF4-FFF2-40B4-BE49-F238E27FC236}">
                <a16:creationId xmlns:a16="http://schemas.microsoft.com/office/drawing/2014/main" id="{2394BFF1-43C5-43C0-94B9-A650E617ECE2}"/>
              </a:ext>
            </a:extLst>
          </p:cNvPr>
          <p:cNvSpPr>
            <a:spLocks noGrp="1"/>
          </p:cNvSpPr>
          <p:nvPr/>
        </p:nvSpPr>
        <p:spPr>
          <a:xfrm>
            <a:off x="4848225" y="3926586"/>
            <a:ext cx="704850" cy="161925"/>
          </a:xfrm>
          <a:prstGeom prst="rect">
            <a:avLst/>
          </a:prstGeom>
          <a:noFill/>
          <a:ln w="0">
            <a:noFill/>
            <a:prstDash val="solid"/>
          </a:ln>
        </p:spPr>
        <p:txBody>
          <a:bodyPr wrap="square" lIns="0" tIns="0" rIns="0" bIns="0" anchor="ctr">
            <a:normAutofit/>
          </a:bodyPr>
          <a:lstStyle/>
          <a:p>
            <a:pPr algn="ctr">
              <a:buNone/>
              <a:defRPr sz="938" b="1">
                <a:solidFill>
                  <a:srgbClr val="071B33"/>
                </a:solidFill>
                <a:latin typeface="Arial"/>
                <a:ea typeface="Arial"/>
                <a:cs typeface="Arial"/>
              </a:defRPr>
            </a:pPr>
            <a:r>
              <a:rPr sz="938" b="1">
                <a:solidFill>
                  <a:srgbClr val="071B33"/>
                </a:solidFill>
                <a:latin typeface="Arial"/>
                <a:ea typeface="Arial"/>
                <a:cs typeface="Arial"/>
              </a:rPr>
              <a:t>INDONESIA</a:t>
            </a:r>
          </a:p>
        </p:txBody>
      </p:sp>
      <p:sp>
        <p:nvSpPr>
          <p:cNvPr id="33" name="market-pakistan-score">
            <a:extLst>
              <a:ext uri="{FF2B5EF4-FFF2-40B4-BE49-F238E27FC236}">
                <a16:creationId xmlns:a16="http://schemas.microsoft.com/office/drawing/2014/main" id="{54F0D7B7-2DD5-40BF-83B3-0BB5F05DEE6C}"/>
              </a:ext>
            </a:extLst>
          </p:cNvPr>
          <p:cNvSpPr>
            <a:spLocks noGrp="1"/>
          </p:cNvSpPr>
          <p:nvPr/>
        </p:nvSpPr>
        <p:spPr>
          <a:xfrm>
            <a:off x="4848225" y="4098417"/>
            <a:ext cx="704850" cy="161925"/>
          </a:xfrm>
          <a:prstGeom prst="rect">
            <a:avLst/>
          </a:prstGeom>
          <a:noFill/>
          <a:ln w="0">
            <a:noFill/>
            <a:prstDash val="solid"/>
          </a:ln>
        </p:spPr>
        <p:txBody>
          <a:bodyPr wrap="square" lIns="0" tIns="0" rIns="0" bIns="0" anchor="ctr">
            <a:normAutofit/>
          </a:bodyPr>
          <a:lstStyle/>
          <a:p>
            <a:pPr algn="ctr">
              <a:buNone/>
              <a:defRPr sz="975" b="1">
                <a:solidFill>
                  <a:srgbClr val="071B33"/>
                </a:solidFill>
                <a:latin typeface="Arial"/>
                <a:ea typeface="Arial"/>
                <a:cs typeface="Arial"/>
              </a:defRPr>
            </a:pPr>
            <a:r>
              <a:rPr sz="975" b="1">
                <a:solidFill>
                  <a:srgbClr val="071B33"/>
                </a:solidFill>
                <a:latin typeface="Arial"/>
                <a:ea typeface="Arial"/>
                <a:cs typeface="Arial"/>
              </a:rPr>
              <a:t>90%</a:t>
            </a:r>
          </a:p>
        </p:txBody>
      </p:sp>
      <p:sp>
        <p:nvSpPr>
          <p:cNvPr id="34" name="market-mature-asia">
            <a:extLst>
              <a:ext uri="{FF2B5EF4-FFF2-40B4-BE49-F238E27FC236}">
                <a16:creationId xmlns:a16="http://schemas.microsoft.com/office/drawing/2014/main" id="{8962ED0F-1BDB-4EC9-AD92-27ACE8879B07}"/>
              </a:ext>
            </a:extLst>
          </p:cNvPr>
          <p:cNvSpPr>
            <a:spLocks noGrp="1"/>
          </p:cNvSpPr>
          <p:nvPr/>
        </p:nvSpPr>
        <p:spPr>
          <a:xfrm>
            <a:off x="5619750" y="3943350"/>
            <a:ext cx="781050" cy="781050"/>
          </a:xfrm>
          <a:prstGeom prst="ellipse">
            <a:avLst/>
          </a:prstGeom>
          <a:solidFill>
            <a:srgbClr val="AEB6C1"/>
          </a:solidFill>
          <a:ln w="0">
            <a:noFill/>
            <a:prstDash val="solid"/>
          </a:ln>
        </p:spPr>
        <p:txBody>
          <a:bodyPr/>
          <a:lstStyle/>
          <a:p>
            <a:endParaRPr lang="en-IN"/>
          </a:p>
        </p:txBody>
      </p:sp>
      <p:sp>
        <p:nvSpPr>
          <p:cNvPr id="35" name="market-mature-asia-label">
            <a:extLst>
              <a:ext uri="{FF2B5EF4-FFF2-40B4-BE49-F238E27FC236}">
                <a16:creationId xmlns:a16="http://schemas.microsoft.com/office/drawing/2014/main" id="{0318376A-7A1D-4F50-BE84-70060856EB46}"/>
              </a:ext>
            </a:extLst>
          </p:cNvPr>
          <p:cNvSpPr>
            <a:spLocks noGrp="1"/>
          </p:cNvSpPr>
          <p:nvPr/>
        </p:nvSpPr>
        <p:spPr>
          <a:xfrm>
            <a:off x="5629275" y="4193286"/>
            <a:ext cx="762000" cy="161925"/>
          </a:xfrm>
          <a:prstGeom prst="rect">
            <a:avLst/>
          </a:prstGeom>
          <a:noFill/>
          <a:ln w="0">
            <a:noFill/>
            <a:prstDash val="solid"/>
          </a:ln>
        </p:spPr>
        <p:txBody>
          <a:bodyPr wrap="square" lIns="0" tIns="0" rIns="0" bIns="0" anchor="ctr">
            <a:normAutofit/>
          </a:bodyPr>
          <a:lstStyle/>
          <a:p>
            <a:pPr algn="ctr">
              <a:buNone/>
              <a:defRPr sz="938" b="1">
                <a:solidFill>
                  <a:srgbClr val="071B33"/>
                </a:solidFill>
                <a:latin typeface="Arial"/>
                <a:ea typeface="Arial"/>
                <a:cs typeface="Arial"/>
              </a:defRPr>
            </a:pPr>
            <a:r>
              <a:rPr sz="938" b="1">
                <a:solidFill>
                  <a:srgbClr val="071B33"/>
                </a:solidFill>
                <a:latin typeface="Arial"/>
                <a:ea typeface="Arial"/>
                <a:cs typeface="Arial"/>
              </a:rPr>
              <a:t>PHILIPPINES</a:t>
            </a:r>
          </a:p>
        </p:txBody>
      </p:sp>
      <p:sp>
        <p:nvSpPr>
          <p:cNvPr id="36" name="market-mature-asia-score">
            <a:extLst>
              <a:ext uri="{FF2B5EF4-FFF2-40B4-BE49-F238E27FC236}">
                <a16:creationId xmlns:a16="http://schemas.microsoft.com/office/drawing/2014/main" id="{F410C504-2C85-4695-ACCB-3C65AE899818}"/>
              </a:ext>
            </a:extLst>
          </p:cNvPr>
          <p:cNvSpPr>
            <a:spLocks noGrp="1"/>
          </p:cNvSpPr>
          <p:nvPr/>
        </p:nvSpPr>
        <p:spPr>
          <a:xfrm>
            <a:off x="5629275" y="4365117"/>
            <a:ext cx="762000" cy="161925"/>
          </a:xfrm>
          <a:prstGeom prst="rect">
            <a:avLst/>
          </a:prstGeom>
          <a:noFill/>
          <a:ln w="0">
            <a:noFill/>
            <a:prstDash val="solid"/>
          </a:ln>
        </p:spPr>
        <p:txBody>
          <a:bodyPr wrap="square" lIns="0" tIns="0" rIns="0" bIns="0" anchor="ctr">
            <a:normAutofit/>
          </a:bodyPr>
          <a:lstStyle/>
          <a:p>
            <a:pPr algn="ctr">
              <a:buNone/>
              <a:defRPr sz="975" b="1">
                <a:solidFill>
                  <a:srgbClr val="071B33"/>
                </a:solidFill>
                <a:latin typeface="Arial"/>
                <a:ea typeface="Arial"/>
                <a:cs typeface="Arial"/>
              </a:defRPr>
            </a:pPr>
            <a:r>
              <a:rPr sz="975" b="1">
                <a:solidFill>
                  <a:srgbClr val="071B33"/>
                </a:solidFill>
                <a:latin typeface="Arial"/>
                <a:ea typeface="Arial"/>
                <a:cs typeface="Arial"/>
              </a:rPr>
              <a:t>88%</a:t>
            </a:r>
          </a:p>
        </p:txBody>
      </p:sp>
      <p:sp>
        <p:nvSpPr>
          <p:cNvPr id="37" name="market-china">
            <a:extLst>
              <a:ext uri="{FF2B5EF4-FFF2-40B4-BE49-F238E27FC236}">
                <a16:creationId xmlns:a16="http://schemas.microsoft.com/office/drawing/2014/main" id="{BBB50B65-CAE7-4C3D-96C3-3A74BEB9FEF2}"/>
              </a:ext>
            </a:extLst>
          </p:cNvPr>
          <p:cNvSpPr>
            <a:spLocks noGrp="1"/>
          </p:cNvSpPr>
          <p:nvPr/>
        </p:nvSpPr>
        <p:spPr>
          <a:xfrm>
            <a:off x="2562225" y="3800475"/>
            <a:ext cx="704850" cy="704850"/>
          </a:xfrm>
          <a:prstGeom prst="ellipse">
            <a:avLst/>
          </a:prstGeom>
          <a:solidFill>
            <a:srgbClr val="FFFFFF"/>
          </a:solidFill>
          <a:ln w="14288">
            <a:solidFill>
              <a:srgbClr val="98A2B3"/>
            </a:solidFill>
            <a:prstDash val="solid"/>
          </a:ln>
        </p:spPr>
        <p:txBody>
          <a:bodyPr/>
          <a:lstStyle/>
          <a:p>
            <a:endParaRPr lang="en-IN"/>
          </a:p>
        </p:txBody>
      </p:sp>
      <p:sp>
        <p:nvSpPr>
          <p:cNvPr id="38" name="market-china-label">
            <a:extLst>
              <a:ext uri="{FF2B5EF4-FFF2-40B4-BE49-F238E27FC236}">
                <a16:creationId xmlns:a16="http://schemas.microsoft.com/office/drawing/2014/main" id="{AA3CB1DC-ECB0-4D9D-B172-474F0B7C9845}"/>
              </a:ext>
            </a:extLst>
          </p:cNvPr>
          <p:cNvSpPr>
            <a:spLocks noGrp="1"/>
          </p:cNvSpPr>
          <p:nvPr/>
        </p:nvSpPr>
        <p:spPr>
          <a:xfrm>
            <a:off x="2600325" y="4026027"/>
            <a:ext cx="628650" cy="161925"/>
          </a:xfrm>
          <a:prstGeom prst="rect">
            <a:avLst/>
          </a:prstGeom>
          <a:noFill/>
          <a:ln w="0">
            <a:noFill/>
            <a:prstDash val="solid"/>
          </a:ln>
        </p:spPr>
        <p:txBody>
          <a:bodyPr wrap="square" lIns="0" tIns="0" rIns="0" bIns="0" anchor="ctr">
            <a:normAutofit/>
          </a:bodyPr>
          <a:lstStyle/>
          <a:p>
            <a:pPr algn="ctr">
              <a:buNone/>
              <a:defRPr sz="938" b="1">
                <a:solidFill>
                  <a:srgbClr val="475467"/>
                </a:solidFill>
                <a:latin typeface="Arial"/>
                <a:ea typeface="Arial"/>
                <a:cs typeface="Arial"/>
              </a:defRPr>
            </a:pPr>
            <a:r>
              <a:rPr sz="938" b="1">
                <a:solidFill>
                  <a:srgbClr val="475467"/>
                </a:solidFill>
                <a:latin typeface="Arial"/>
                <a:ea typeface="Arial"/>
                <a:cs typeface="Arial"/>
              </a:rPr>
              <a:t>CHINA</a:t>
            </a:r>
          </a:p>
        </p:txBody>
      </p:sp>
      <p:sp>
        <p:nvSpPr>
          <p:cNvPr id="39" name="market-china-score">
            <a:extLst>
              <a:ext uri="{FF2B5EF4-FFF2-40B4-BE49-F238E27FC236}">
                <a16:creationId xmlns:a16="http://schemas.microsoft.com/office/drawing/2014/main" id="{824569B2-9B2C-416A-AC10-20CF838CE01C}"/>
              </a:ext>
            </a:extLst>
          </p:cNvPr>
          <p:cNvSpPr>
            <a:spLocks noGrp="1"/>
          </p:cNvSpPr>
          <p:nvPr/>
        </p:nvSpPr>
        <p:spPr>
          <a:xfrm>
            <a:off x="2600325" y="4181094"/>
            <a:ext cx="628650" cy="161925"/>
          </a:xfrm>
          <a:prstGeom prst="rect">
            <a:avLst/>
          </a:prstGeom>
          <a:noFill/>
          <a:ln w="0">
            <a:noFill/>
            <a:prstDash val="solid"/>
          </a:ln>
        </p:spPr>
        <p:txBody>
          <a:bodyPr wrap="square" lIns="0" tIns="0" rIns="0" bIns="0" anchor="ctr">
            <a:normAutofit/>
          </a:bodyPr>
          <a:lstStyle/>
          <a:p>
            <a:pPr algn="ctr">
              <a:buNone/>
              <a:defRPr sz="975" b="1">
                <a:solidFill>
                  <a:srgbClr val="475467"/>
                </a:solidFill>
                <a:latin typeface="Arial"/>
                <a:ea typeface="Arial"/>
                <a:cs typeface="Arial"/>
              </a:defRPr>
            </a:pPr>
            <a:r>
              <a:rPr sz="975" b="1">
                <a:solidFill>
                  <a:srgbClr val="475467"/>
                </a:solidFill>
                <a:latin typeface="Arial"/>
                <a:ea typeface="Arial"/>
                <a:cs typeface="Arial"/>
              </a:rPr>
              <a:t>52%</a:t>
            </a:r>
          </a:p>
        </p:txBody>
      </p:sp>
      <p:sp>
        <p:nvSpPr>
          <p:cNvPr id="41" name="market-europe-label">
            <a:extLst>
              <a:ext uri="{FF2B5EF4-FFF2-40B4-BE49-F238E27FC236}">
                <a16:creationId xmlns:a16="http://schemas.microsoft.com/office/drawing/2014/main" id="{94DD71A0-714C-4F89-9A09-F4790EA557D5}"/>
              </a:ext>
            </a:extLst>
          </p:cNvPr>
          <p:cNvSpPr>
            <a:spLocks noGrp="1"/>
          </p:cNvSpPr>
          <p:nvPr/>
        </p:nvSpPr>
        <p:spPr>
          <a:xfrm>
            <a:off x="4095750" y="4609719"/>
            <a:ext cx="666750" cy="161925"/>
          </a:xfrm>
          <a:prstGeom prst="rect">
            <a:avLst/>
          </a:prstGeom>
          <a:noFill/>
          <a:ln w="0">
            <a:noFill/>
            <a:prstDash val="solid"/>
          </a:ln>
        </p:spPr>
        <p:txBody>
          <a:bodyPr wrap="square" lIns="0" tIns="0" rIns="0" bIns="0" anchor="ctr">
            <a:normAutofit/>
          </a:bodyPr>
          <a:lstStyle/>
          <a:p>
            <a:pPr algn="ctr">
              <a:buNone/>
              <a:defRPr sz="938" b="1">
                <a:solidFill>
                  <a:srgbClr val="475467"/>
                </a:solidFill>
                <a:latin typeface="Arial"/>
                <a:ea typeface="Arial"/>
                <a:cs typeface="Arial"/>
              </a:defRPr>
            </a:pPr>
            <a:endParaRPr sz="938" b="1" dirty="0">
              <a:solidFill>
                <a:srgbClr val="475467"/>
              </a:solidFill>
              <a:latin typeface="Arial"/>
              <a:ea typeface="Arial"/>
              <a:cs typeface="Arial"/>
            </a:endParaRPr>
          </a:p>
        </p:txBody>
      </p:sp>
      <p:sp>
        <p:nvSpPr>
          <p:cNvPr id="42" name="market-europe-score">
            <a:extLst>
              <a:ext uri="{FF2B5EF4-FFF2-40B4-BE49-F238E27FC236}">
                <a16:creationId xmlns:a16="http://schemas.microsoft.com/office/drawing/2014/main" id="{4864435C-A0E1-442F-9F68-AD06CDCFDF01}"/>
              </a:ext>
            </a:extLst>
          </p:cNvPr>
          <p:cNvSpPr>
            <a:spLocks noGrp="1"/>
          </p:cNvSpPr>
          <p:nvPr/>
        </p:nvSpPr>
        <p:spPr>
          <a:xfrm>
            <a:off x="4095750" y="4773168"/>
            <a:ext cx="666750" cy="161925"/>
          </a:xfrm>
          <a:prstGeom prst="rect">
            <a:avLst/>
          </a:prstGeom>
          <a:noFill/>
          <a:ln w="0">
            <a:noFill/>
            <a:prstDash val="solid"/>
          </a:ln>
        </p:spPr>
        <p:txBody>
          <a:bodyPr wrap="square" lIns="0" tIns="0" rIns="0" bIns="0" anchor="ctr">
            <a:normAutofit/>
          </a:bodyPr>
          <a:lstStyle/>
          <a:p>
            <a:pPr algn="ctr">
              <a:buNone/>
              <a:defRPr sz="975" b="1">
                <a:solidFill>
                  <a:srgbClr val="475467"/>
                </a:solidFill>
                <a:latin typeface="Arial"/>
                <a:ea typeface="Arial"/>
                <a:cs typeface="Arial"/>
              </a:defRPr>
            </a:pPr>
            <a:endParaRPr sz="975" b="1" dirty="0">
              <a:solidFill>
                <a:srgbClr val="475467"/>
              </a:solidFill>
              <a:latin typeface="Arial"/>
              <a:ea typeface="Arial"/>
              <a:cs typeface="Arial"/>
            </a:endParaRPr>
          </a:p>
        </p:txBody>
      </p:sp>
      <p:sp>
        <p:nvSpPr>
          <p:cNvPr id="43" name="rail-heading">
            <a:extLst>
              <a:ext uri="{FF2B5EF4-FFF2-40B4-BE49-F238E27FC236}">
                <a16:creationId xmlns:a16="http://schemas.microsoft.com/office/drawing/2014/main" id="{429C3DEB-3732-4D05-91F0-FE7E1ED3F297}"/>
              </a:ext>
            </a:extLst>
          </p:cNvPr>
          <p:cNvSpPr>
            <a:spLocks noGrp="1"/>
          </p:cNvSpPr>
          <p:nvPr/>
        </p:nvSpPr>
        <p:spPr>
          <a:xfrm>
            <a:off x="7524750" y="1600200"/>
            <a:ext cx="2095500" cy="228600"/>
          </a:xfrm>
          <a:prstGeom prst="rect">
            <a:avLst/>
          </a:prstGeom>
          <a:noFill/>
          <a:ln w="0">
            <a:noFill/>
            <a:prstDash val="solid"/>
          </a:ln>
        </p:spPr>
        <p:txBody>
          <a:bodyPr wrap="square" lIns="0" tIns="0" rIns="0" bIns="0" anchor="t">
            <a:normAutofit/>
          </a:bodyPr>
          <a:lstStyle/>
          <a:p>
            <a:pPr algn="l">
              <a:buNone/>
              <a:defRPr sz="1125" b="1">
                <a:solidFill>
                  <a:srgbClr val="3D8DFF"/>
                </a:solidFill>
                <a:latin typeface="Arial"/>
                <a:ea typeface="Arial"/>
                <a:cs typeface="Arial"/>
              </a:defRPr>
            </a:pPr>
            <a:r>
              <a:rPr sz="1125" b="1">
                <a:solidFill>
                  <a:srgbClr val="3D8DFF"/>
                </a:solidFill>
                <a:latin typeface="Arial"/>
                <a:ea typeface="Arial"/>
                <a:cs typeface="Arial"/>
              </a:rPr>
              <a:t>WHERE TO PLAY</a:t>
            </a:r>
          </a:p>
        </p:txBody>
      </p:sp>
      <p:sp>
        <p:nvSpPr>
          <p:cNvPr id="44" name="rail-rule-1">
            <a:extLst>
              <a:ext uri="{FF2B5EF4-FFF2-40B4-BE49-F238E27FC236}">
                <a16:creationId xmlns:a16="http://schemas.microsoft.com/office/drawing/2014/main" id="{5B455595-BD9F-4B0F-8D23-0BF02FB452F8}"/>
              </a:ext>
            </a:extLst>
          </p:cNvPr>
          <p:cNvSpPr>
            <a:spLocks noGrp="1"/>
          </p:cNvSpPr>
          <p:nvPr/>
        </p:nvSpPr>
        <p:spPr>
          <a:xfrm>
            <a:off x="7524750" y="1952625"/>
            <a:ext cx="4171950" cy="0"/>
          </a:xfrm>
          <a:prstGeom prst="line">
            <a:avLst/>
          </a:prstGeom>
          <a:noFill/>
          <a:ln w="9525">
            <a:solidFill>
              <a:srgbClr val="D1D5DB"/>
            </a:solidFill>
            <a:prstDash val="solid"/>
          </a:ln>
        </p:spPr>
        <p:txBody>
          <a:bodyPr/>
          <a:lstStyle/>
          <a:p>
            <a:endParaRPr lang="en-IN"/>
          </a:p>
        </p:txBody>
      </p:sp>
      <p:sp>
        <p:nvSpPr>
          <p:cNvPr id="45" name="rail-num-1">
            <a:extLst>
              <a:ext uri="{FF2B5EF4-FFF2-40B4-BE49-F238E27FC236}">
                <a16:creationId xmlns:a16="http://schemas.microsoft.com/office/drawing/2014/main" id="{1AB317A2-E5F1-4F7D-B385-FC725EE35E67}"/>
              </a:ext>
            </a:extLst>
          </p:cNvPr>
          <p:cNvSpPr>
            <a:spLocks noGrp="1"/>
          </p:cNvSpPr>
          <p:nvPr/>
        </p:nvSpPr>
        <p:spPr>
          <a:xfrm>
            <a:off x="7524750" y="2105025"/>
            <a:ext cx="400050" cy="238125"/>
          </a:xfrm>
          <a:prstGeom prst="rect">
            <a:avLst/>
          </a:prstGeom>
          <a:noFill/>
          <a:ln w="0">
            <a:noFill/>
            <a:prstDash val="solid"/>
          </a:ln>
        </p:spPr>
        <p:txBody>
          <a:bodyPr wrap="square" lIns="0" tIns="0" rIns="0" bIns="0" anchor="t">
            <a:norm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01</a:t>
            </a:r>
          </a:p>
        </p:txBody>
      </p:sp>
      <p:sp>
        <p:nvSpPr>
          <p:cNvPr id="46" name="rail-title-1">
            <a:extLst>
              <a:ext uri="{FF2B5EF4-FFF2-40B4-BE49-F238E27FC236}">
                <a16:creationId xmlns:a16="http://schemas.microsoft.com/office/drawing/2014/main" id="{A298E9F6-BACB-44E0-B20D-BCADE306D838}"/>
              </a:ext>
            </a:extLst>
          </p:cNvPr>
          <p:cNvSpPr>
            <a:spLocks noGrp="1"/>
          </p:cNvSpPr>
          <p:nvPr/>
        </p:nvSpPr>
        <p:spPr>
          <a:xfrm>
            <a:off x="8020050" y="2047875"/>
            <a:ext cx="3429000" cy="323850"/>
          </a:xfrm>
          <a:prstGeom prst="rect">
            <a:avLst/>
          </a:prstGeom>
          <a:noFill/>
          <a:ln w="0">
            <a:noFill/>
            <a:prstDash val="solid"/>
          </a:ln>
        </p:spPr>
        <p:txBody>
          <a:bodyPr wrap="square" lIns="0" tIns="0" rIns="0" bIns="0" anchor="t">
            <a:normAutofit/>
          </a:bodyPr>
          <a:lstStyle/>
          <a:p>
            <a:pPr algn="l">
              <a:buNone/>
              <a:defRPr sz="1875" b="1">
                <a:solidFill>
                  <a:srgbClr val="071B33"/>
                </a:solidFill>
                <a:latin typeface="Arial"/>
                <a:ea typeface="Arial"/>
                <a:cs typeface="Arial"/>
              </a:defRPr>
            </a:pPr>
            <a:r>
              <a:rPr sz="1875" b="1">
                <a:solidFill>
                  <a:srgbClr val="071B33"/>
                </a:solidFill>
                <a:latin typeface="Arial"/>
                <a:ea typeface="Arial"/>
                <a:cs typeface="Arial"/>
              </a:rPr>
              <a:t>Beachhead in UAE</a:t>
            </a:r>
          </a:p>
        </p:txBody>
      </p:sp>
      <p:sp>
        <p:nvSpPr>
          <p:cNvPr id="47" name="rail-body-1">
            <a:extLst>
              <a:ext uri="{FF2B5EF4-FFF2-40B4-BE49-F238E27FC236}">
                <a16:creationId xmlns:a16="http://schemas.microsoft.com/office/drawing/2014/main" id="{7A9CA3E6-E28F-4CBF-9E98-7713F7EB7B69}"/>
              </a:ext>
            </a:extLst>
          </p:cNvPr>
          <p:cNvSpPr>
            <a:spLocks noGrp="1"/>
          </p:cNvSpPr>
          <p:nvPr/>
        </p:nvSpPr>
        <p:spPr>
          <a:xfrm>
            <a:off x="8020050" y="2419350"/>
            <a:ext cx="3486150" cy="514350"/>
          </a:xfrm>
          <a:prstGeom prst="rect">
            <a:avLst/>
          </a:prstGeom>
          <a:noFill/>
          <a:ln w="0">
            <a:noFill/>
            <a:prstDash val="solid"/>
          </a:ln>
        </p:spPr>
        <p:txBody>
          <a:bodyPr wrap="square" lIns="0" tIns="0" rIns="0" bIns="0" anchor="t">
            <a:normAutofit/>
          </a:bodyPr>
          <a:lstStyle/>
          <a:p>
            <a:pPr algn="l">
              <a:buNone/>
              <a:defRPr sz="1275">
                <a:solidFill>
                  <a:srgbClr val="5B6573"/>
                </a:solidFill>
                <a:latin typeface="Arial"/>
                <a:ea typeface="Arial"/>
                <a:cs typeface="Arial"/>
              </a:defRPr>
            </a:pPr>
            <a:r>
              <a:rPr sz="1275">
                <a:solidFill>
                  <a:srgbClr val="5B6573"/>
                </a:solidFill>
                <a:latin typeface="Arial"/>
                <a:ea typeface="Arial"/>
                <a:cs typeface="Arial"/>
              </a:rPr>
              <a:t>Proven licensed gold-loan route; create the GCC reference implementation.</a:t>
            </a:r>
          </a:p>
        </p:txBody>
      </p:sp>
      <p:sp>
        <p:nvSpPr>
          <p:cNvPr id="48" name="rail-rule-2">
            <a:extLst>
              <a:ext uri="{FF2B5EF4-FFF2-40B4-BE49-F238E27FC236}">
                <a16:creationId xmlns:a16="http://schemas.microsoft.com/office/drawing/2014/main" id="{69C32060-9DBF-48A1-93ED-18ECF4F180D3}"/>
              </a:ext>
            </a:extLst>
          </p:cNvPr>
          <p:cNvSpPr>
            <a:spLocks noGrp="1"/>
          </p:cNvSpPr>
          <p:nvPr/>
        </p:nvSpPr>
        <p:spPr>
          <a:xfrm>
            <a:off x="7524750" y="3076575"/>
            <a:ext cx="4171950" cy="0"/>
          </a:xfrm>
          <a:prstGeom prst="line">
            <a:avLst/>
          </a:prstGeom>
          <a:noFill/>
          <a:ln w="9525">
            <a:solidFill>
              <a:srgbClr val="D1D5DB"/>
            </a:solidFill>
            <a:prstDash val="solid"/>
          </a:ln>
        </p:spPr>
        <p:txBody>
          <a:bodyPr/>
          <a:lstStyle/>
          <a:p>
            <a:endParaRPr lang="en-IN"/>
          </a:p>
        </p:txBody>
      </p:sp>
      <p:sp>
        <p:nvSpPr>
          <p:cNvPr id="49" name="rail-num-2">
            <a:extLst>
              <a:ext uri="{FF2B5EF4-FFF2-40B4-BE49-F238E27FC236}">
                <a16:creationId xmlns:a16="http://schemas.microsoft.com/office/drawing/2014/main" id="{4957FB13-9B9D-4378-8BAA-F1B9F71238DE}"/>
              </a:ext>
            </a:extLst>
          </p:cNvPr>
          <p:cNvSpPr>
            <a:spLocks noGrp="1"/>
          </p:cNvSpPr>
          <p:nvPr/>
        </p:nvSpPr>
        <p:spPr>
          <a:xfrm>
            <a:off x="7524750" y="3238500"/>
            <a:ext cx="400050" cy="238125"/>
          </a:xfrm>
          <a:prstGeom prst="rect">
            <a:avLst/>
          </a:prstGeom>
          <a:noFill/>
          <a:ln w="0">
            <a:noFill/>
            <a:prstDash val="solid"/>
          </a:ln>
        </p:spPr>
        <p:txBody>
          <a:bodyPr wrap="square" lIns="0" tIns="0" rIns="0" bIns="0" anchor="t">
            <a:norm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50" name="rail-title-2">
            <a:extLst>
              <a:ext uri="{FF2B5EF4-FFF2-40B4-BE49-F238E27FC236}">
                <a16:creationId xmlns:a16="http://schemas.microsoft.com/office/drawing/2014/main" id="{AFBCA9E8-364C-4E63-BF31-A2391036DCC2}"/>
              </a:ext>
            </a:extLst>
          </p:cNvPr>
          <p:cNvSpPr>
            <a:spLocks noGrp="1"/>
          </p:cNvSpPr>
          <p:nvPr/>
        </p:nvSpPr>
        <p:spPr>
          <a:xfrm>
            <a:off x="8020050" y="3181350"/>
            <a:ext cx="3429000" cy="323850"/>
          </a:xfrm>
          <a:prstGeom prst="rect">
            <a:avLst/>
          </a:prstGeom>
          <a:noFill/>
          <a:ln w="0">
            <a:noFill/>
            <a:prstDash val="solid"/>
          </a:ln>
        </p:spPr>
        <p:txBody>
          <a:bodyPr wrap="square" lIns="0" tIns="0" rIns="0" bIns="0" anchor="t">
            <a:normAutofit/>
          </a:bodyPr>
          <a:lstStyle/>
          <a:p>
            <a:pPr algn="l">
              <a:buNone/>
              <a:defRPr sz="1875" b="1">
                <a:solidFill>
                  <a:srgbClr val="071B33"/>
                </a:solidFill>
                <a:latin typeface="Arial"/>
                <a:ea typeface="Arial"/>
                <a:cs typeface="Arial"/>
              </a:defRPr>
            </a:pPr>
            <a:r>
              <a:rPr sz="1875" b="1">
                <a:solidFill>
                  <a:srgbClr val="071B33"/>
                </a:solidFill>
                <a:latin typeface="Arial"/>
                <a:ea typeface="Arial"/>
                <a:cs typeface="Arial"/>
              </a:rPr>
              <a:t>Build Saudi next</a:t>
            </a:r>
          </a:p>
        </p:txBody>
      </p:sp>
      <p:sp>
        <p:nvSpPr>
          <p:cNvPr id="51" name="rail-body-2">
            <a:extLst>
              <a:ext uri="{FF2B5EF4-FFF2-40B4-BE49-F238E27FC236}">
                <a16:creationId xmlns:a16="http://schemas.microsoft.com/office/drawing/2014/main" id="{713C1915-E8E6-4A22-A053-3D6436D9A0EC}"/>
              </a:ext>
            </a:extLst>
          </p:cNvPr>
          <p:cNvSpPr>
            <a:spLocks noGrp="1"/>
          </p:cNvSpPr>
          <p:nvPr/>
        </p:nvSpPr>
        <p:spPr>
          <a:xfrm>
            <a:off x="8020050" y="3552825"/>
            <a:ext cx="3486150" cy="514350"/>
          </a:xfrm>
          <a:prstGeom prst="rect">
            <a:avLst/>
          </a:prstGeom>
          <a:noFill/>
          <a:ln w="0">
            <a:noFill/>
            <a:prstDash val="solid"/>
          </a:ln>
        </p:spPr>
        <p:txBody>
          <a:bodyPr wrap="square" lIns="0" tIns="0" rIns="0" bIns="0" anchor="t">
            <a:normAutofit/>
          </a:bodyPr>
          <a:lstStyle/>
          <a:p>
            <a:pPr algn="l">
              <a:buNone/>
              <a:defRPr sz="1275">
                <a:solidFill>
                  <a:srgbClr val="5B6573"/>
                </a:solidFill>
                <a:latin typeface="Arial"/>
                <a:ea typeface="Arial"/>
                <a:cs typeface="Arial"/>
              </a:defRPr>
            </a:pPr>
            <a:r>
              <a:rPr sz="1275">
                <a:solidFill>
                  <a:srgbClr val="5B6573"/>
                </a:solidFill>
                <a:latin typeface="Arial"/>
                <a:ea typeface="Arial"/>
                <a:cs typeface="Arial"/>
              </a:rPr>
              <a:t>Best greenfield GCC opportunity; Rahn-compatible secured-finance pathway.</a:t>
            </a:r>
          </a:p>
        </p:txBody>
      </p:sp>
      <p:sp>
        <p:nvSpPr>
          <p:cNvPr id="52" name="rail-rule-3">
            <a:extLst>
              <a:ext uri="{FF2B5EF4-FFF2-40B4-BE49-F238E27FC236}">
                <a16:creationId xmlns:a16="http://schemas.microsoft.com/office/drawing/2014/main" id="{9467295F-8D3B-4796-8C41-2AE3118A8B45}"/>
              </a:ext>
            </a:extLst>
          </p:cNvPr>
          <p:cNvSpPr>
            <a:spLocks noGrp="1"/>
          </p:cNvSpPr>
          <p:nvPr/>
        </p:nvSpPr>
        <p:spPr>
          <a:xfrm>
            <a:off x="7524750" y="4219575"/>
            <a:ext cx="4171950" cy="0"/>
          </a:xfrm>
          <a:prstGeom prst="line">
            <a:avLst/>
          </a:prstGeom>
          <a:noFill/>
          <a:ln w="9525">
            <a:solidFill>
              <a:srgbClr val="D1D5DB"/>
            </a:solidFill>
            <a:prstDash val="solid"/>
          </a:ln>
        </p:spPr>
        <p:txBody>
          <a:bodyPr/>
          <a:lstStyle/>
          <a:p>
            <a:endParaRPr lang="en-IN"/>
          </a:p>
        </p:txBody>
      </p:sp>
      <p:sp>
        <p:nvSpPr>
          <p:cNvPr id="53" name="rail-num-3">
            <a:extLst>
              <a:ext uri="{FF2B5EF4-FFF2-40B4-BE49-F238E27FC236}">
                <a16:creationId xmlns:a16="http://schemas.microsoft.com/office/drawing/2014/main" id="{EC90581F-C7F5-4BD0-AE90-FBED47840B3A}"/>
              </a:ext>
            </a:extLst>
          </p:cNvPr>
          <p:cNvSpPr>
            <a:spLocks noGrp="1"/>
          </p:cNvSpPr>
          <p:nvPr/>
        </p:nvSpPr>
        <p:spPr>
          <a:xfrm>
            <a:off x="7524750" y="4381500"/>
            <a:ext cx="400050" cy="238125"/>
          </a:xfrm>
          <a:prstGeom prst="rect">
            <a:avLst/>
          </a:prstGeom>
          <a:noFill/>
          <a:ln w="0">
            <a:noFill/>
            <a:prstDash val="solid"/>
          </a:ln>
        </p:spPr>
        <p:txBody>
          <a:bodyPr wrap="square" lIns="0" tIns="0" rIns="0" bIns="0" anchor="t">
            <a:norm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03</a:t>
            </a:r>
          </a:p>
        </p:txBody>
      </p:sp>
      <p:sp>
        <p:nvSpPr>
          <p:cNvPr id="54" name="rail-title-3">
            <a:extLst>
              <a:ext uri="{FF2B5EF4-FFF2-40B4-BE49-F238E27FC236}">
                <a16:creationId xmlns:a16="http://schemas.microsoft.com/office/drawing/2014/main" id="{380DC399-9041-4037-A454-0390E547241A}"/>
              </a:ext>
            </a:extLst>
          </p:cNvPr>
          <p:cNvSpPr>
            <a:spLocks noGrp="1"/>
          </p:cNvSpPr>
          <p:nvPr/>
        </p:nvSpPr>
        <p:spPr>
          <a:xfrm>
            <a:off x="8020050" y="4324350"/>
            <a:ext cx="3524250" cy="323850"/>
          </a:xfrm>
          <a:prstGeom prst="rect">
            <a:avLst/>
          </a:prstGeom>
          <a:noFill/>
          <a:ln w="0">
            <a:noFill/>
            <a:prstDash val="solid"/>
          </a:ln>
        </p:spPr>
        <p:txBody>
          <a:bodyPr wrap="square" lIns="0" tIns="0" rIns="0" bIns="0" anchor="t">
            <a:normAutofit/>
          </a:bodyPr>
          <a:lstStyle/>
          <a:p>
            <a:pPr algn="l">
              <a:buNone/>
              <a:defRPr sz="1800" b="1">
                <a:solidFill>
                  <a:srgbClr val="071B33"/>
                </a:solidFill>
                <a:latin typeface="Arial"/>
                <a:ea typeface="Arial"/>
                <a:cs typeface="Arial"/>
              </a:defRPr>
            </a:pPr>
            <a:r>
              <a:rPr sz="1800" b="1">
                <a:solidFill>
                  <a:srgbClr val="071B33"/>
                </a:solidFill>
                <a:latin typeface="Arial"/>
                <a:ea typeface="Arial"/>
                <a:cs typeface="Arial"/>
              </a:rPr>
              <a:t>Validate Vietnam + Türkiye</a:t>
            </a:r>
          </a:p>
        </p:txBody>
      </p:sp>
      <p:sp>
        <p:nvSpPr>
          <p:cNvPr id="55" name="rail-body-3">
            <a:extLst>
              <a:ext uri="{FF2B5EF4-FFF2-40B4-BE49-F238E27FC236}">
                <a16:creationId xmlns:a16="http://schemas.microsoft.com/office/drawing/2014/main" id="{FD4A487B-6ED4-4D1F-A6C5-03E6EA8F6510}"/>
              </a:ext>
            </a:extLst>
          </p:cNvPr>
          <p:cNvSpPr>
            <a:spLocks noGrp="1"/>
          </p:cNvSpPr>
          <p:nvPr/>
        </p:nvSpPr>
        <p:spPr>
          <a:xfrm>
            <a:off x="8020050" y="4695825"/>
            <a:ext cx="3486150" cy="514350"/>
          </a:xfrm>
          <a:prstGeom prst="rect">
            <a:avLst/>
          </a:prstGeom>
          <a:noFill/>
          <a:ln w="0">
            <a:noFill/>
            <a:prstDash val="solid"/>
          </a:ln>
        </p:spPr>
        <p:txBody>
          <a:bodyPr wrap="square" lIns="0" tIns="0" rIns="0" bIns="0" anchor="t">
            <a:normAutofit/>
          </a:bodyPr>
          <a:lstStyle/>
          <a:p>
            <a:pPr algn="l">
              <a:buNone/>
              <a:defRPr sz="1275">
                <a:solidFill>
                  <a:srgbClr val="5B6573"/>
                </a:solidFill>
                <a:latin typeface="Arial"/>
                <a:ea typeface="Arial"/>
                <a:cs typeface="Arial"/>
              </a:defRPr>
            </a:pPr>
            <a:r>
              <a:rPr sz="1275">
                <a:solidFill>
                  <a:srgbClr val="5B6573"/>
                </a:solidFill>
                <a:latin typeface="Arial"/>
                <a:ea typeface="Arial"/>
                <a:cs typeface="Arial"/>
              </a:rPr>
              <a:t>Large idle-gold pools; partner-led regulatory discovery is required before build.</a:t>
            </a:r>
          </a:p>
        </p:txBody>
      </p:sp>
      <p:sp>
        <p:nvSpPr>
          <p:cNvPr id="56" name="rail-note">
            <a:extLst>
              <a:ext uri="{FF2B5EF4-FFF2-40B4-BE49-F238E27FC236}">
                <a16:creationId xmlns:a16="http://schemas.microsoft.com/office/drawing/2014/main" id="{159C73EB-26E8-4FA8-8BBF-ACAD0579DFF3}"/>
              </a:ext>
            </a:extLst>
          </p:cNvPr>
          <p:cNvSpPr>
            <a:spLocks noGrp="1"/>
          </p:cNvSpPr>
          <p:nvPr/>
        </p:nvSpPr>
        <p:spPr>
          <a:xfrm>
            <a:off x="7524750" y="5314950"/>
            <a:ext cx="4000500" cy="285750"/>
          </a:xfrm>
          <a:prstGeom prst="rect">
            <a:avLst/>
          </a:prstGeom>
          <a:noFill/>
          <a:ln w="0">
            <a:noFill/>
            <a:prstDash val="solid"/>
          </a:ln>
        </p:spPr>
        <p:txBody>
          <a:bodyPr wrap="square" lIns="0" tIns="0" rIns="0" bIns="0" anchor="t">
            <a:normAutofit fontScale="90833" lnSpcReduction="10000"/>
          </a:bodyPr>
          <a:lstStyle/>
          <a:p>
            <a:pPr algn="l">
              <a:buNone/>
              <a:defRPr sz="1125" b="1">
                <a:solidFill>
                  <a:srgbClr val="475569"/>
                </a:solidFill>
                <a:latin typeface="Arial"/>
                <a:ea typeface="Arial"/>
                <a:cs typeface="Arial"/>
              </a:defRPr>
            </a:pPr>
            <a:r>
              <a:rPr sz="1125" b="1">
                <a:solidFill>
                  <a:srgbClr val="475569"/>
                </a:solidFill>
                <a:latin typeface="Arial"/>
                <a:ea typeface="Arial"/>
                <a:cs typeface="Arial"/>
              </a:rPr>
              <a:t>Indonesia + Philippines: prioritise LMS modernisation—not new-category creation.</a:t>
            </a:r>
          </a:p>
        </p:txBody>
      </p:sp>
      <p:sp>
        <p:nvSpPr>
          <p:cNvPr id="59" name="decision-text">
            <a:extLst>
              <a:ext uri="{FF2B5EF4-FFF2-40B4-BE49-F238E27FC236}">
                <a16:creationId xmlns:a16="http://schemas.microsoft.com/office/drawing/2014/main" id="{B1D8D12B-6D6F-448C-B3FE-8879EB474640}"/>
              </a:ext>
            </a:extLst>
          </p:cNvPr>
          <p:cNvSpPr>
            <a:spLocks noGrp="1"/>
          </p:cNvSpPr>
          <p:nvPr/>
        </p:nvSpPr>
        <p:spPr>
          <a:xfrm>
            <a:off x="2305050" y="5962650"/>
            <a:ext cx="9144000" cy="304800"/>
          </a:xfrm>
          <a:prstGeom prst="rect">
            <a:avLst/>
          </a:prstGeom>
          <a:noFill/>
          <a:ln w="0">
            <a:noFill/>
            <a:prstDash val="solid"/>
          </a:ln>
        </p:spPr>
        <p:txBody>
          <a:bodyPr wrap="square" lIns="0" tIns="0" rIns="0" bIns="0" anchor="ctr">
            <a:normAutofit fontScale="86026"/>
          </a:bodyPr>
          <a:lstStyle/>
          <a:p>
            <a:pPr algn="l">
              <a:buNone/>
              <a:defRPr sz="1575" b="1">
                <a:solidFill>
                  <a:srgbClr val="FFFFFF"/>
                </a:solidFill>
                <a:latin typeface="Arial"/>
                <a:ea typeface="Arial"/>
                <a:cs typeface="Arial"/>
              </a:defRPr>
            </a:pPr>
            <a:r>
              <a:rPr sz="1575" b="1">
                <a:solidFill>
                  <a:srgbClr val="FFFFFF"/>
                </a:solidFill>
                <a:latin typeface="Arial"/>
                <a:ea typeface="Arial"/>
                <a:cs typeface="Arial"/>
              </a:rPr>
              <a:t>Approve Phase 1 partner validation in UAE + Saudi; Phase 2 regulatory discovery in Vietnam + Türkiye</a:t>
            </a:r>
          </a:p>
        </p:txBody>
      </p:sp>
      <p:sp>
        <p:nvSpPr>
          <p:cNvPr id="61" name="page-number">
            <a:extLst>
              <a:ext uri="{FF2B5EF4-FFF2-40B4-BE49-F238E27FC236}">
                <a16:creationId xmlns:a16="http://schemas.microsoft.com/office/drawing/2014/main" id="{070D2032-92ED-431D-947B-E97D380F38F8}"/>
              </a:ext>
            </a:extLst>
          </p:cNvPr>
          <p:cNvSpPr>
            <a:spLocks noGrp="1"/>
          </p:cNvSpPr>
          <p:nvPr/>
        </p:nvSpPr>
        <p:spPr>
          <a:xfrm>
            <a:off x="11334750" y="6515100"/>
            <a:ext cx="438150" cy="171450"/>
          </a:xfrm>
          <a:prstGeom prst="rect">
            <a:avLst/>
          </a:prstGeom>
          <a:noFill/>
          <a:ln w="0">
            <a:noFill/>
            <a:prstDash val="solid"/>
          </a:ln>
        </p:spPr>
        <p:txBody>
          <a:bodyPr wrap="square" lIns="0" tIns="0" rIns="0" bIns="0" anchor="t">
            <a:normAutofit/>
          </a:bodyPr>
          <a:lstStyle/>
          <a:p>
            <a:pPr algn="r">
              <a:buNone/>
              <a:defRPr sz="900">
                <a:solidFill>
                  <a:srgbClr val="7B8491"/>
                </a:solidFill>
                <a:latin typeface="Arial"/>
                <a:ea typeface="Arial"/>
                <a:cs typeface="Arial"/>
              </a:defRPr>
            </a:pPr>
            <a:r>
              <a:rPr sz="900">
                <a:solidFill>
                  <a:srgbClr val="7B8491"/>
                </a:solidFill>
                <a:latin typeface="Arial"/>
                <a:ea typeface="Arial"/>
                <a:cs typeface="Arial"/>
              </a:rPr>
              <a:t>1</a:t>
            </a:r>
          </a:p>
        </p:txBody>
      </p:sp>
    </p:spTree>
    <p:extLst>
      <p:ext uri="{BB962C8B-B14F-4D97-AF65-F5344CB8AC3E}">
        <p14:creationId xmlns:p14="http://schemas.microsoft.com/office/powerpoint/2010/main" val="15283932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1997</Words>
  <Application>Microsoft Office PowerPoint</Application>
  <DocSecurity>0</DocSecurity>
  <PresentationFormat>Widescreen</PresentationFormat>
  <Paragraphs>272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Arjun Kallatt</cp:lastModifiedBy>
  <cp:revision>1</cp:revision>
  <dcterms:created xsi:type="dcterms:W3CDTF">2026-08-24T17:58:21Z</dcterms:created>
  <dcterms:modified xsi:type="dcterms:W3CDTF">2026-08-25T03:22:39Z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fba013d-677c-48a1-86a3-d7d061608601_Enabled">
    <vt:lpwstr>true</vt:lpwstr>
  </property>
  <property fmtid="{D5CDD505-2E9C-101B-9397-08002B2CF9AE}" pid="3" name="MSIP_Label_dfba013d-677c-48a1-86a3-d7d061608601_SetDate">
    <vt:lpwstr>2026-08-24T18:04:07Z</vt:lpwstr>
  </property>
  <property fmtid="{D5CDD505-2E9C-101B-9397-08002B2CF9AE}" pid="4" name="MSIP_Label_dfba013d-677c-48a1-86a3-d7d061608601_Method">
    <vt:lpwstr>Standard</vt:lpwstr>
  </property>
  <property fmtid="{D5CDD505-2E9C-101B-9397-08002B2CF9AE}" pid="5" name="MSIP_Label_dfba013d-677c-48a1-86a3-d7d061608601_Name">
    <vt:lpwstr>Internal</vt:lpwstr>
  </property>
  <property fmtid="{D5CDD505-2E9C-101B-9397-08002B2CF9AE}" pid="6" name="MSIP_Label_dfba013d-677c-48a1-86a3-d7d061608601_SiteId">
    <vt:lpwstr>f2e9053a-1f05-4ef2-bf88-3a1ab406497c</vt:lpwstr>
  </property>
  <property fmtid="{D5CDD505-2E9C-101B-9397-08002B2CF9AE}" pid="7" name="MSIP_Label_dfba013d-677c-48a1-86a3-d7d061608601_ActionId">
    <vt:lpwstr>2679cd61-b319-4387-80c8-63946fde80f2</vt:lpwstr>
  </property>
  <property fmtid="{D5CDD505-2E9C-101B-9397-08002B2CF9AE}" pid="8" name="MSIP_Label_dfba013d-677c-48a1-86a3-d7d061608601_ContentBits">
    <vt:lpwstr>6</vt:lpwstr>
  </property>
  <property fmtid="{D5CDD505-2E9C-101B-9397-08002B2CF9AE}" pid="9" name="MSIP_Label_dfba013d-677c-48a1-86a3-d7d061608601_Tag">
    <vt:lpwstr>10, 3, 0, 1</vt:lpwstr>
  </property>
  <property fmtid="{D5CDD505-2E9C-101B-9397-08002B2CF9AE}" pid="10" name="ClassificationContentMarkingFooterLocations">
    <vt:lpwstr>ChatGPT:4</vt:lpwstr>
  </property>
  <property fmtid="{D5CDD505-2E9C-101B-9397-08002B2CF9AE}" pid="11" name="ClassificationContentMarkingFooterText">
    <vt:lpwstr>Internal</vt:lpwstr>
  </property>
  <property fmtid="{D5CDD505-2E9C-101B-9397-08002B2CF9AE}" pid="12" name="ClassificationWatermarkLocations">
    <vt:lpwstr>ChatGPT:5</vt:lpwstr>
  </property>
  <property fmtid="{D5CDD505-2E9C-101B-9397-08002B2CF9AE}" pid="13" name="ClassificationWatermarkText">
    <vt:lpwstr>NUCLEUS INTERNAL</vt:lpwstr>
  </property>
</Properties>
</file>