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255ee62c0a4289" /><Relationship Type="http://schemas.openxmlformats.org/officeDocument/2006/relationships/extended-properties" Target="/docProps/app.xml" Id="R3c140106c62a4c07" /><Relationship Type="http://schemas.openxmlformats.org/officeDocument/2006/relationships/officeDocument" Target="/ppt/presentation.xml" Id="Rce4c209c4d1742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09b11d79c542f1"/>
  </p:sldMasterIdLst>
  <p:notesMasterIdLst>
    <p:notesMasterId xmlns:r="http://schemas.openxmlformats.org/officeDocument/2006/relationships" r:id="R5fa38644d93f4716"/>
  </p:notesMasterIdLst>
  <p:sldIdLst>
    <p:sldId xmlns:r="http://schemas.openxmlformats.org/officeDocument/2006/relationships" id="256" r:id="R3be7889086ba4542"/>
    <p:sldId xmlns:r="http://schemas.openxmlformats.org/officeDocument/2006/relationships" id="257" r:id="R36101870c2254131"/>
    <p:sldId xmlns:r="http://schemas.openxmlformats.org/officeDocument/2006/relationships" id="258" r:id="R0cb096670a8e4496"/>
    <p:sldId xmlns:r="http://schemas.openxmlformats.org/officeDocument/2006/relationships" id="259" r:id="R4bb901aa22514343"/>
    <p:sldId xmlns:r="http://schemas.openxmlformats.org/officeDocument/2006/relationships" id="260" r:id="Rf08c348d9c564377"/>
    <p:sldId xmlns:r="http://schemas.openxmlformats.org/officeDocument/2006/relationships" id="261" r:id="Ra53a493ed8a24d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d290366505486d" /><Relationship Type="http://schemas.openxmlformats.org/officeDocument/2006/relationships/slideMaster" Target="/ppt/slideMasters/slideMaster1.xml" Id="R7509b11d79c542f1" /><Relationship Type="http://schemas.openxmlformats.org/officeDocument/2006/relationships/notesMaster" Target="/ppt/notesMasters/notesMaster1.xml" Id="R5fa38644d93f4716" /><Relationship Type="http://schemas.openxmlformats.org/officeDocument/2006/relationships/presProps" Target="/ppt/presProps.xml" Id="R2558522bde0d48a2" /><Relationship Type="http://schemas.openxmlformats.org/officeDocument/2006/relationships/tableStyles" Target="/ppt/tableStyles.xml" Id="R80d99d82d5b1415c" /><Relationship Type="http://schemas.openxmlformats.org/officeDocument/2006/relationships/slide" Target="/ppt/slides/slide1.xml" Id="R3be7889086ba4542" /><Relationship Type="http://schemas.openxmlformats.org/officeDocument/2006/relationships/slide" Target="/ppt/slides/slide2.xml" Id="R36101870c2254131" /><Relationship Type="http://schemas.openxmlformats.org/officeDocument/2006/relationships/slide" Target="/ppt/slides/slide3.xml" Id="R0cb096670a8e4496" /><Relationship Type="http://schemas.openxmlformats.org/officeDocument/2006/relationships/slide" Target="/ppt/slides/slide4.xml" Id="R4bb901aa22514343" /><Relationship Type="http://schemas.openxmlformats.org/officeDocument/2006/relationships/slide" Target="/ppt/slides/slide5.xml" Id="Rf08c348d9c564377" /><Relationship Type="http://schemas.openxmlformats.org/officeDocument/2006/relationships/slide" Target="/ppt/slides/slide6.xml" Id="Ra53a493ed8a2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48a06e612a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99bd6859c4d4b" /><Relationship Type="http://schemas.openxmlformats.org/officeDocument/2006/relationships/notesMaster" Target="/ppt/notesMasters/notesMaster1.xml" Id="R5791d85927874f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a63c880d5a4033" /><Relationship Type="http://schemas.openxmlformats.org/officeDocument/2006/relationships/notesMaster" Target="/ppt/notesMasters/notesMaster1.xml" Id="Rfa130ec16be645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6cd68a557445a8" /><Relationship Type="http://schemas.openxmlformats.org/officeDocument/2006/relationships/notesMaster" Target="/ppt/notesMasters/notesMaster1.xml" Id="R1da93450cba145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fdd5e4f13f4a72" /><Relationship Type="http://schemas.openxmlformats.org/officeDocument/2006/relationships/notesMaster" Target="/ppt/notesMasters/notesMaster1.xml" Id="R467e2d8ad3b249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e8110115b141f6" /><Relationship Type="http://schemas.openxmlformats.org/officeDocument/2006/relationships/notesMaster" Target="/ppt/notesMasters/notesMaster1.xml" Id="R8223961953ff43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a8da9ce01748a3" /><Relationship Type="http://schemas.openxmlformats.org/officeDocument/2006/relationships/notesMaster" Target="/ppt/notesMasters/notesMaster1.xml" Id="R45a9d476e81d4f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stage images: Customer Onboarding, Gold Valuation, Loan Details, Credit Approval, Disbursement Process and Loan Servicing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workflow reference image and current stage-level capability and integration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stage images for Vault, Audit, Gold Collateral Management and Ornament Auction; user-directed status treatment of Vault, Audit and Auction as roadmap and Gold Collateral Management as shared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Fintech Integration Landscape – Gold Loan (image-1787070577227.jpg)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GA 8.5 and GA 9.0 feature list for CAS and LMS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Gold Loan future roadmap for Auction, LMS, Audit, Vault and CAS, including module-level effort estimates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3e9e2aec143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78a968b5ae485c" /><Relationship Type="http://schemas.openxmlformats.org/officeDocument/2006/relationships/slideLayout" Target="/ppt/slideLayouts/slideLayout1.xml" Id="R8cc4776fd0894a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c4776fd0894a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a2adb5c5b46ad" /><Relationship Type="http://schemas.openxmlformats.org/officeDocument/2006/relationships/image" Target="/ppt/media/image.png" Id="R9ea6b38348b84357" /><Relationship Type="http://schemas.openxmlformats.org/officeDocument/2006/relationships/image" Target="/ppt/media/image2.png" Id="R3ba07f6f700d41d2" /><Relationship Type="http://schemas.openxmlformats.org/officeDocument/2006/relationships/notesSlide" Target="/ppt/notesSlides/notesSlide1.xml" Id="R26136363b51b46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99846bc194fe6" /><Relationship Type="http://schemas.openxmlformats.org/officeDocument/2006/relationships/image" Target="/ppt/media/image3.png" Id="Rf0e6c49b8b374a4d" /><Relationship Type="http://schemas.openxmlformats.org/officeDocument/2006/relationships/image" Target="/ppt/media/image4.png" Id="R01c2037cfc1c4098" /><Relationship Type="http://schemas.openxmlformats.org/officeDocument/2006/relationships/notesSlide" Target="/ppt/notesSlides/notesSlide2.xml" Id="Rf99931a25cd048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7cbc0b82244fd" /><Relationship Type="http://schemas.openxmlformats.org/officeDocument/2006/relationships/image" Target="/ppt/media/image5.png" Id="Re7c95262ab0c4bc2" /><Relationship Type="http://schemas.openxmlformats.org/officeDocument/2006/relationships/image" Target="/ppt/media/image6.png" Id="R376de749ce0840fa" /><Relationship Type="http://schemas.openxmlformats.org/officeDocument/2006/relationships/notesSlide" Target="/ppt/notesSlides/notesSlide3.xml" Id="R380d7eb4b38c43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90afb71d74a24" /><Relationship Type="http://schemas.openxmlformats.org/officeDocument/2006/relationships/image" Target="/ppt/media/image7.png" Id="Rc9d764c16be74e4a" /><Relationship Type="http://schemas.openxmlformats.org/officeDocument/2006/relationships/image" Target="/ppt/media/image8.png" Id="R9d070021cd104be1" /><Relationship Type="http://schemas.openxmlformats.org/officeDocument/2006/relationships/notesSlide" Target="/ppt/notesSlides/notesSlide4.xml" Id="R814c2d273e2540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dbba634184341" /><Relationship Type="http://schemas.openxmlformats.org/officeDocument/2006/relationships/image" Target="/ppt/media/image9.png" Id="R5daf1622ccce4eb2" /><Relationship Type="http://schemas.openxmlformats.org/officeDocument/2006/relationships/image" Target="/ppt/media/image10.png" Id="R2c8146f4980c4815" /><Relationship Type="http://schemas.openxmlformats.org/officeDocument/2006/relationships/notesSlide" Target="/ppt/notesSlides/notesSlide5.xml" Id="Ra41edfc2c95742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8f9a0c9f2846cb" /><Relationship Type="http://schemas.openxmlformats.org/officeDocument/2006/relationships/image" Target="/ppt/media/image11.png" Id="Rd073183404b04cd0" /><Relationship Type="http://schemas.openxmlformats.org/officeDocument/2006/relationships/image" Target="/ppt/media/image12.png" Id="R21cb5af4939a4653" /><Relationship Type="http://schemas.openxmlformats.org/officeDocument/2006/relationships/notesSlide" Target="/ppt/notesSlides/notesSlide6.xml" Id="R308c1b82c06945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6b38348b84357"/>
          <a:stretch xmlns:a="http://schemas.openxmlformats.org/drawingml/2006/main"/>
        </p:blipFill>
        <p:spPr>
          <a:xfrm xmlns:a="http://schemas.openxmlformats.org/drawingml/2006/main">
            <a:off x="247650" y="232265"/>
            <a:ext cx="895350" cy="240320"/>
          </a:xfrm>
          <a:prstGeom xmlns:a="http://schemas.openxmlformats.org/drawingml/2006/main" prst="rect">
            <a:avLst/>
          </a:prstGeom>
        </p:spPr>
      </p:pic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07f6f700d41d2"/>
          <a:stretch xmlns:a="http://schemas.openxmlformats.org/drawingml/2006/main"/>
        </p:blipFill>
        <p:spPr>
          <a:xfrm xmlns:a="http://schemas.openxmlformats.org/drawingml/2006/main">
            <a:off x="1314450" y="255333"/>
            <a:ext cx="800100" cy="17513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23AF2-2D68-4F40-85D2-BE5BEE82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·  GOLD LOAN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AA954-56E0-4FC1-9D17-467D3ABE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653C7"/>
                </a:solidFill>
              </a:defRPr>
            </a:pPr>
            <a:r>
              <a:rPr sz="750" b="1">
                <a:solidFill>
                  <a:srgbClr val="0653C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159F5-695B-4B70-81FE-5C2CD040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28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38F9F"/>
                </a:solidFill>
              </a:defRPr>
            </a:pPr>
            <a:r>
              <a:rPr sz="675" b="0">
                <a:solidFill>
                  <a:srgbClr val="138F9F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FD003-92E6-4A31-AFE9-56D74990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57225"/>
            <a:ext cx="1714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D5D01-D6CB-41A7-B437-5831AA1D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8F9F"/>
                </a:solidFill>
              </a:defRPr>
            </a:pPr>
            <a:r>
              <a:rPr sz="750" b="0">
                <a:solidFill>
                  <a:srgbClr val="138F9F"/>
                </a:solidFill>
              </a:rPr>
              <a:t>GOLD LOAN JOURNEY · CAPABILITY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5AF07-EB8F-4475-935B-DA834D34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38200"/>
            <a:ext cx="11696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137"/>
                </a:solidFill>
              </a:defRPr>
            </a:pPr>
            <a:r>
              <a:rPr sz="2175" b="1">
                <a:solidFill>
                  <a:srgbClr val="000137"/>
                </a:solidFill>
              </a:rPr>
              <a:t>Onboarding-to-Servicing: One Connected Gold Loan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C7A36-FD9F-458E-9FE9-2B19E23B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228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56189"/>
                </a:solidFill>
              </a:defRPr>
            </a:pPr>
            <a:r>
              <a:rPr sz="975" b="0">
                <a:solidFill>
                  <a:srgbClr val="056189"/>
                </a:solidFill>
              </a:rPr>
              <a:t>Six stages bring together 74 functional capabilities and 37 integrations from customer onboarding through loan servicing.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16F78-925C-4867-AC63-307F116C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812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D6DF45-1557-4EB3-A967-A69874C3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895475"/>
            <a:ext cx="171450" cy="2000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25C10-4702-46DC-8959-B4AA6FA9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812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49777-94A9-4970-A745-DF583B46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895475"/>
            <a:ext cx="171450" cy="2000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8832E-E0CF-4219-ACFB-CF8C729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812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D47B6-E2A5-4627-AF84-328EBF0C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895475"/>
            <a:ext cx="171450" cy="2000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00E53-1B59-4241-A147-E2909785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31911-BB79-4165-907A-C3EC71E4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895475"/>
            <a:ext cx="171450" cy="2000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F943AB-F189-4ED8-B942-9F361924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981200"/>
            <a:ext cx="1333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AA486A-098A-4E8E-8661-0228177D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95475"/>
            <a:ext cx="171450" cy="2000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4C257-745D-4584-860C-9223E0CA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14500"/>
            <a:ext cx="18859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8F5A5-1B1E-428E-B12F-BB18414E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81175"/>
            <a:ext cx="685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86498-DB7F-4F27-85F4-5CBD6F84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43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Customer Onboarding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5A411C-AD1A-4C75-B984-8C1328AE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381250"/>
            <a:ext cx="1885950" cy="3810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0A55F-5461-48BF-AB31-A6EECBE7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05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16 CAPABILITIES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BD840-0EB7-4ED8-BEA1-5EC05BF0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71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7876B-54F8-44F0-9891-59B612DC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724150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Lead creation, update and management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146F61-1A0C-4A35-A72A-0F95CF4C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599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BCBE1C-3F92-4A2E-9563-BCF922EC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012281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KYC upload and verification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3C065-6E72-4FC4-AAAD-6F6D9579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480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29065D-DF5B-4E29-847D-38601CDE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300413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Customer dedupe and negative-list / AML checks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82748-B818-4D14-84EE-2755952E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3616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2E79F5-2F4A-4EC8-BDFC-6240DE96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588544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Risk categorization and CIF creation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DF9595-AC92-49D0-A5E3-AF3FF426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24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3FDF1D-AFA6-4E47-B256-4BDD4537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76675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Mobile / email and occupation verification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5EED1C-86AB-4B68-A4CF-33378F58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1243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521123-B403-4627-8171-34D6004A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164806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Income and bank-account details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CDBC3B-505C-4C8A-81E7-9219478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005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624B05-031C-4FD0-BBC6-CC976756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52938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Bank verification and nominee capture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96FBAF-3655-42E4-B4D1-FF874652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86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4C90FA-802A-4E7C-86F9-C4EB1D75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741069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Applicant demographic data entry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33EAEC-C015-4FA5-BBBD-5586B15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24450"/>
            <a:ext cx="1619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8A7418-7F0D-4E5F-AEE7-CEAE6DDE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292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9 INTEGRATIONS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496590-6D80-4A8A-BD07-A78737DF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57825"/>
            <a:ext cx="1619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64CE21-D4C9-4D6E-946F-338D0308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000137"/>
                </a:solidFill>
              </a:defRPr>
            </a:pPr>
            <a:r>
              <a:rPr sz="607" b="1">
                <a:solidFill>
                  <a:srgbClr val="000137"/>
                </a:solidFill>
              </a:rPr>
              <a:t>UIDAI · NSDL · Karza  ·  DigiLocker · Digio · IDfy  ·  Veri5 Digital · Pixl · Signzy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C52EB1-78AA-446F-B6F8-167488C6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14500"/>
            <a:ext cx="18859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139D6"/>
          </a:solidFill>
          <a:ln xmlns:a="http://schemas.openxmlformats.org/drawingml/2006/main" w="0">
            <a:solidFill>
              <a:srgbClr val="0139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4C5470-584D-4AA3-A2ED-80AB217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81175"/>
            <a:ext cx="685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02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9AB43C-E2A7-4661-AD80-01FAA5AB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43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Gold Valuation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F050C0-26E2-4BB4-B610-ABFA5E25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81250"/>
            <a:ext cx="1885950" cy="3810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110A8C-30D4-4FB7-9C5B-333D7A36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05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0139D6"/>
                </a:solidFill>
              </a:defRPr>
            </a:pPr>
            <a:r>
              <a:rPr sz="623" b="1">
                <a:solidFill>
                  <a:srgbClr val="0139D6"/>
                </a:solidFill>
              </a:rPr>
              <a:t>8 CAPABILITIES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089C2B-23A2-4B64-8B9B-792C0493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71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134E49-92A7-4AA1-AB52-77F9EA39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24150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Ornament-wise details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E72C6B-20A8-4257-A8AC-1C9C9593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5990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7C2AEB-2CDF-455F-9389-1DEF85D0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12281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Weight measurement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5DA736-59AE-4A41-A81A-421CA824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3480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6DD1BE-1E84-44AA-A68D-7197FF6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00413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Purity testing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811594-8709-4696-A73F-6F99B88B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63616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9373A95-6AEB-4A91-A01E-5C26E294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88544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Live ornament photo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ED0B3E-6D35-4D14-8789-8D402AAC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924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2A5175-F003-4348-AC60-FE0DAFA3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876675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Purity conversion to 22K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F3E131-73AC-464A-AC3D-2773E113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21243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C5F3D61-9BB2-4BF3-9E02-21387BAD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164806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Ornament-wise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82817F-1AA1-41BC-86D8-ABC02AD8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5005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7F0D19-FDE3-45F8-A621-A64ADFF1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452938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Packet management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1D2892-C6CA-4FA1-B0CB-B01476EC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78869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BD0C33-3D71-4AF2-BC0F-7F8E300E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741069"/>
            <a:ext cx="1504950" cy="288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IBJA live-rate fetch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2AD6C5-7F4C-405F-BB29-31DC726D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124450"/>
            <a:ext cx="1619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018B16A-7A2E-4B89-97FD-23F74DD7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292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3 INTEGRATIONS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2A7A80-CFA8-4F9D-AC9C-E6F7CF49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57825"/>
            <a:ext cx="1619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855D381-7EC7-4CFA-8417-8B72FCEB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505450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000137"/>
                </a:solidFill>
              </a:defRPr>
            </a:pPr>
            <a:r>
              <a:rPr sz="607" b="1">
                <a:solidFill>
                  <a:srgbClr val="000137"/>
                </a:solidFill>
              </a:rPr>
              <a:t>Mettler Toledo  ·  Fischer  ·  IBJA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FBBDDA-0362-4147-9E9C-D3083354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18859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31AFB9A-A644-470F-900B-4A62B3D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81175"/>
            <a:ext cx="685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03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A7D895-7D10-432E-AA10-8948B80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Loan Details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53530C9-2222-49D5-BF97-FF5FA8A4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81250"/>
            <a:ext cx="1885950" cy="3810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6AE0C4D-D9AD-4009-BB78-ED642AAB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05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6F2B8D"/>
                </a:solidFill>
              </a:defRPr>
            </a:pPr>
            <a:r>
              <a:rPr sz="623" b="1">
                <a:solidFill>
                  <a:srgbClr val="6F2B8D"/>
                </a:solidFill>
              </a:rPr>
              <a:t>5 CAPABILITIES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2FE2765-93F7-48F2-B465-80929A85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71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A1305FF-0A3F-4DEC-9CC3-7C4F9DA2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24150"/>
            <a:ext cx="1504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Loan amount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4FBF4F-BA40-4AD8-A0CA-D433D7C3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27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859EA64-076F-4FC2-940F-48FEE0B7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85160"/>
            <a:ext cx="1504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Loan purpose — income / consumption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479B1D6-7209-4840-B78D-3CDB758A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6937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974069-E771-4653-B646-D6DB25E2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46170"/>
            <a:ext cx="1504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Product selection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9564D00-0740-4860-93DB-90CC7FA3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15480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73F4748-3FCF-4BEF-B704-0F451608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07180"/>
            <a:ext cx="1504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Scheme selection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FE46FA-1ACC-4C49-8CD7-796FE5EB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6158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779722B-83C0-4839-B9DC-DB4E35C5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68190"/>
            <a:ext cx="1504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Repayment details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D649BE-63E6-4A4B-A4B2-5F28FFC7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24450"/>
            <a:ext cx="1619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C369FAF-121F-40DF-8294-3DCD9C3E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292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1 INTEGRATION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E986347-2E63-4F43-9838-E850E42B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57825"/>
            <a:ext cx="1619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8B70E47-817E-4138-9FDF-C5EB8E62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05450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000137"/>
                </a:solidFill>
              </a:defRPr>
            </a:pPr>
            <a:r>
              <a:rPr sz="607" b="1">
                <a:solidFill>
                  <a:srgbClr val="000137"/>
                </a:solidFill>
              </a:rPr>
              <a:t>FinnOne Neo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DF922CC-20B6-41F1-8E1F-C52EEE93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18859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A8F9FA-A450-4A95-92E9-DAA46455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81175"/>
            <a:ext cx="685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04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6358F9C-0CDD-4346-9703-6D51907E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43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Credit Approval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F385F6B-DE1D-4566-AC29-D003E692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1885950" cy="3810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084C6CA-BAB7-48E4-A697-E5E2199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05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0653C7"/>
                </a:solidFill>
              </a:defRPr>
            </a:pPr>
            <a:r>
              <a:rPr sz="623" b="1">
                <a:solidFill>
                  <a:srgbClr val="0653C7"/>
                </a:solidFill>
              </a:rPr>
              <a:t>11 CAPABILITIES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1D38976-7934-4C06-AFCD-9B84F3F9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71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A066C48-8F88-4F63-85BA-F954E323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24150"/>
            <a:ext cx="1504950" cy="38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Review and edit application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24491A5-7DB3-471D-8EE2-7E1A8A45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559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AF2AF8D-323D-4100-AF26-FA216AFD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08325"/>
            <a:ext cx="1504950" cy="38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Credit bureau and RCU checks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55FFAE-0937-44A0-93AF-DFE9187F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4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9B12C7B-6FBD-4B75-B740-2ED7D55D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92500"/>
            <a:ext cx="1504950" cy="38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Sanction authority matrix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6A1B830-65DF-4F98-A24E-B35D8F90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924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0BACFDD-55CD-4AA9-9C4C-10EA1826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876675"/>
            <a:ext cx="1504950" cy="38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Provisioning and deviation policies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49BEF04-335D-42C6-BFE0-8E967C07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08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14BBBAD-6F12-4AE2-936F-576A96BE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60850"/>
            <a:ext cx="1504950" cy="38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STP approval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AB7B968-C2EE-4BC1-B53D-2264979F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6926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7DA4433-3F75-4080-BCCA-402EBB0E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45025"/>
            <a:ext cx="1504950" cy="384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Approve, send back or reject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D5A3910-983A-4639-805C-CA85949D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24450"/>
            <a:ext cx="1619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872AC7F-9AAD-4292-948B-EAE22502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292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8 INTEGRATIONS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6FF6E52-DB96-4D68-8C81-2811ACE6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57825"/>
            <a:ext cx="1619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698F2AC-01C1-4E22-B917-A059A0EB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05450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000137"/>
                </a:solidFill>
              </a:defRPr>
            </a:pPr>
            <a:r>
              <a:rPr sz="607" b="1">
                <a:solidFill>
                  <a:srgbClr val="000137"/>
                </a:solidFill>
              </a:rPr>
              <a:t>Perfios · Cashfree  ·  Equifax · Experian · CRIF  ·  CIBIL · Posidex · Sherlock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16926F4-E568-4B9E-8D1C-529EBD44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18859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43AB905-D2E2-426A-9C6F-A548687A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81175"/>
            <a:ext cx="685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05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290D21F-BF2A-427E-97C1-7501384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Disbursement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199A8D7-418F-491D-B37A-49B35B5A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1885950" cy="3810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1D83D8F-E661-43CF-BFE6-3B3EBD19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AC8E0"/>
                </a:solidFill>
              </a:defRPr>
            </a:pPr>
            <a:r>
              <a:rPr sz="623" b="1">
                <a:solidFill>
                  <a:srgbClr val="1AC8E0"/>
                </a:solidFill>
              </a:rPr>
              <a:t>7 CAPABILITIES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358F436-6CF9-4F80-8226-29A1254D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71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EF7B24A-CF2D-482F-863E-8BAA939D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24150"/>
            <a:ext cx="1504950" cy="32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Document generation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D239116-954A-4F8F-AECD-96CD542C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0106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AC71A0A-402A-4CCD-9CFE-D9F471E8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053443"/>
            <a:ext cx="1504950" cy="32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Pledge form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D0D884B-EC11-4928-9A05-D71029C4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3036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E3C25B5-0899-4157-BBD0-F55B8893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382736"/>
            <a:ext cx="1504950" cy="32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Agreement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546C053-F9ED-424A-A6E5-45E9371F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5965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6FCCBAF-9F60-44CC-BDB4-F7B25BEF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12029"/>
            <a:ext cx="1504950" cy="32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Gold appraisal certificate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FB93349-1175-442F-A4A8-AE62D3C2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8894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837DABE-B6ED-44D9-8018-A12804FD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041321"/>
            <a:ext cx="1504950" cy="32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Agreement e-stamping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9B3A946-3612-4547-B531-04683032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1823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024CBE-D510-421C-8EBF-C56A5237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70614"/>
            <a:ext cx="1504950" cy="32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Document signing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71EF8E0-AAB3-43A3-9CE2-4D263AA9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4753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39B814A-33E7-4876-954D-FEC1E5EF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699907"/>
            <a:ext cx="1504950" cy="329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Loan disbursement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B914F88-27AB-4A74-A250-B8419168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24450"/>
            <a:ext cx="1619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23DA6C3-A6FC-405B-8A76-768F3242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292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10 INTEGRATIONS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0177BB3-C68F-41A7-9FF3-380B685B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57825"/>
            <a:ext cx="1619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27B4CAE-3F57-44FF-8873-FCBAC21F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05450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000137"/>
                </a:solidFill>
              </a:defRPr>
            </a:pPr>
            <a:r>
              <a:rPr sz="607" b="1">
                <a:solidFill>
                  <a:srgbClr val="000137"/>
                </a:solidFill>
              </a:rPr>
              <a:t>ECM · Digio · Leegality · FPT  ·  PayU · Karza · Paynimo  ·  Razorpay · Cashfree · HDFC Bank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F4A7C17-3305-4FAE-8A88-5BC9F646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14500"/>
            <a:ext cx="1885950" cy="571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6309D27-9766-4700-ACFB-9DB28767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81175"/>
            <a:ext cx="685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06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95C3DDE-1EDC-482E-BA7C-A7E50BCA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Loan Servicing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361BF4A6-E54E-4399-A939-98257CC1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81250"/>
            <a:ext cx="1885950" cy="38100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3B0B5B7-D96F-46FF-8049-C02E4882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5050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27 CAPABILITIES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EF10D4C-FA78-4F0E-9955-C43F00A9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771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13B07D2-CDCF-4FAD-A232-2749808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724150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Gold Rate Master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7FCD69E4-385B-4D39-83C0-1E33D18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0228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5E55AE0-ED79-4959-9305-C40C41F5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54655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Bullet and interest-roll-up loan setup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FE6710B3-901B-48BD-90CC-421A7979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23278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0800849-B708-4BBC-AF67-48E3D077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185160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Accrual, slab / jumper and due generation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08F7C5DB-011F-4D37-9E6A-254F171E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46329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2646800-F81C-4153-8729-86F3A002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415665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Repayment, charges and foreclosure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A5B4430-C9DD-46E4-B217-106B279A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69379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AA1F222-FDFB-45F5-B72B-FF016F30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646170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Renewal, top-up, part release and enhancement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08815DE-0537-482B-995F-24FA4528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9243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6AC7656-8FE6-4C71-9CAC-F65CF8C2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876675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LTV monitoring, closure and collateral release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486F8AB-0029-412C-8077-CD00A8E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15480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3CAAFAD-752E-4B8A-9DFF-00106EA6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107180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Anniversary maturity, upfront interest and renewal linking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857AED3-B8E0-438D-827D-F39D911B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38531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EA38429-6B39-4F96-85D3-571718B3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37685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Jumper facility, part repayment and early closure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9A91FF2-657B-4E38-A1C9-DF77F383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61581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601512A-7001-4357-99F9-61526AC4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68190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Release order, revaluation and collateral view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D5BE4652-07FA-4C6D-8001-13542678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84632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EAB5075-9788-4EC5-BD10-7A2A3C16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798695"/>
            <a:ext cx="15049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000137"/>
                </a:solidFill>
              </a:defRPr>
            </a:pPr>
            <a:r>
              <a:rPr sz="630" b="0">
                <a:solidFill>
                  <a:srgbClr val="000137"/>
                </a:solidFill>
              </a:rPr>
              <a:t>Loan Viewer, billing and shortfall computation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D25E1CB-1C25-4EED-B8B9-4AFE39FA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124450"/>
            <a:ext cx="16192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F766155-54F7-4903-A889-1E02D024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2922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6 INTEGRATIONS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09D7C4DA-C7C6-49C2-B7B5-592926E47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457825"/>
            <a:ext cx="1619250" cy="581025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D181676-AC77-4B69-ADAA-41AC2859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505450"/>
            <a:ext cx="14668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7" b="1">
                <a:solidFill>
                  <a:srgbClr val="000137"/>
                </a:solidFill>
              </a:defRPr>
            </a:pPr>
            <a:r>
              <a:rPr sz="607" b="1">
                <a:solidFill>
                  <a:srgbClr val="000137"/>
                </a:solidFill>
              </a:rPr>
              <a:t>Cashfree · Paynimo  ·  Vault · Audit  ·  Gold Collateral Management · Auction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31A6092B-851A-469D-8A92-55093848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3055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38F9F"/>
                </a:solidFill>
              </a:defRPr>
            </a:pPr>
            <a:r>
              <a:rPr sz="630" b="1">
                <a:solidFill>
                  <a:srgbClr val="138F9F"/>
                </a:solidFill>
              </a:rPr>
              <a:t>Identity verified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CD2C69E5-DD38-4455-ADD4-7AE960E5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3055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0139D6"/>
                </a:solidFill>
              </a:defRPr>
            </a:pPr>
            <a:r>
              <a:rPr sz="630" b="1">
                <a:solidFill>
                  <a:srgbClr val="0139D6"/>
                </a:solidFill>
              </a:rPr>
              <a:t>Collateral valued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7DD70156-DB61-4E8A-91BF-F67E3E06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3055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6F2B8D"/>
                </a:solidFill>
              </a:defRPr>
            </a:pPr>
            <a:r>
              <a:rPr sz="630" b="1">
                <a:solidFill>
                  <a:srgbClr val="6F2B8D"/>
                </a:solidFill>
              </a:rPr>
              <a:t>Loan configured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0657AD3-A553-429C-9C0B-65FE3887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3055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0653C7"/>
                </a:solidFill>
              </a:defRPr>
            </a:pPr>
            <a:r>
              <a:rPr sz="630" b="1">
                <a:solidFill>
                  <a:srgbClr val="0653C7"/>
                </a:solidFill>
              </a:rPr>
              <a:t>Risk decisioned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6E6355E-779A-4F6A-A7A4-6D28453E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055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38F9F"/>
                </a:solidFill>
              </a:defRPr>
            </a:pPr>
            <a:r>
              <a:rPr sz="630" b="1">
                <a:solidFill>
                  <a:srgbClr val="138F9F"/>
                </a:solidFill>
              </a:rPr>
              <a:t>Funds released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CDDE325-BCF0-4A05-A4E4-CB34D713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305550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38F9F"/>
                </a:solidFill>
              </a:defRPr>
            </a:pPr>
            <a:r>
              <a:rPr sz="630" b="1">
                <a:solidFill>
                  <a:srgbClr val="138F9F"/>
                </a:solidFill>
              </a:rPr>
              <a:t>Lifecycle managed</a:t>
            </a:r>
          </a:p>
        </p:txBody>
      </p:sp>
    </p:spTree>
    <p:extLst>
      <p:ext uri="{BB962C8B-B14F-4D97-AF65-F5344CB8AC3E}">
        <p14:creationId xmlns:p14="http://schemas.microsoft.com/office/powerpoint/2010/main" val="2011704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6c49b8b374a4d"/>
          <a:stretch xmlns:a="http://schemas.openxmlformats.org/drawingml/2006/main"/>
        </p:blipFill>
        <p:spPr>
          <a:xfrm xmlns:a="http://schemas.openxmlformats.org/drawingml/2006/main">
            <a:off x="247650" y="232265"/>
            <a:ext cx="895350" cy="240320"/>
          </a:xfrm>
          <a:prstGeom xmlns:a="http://schemas.openxmlformats.org/drawingml/2006/main" prst="rect">
            <a:avLst/>
          </a:prstGeom>
        </p:spPr>
      </p:pic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2037cfc1c4098"/>
          <a:stretch xmlns:a="http://schemas.openxmlformats.org/drawingml/2006/main"/>
        </p:blipFill>
        <p:spPr>
          <a:xfrm xmlns:a="http://schemas.openxmlformats.org/drawingml/2006/main">
            <a:off x="1314450" y="255333"/>
            <a:ext cx="800100" cy="17513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8F06D-0165-4557-9606-991DD06B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·  GOLD LOAN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AF36A-DB40-4E3E-B281-671CB4E4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653C7"/>
                </a:solidFill>
              </a:defRPr>
            </a:pPr>
            <a:r>
              <a:rPr sz="750" b="1">
                <a:solidFill>
                  <a:srgbClr val="0653C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0C69E-5243-4E3A-AE61-516075DA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28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38F9F"/>
                </a:solidFill>
              </a:defRPr>
            </a:pPr>
            <a:r>
              <a:rPr sz="675" b="0">
                <a:solidFill>
                  <a:srgbClr val="138F9F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5D235-9BF1-4EC5-9959-695AF473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57225"/>
            <a:ext cx="1714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C5A40-7B51-4A6A-B41D-A2D9E8FC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8F9F"/>
                </a:solidFill>
              </a:defRPr>
            </a:pPr>
            <a:r>
              <a:rPr sz="750" b="0">
                <a:solidFill>
                  <a:srgbClr val="138F9F"/>
                </a:solidFill>
              </a:rPr>
              <a:t>OPERATING MODEL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775B6-E07E-4F54-934F-EC026C21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38200"/>
            <a:ext cx="11696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137"/>
                </a:solidFill>
              </a:defRPr>
            </a:pPr>
            <a:r>
              <a:rPr sz="2175" b="1">
                <a:solidFill>
                  <a:srgbClr val="000137"/>
                </a:solidFill>
              </a:rPr>
              <a:t>Gold Loan Workflow — Capability-Aligned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A2688-2F92-4B8F-986C-9D91BFAF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228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56189"/>
                </a:solidFill>
              </a:defRPr>
            </a:pPr>
            <a:r>
              <a:rPr sz="975" b="0">
                <a:solidFill>
                  <a:srgbClr val="056189"/>
                </a:solidFill>
              </a:rPr>
              <a:t>A single controlled journey connects customer verification, collateral valuation, credit decisioning, payout and servicing.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6BF604-0F14-4235-98E0-5C05EBE27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839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9E8"/>
          </a:solidFill>
          <a:ln xmlns:a="http://schemas.openxmlformats.org/drawingml/2006/main" w="0">
            <a:solidFill>
              <a:srgbClr val="CBD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AA1C8E-AF03-4606-8590-3A8B2897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05000"/>
            <a:ext cx="190500" cy="2190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C4A70-B22D-49C3-8138-E22E1CDA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05000"/>
            <a:ext cx="190500" cy="2190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7A8E21-4FCF-4679-A242-1A77ADAD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190500" cy="2190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322EE6-9D25-4542-B5B8-D9336F43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05000"/>
            <a:ext cx="190500" cy="2190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217F27-DE8C-4C0C-914B-FF7FE165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05000"/>
            <a:ext cx="190500" cy="2190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D685F-4C98-4A6D-ACAC-90E40CEB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14500"/>
            <a:ext cx="188595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8BA74-9F17-4D2D-9288-0B711698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811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Customer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Onboarding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8097D-A794-4EF4-B013-2AF2D6F0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8F9F"/>
                </a:solidFill>
              </a:defRPr>
            </a:pPr>
            <a:r>
              <a:rPr sz="600" b="1">
                <a:solidFill>
                  <a:srgbClr val="138F9F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9DB92-36B8-412D-A4E2-32DF5921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14500"/>
            <a:ext cx="188595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139D6"/>
          </a:solidFill>
          <a:ln xmlns:a="http://schemas.openxmlformats.org/drawingml/2006/main" w="0">
            <a:solidFill>
              <a:srgbClr val="0139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A8D82-EBA4-48E0-B3BE-147BE500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811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Gold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CA99D-1691-47E4-81B3-0D973203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24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139D6"/>
                </a:solidFill>
              </a:defRPr>
            </a:pPr>
            <a:r>
              <a:rPr sz="600" b="1">
                <a:solidFill>
                  <a:srgbClr val="0139D6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6F50BF-E8F5-4657-A485-855602A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188595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AAE337-BBE3-4B77-94C3-3F0A4580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811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Loan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Details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BEBDE4-B5A0-46CF-B6DD-AB85093D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6F2B8D"/>
                </a:solidFill>
              </a:defRPr>
            </a:pPr>
            <a:r>
              <a:rPr sz="600" b="1">
                <a:solidFill>
                  <a:srgbClr val="6F2B8D"/>
                </a:solidFill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7C359-9599-4265-952C-9BB5E9D4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714500"/>
            <a:ext cx="188595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FF0FBE-E5D9-45E6-BA17-A0C11FCE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811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Credit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Approval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041884-82A0-4940-98BE-04DF3E06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0653C7"/>
                </a:solidFill>
              </a:defRPr>
            </a:pPr>
            <a:r>
              <a:rPr sz="600" b="1">
                <a:solidFill>
                  <a:srgbClr val="0653C7"/>
                </a:solidFill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EAEA96-9FD6-48CD-935C-6CB671FA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188595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9F772-6595-4175-B58B-AC925AA1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811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Disbursement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9E1190-6DB5-4537-89FE-C1C103E7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24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AC8E0"/>
                </a:solidFill>
              </a:defRPr>
            </a:pPr>
            <a:r>
              <a:rPr sz="600" b="1">
                <a:solidFill>
                  <a:srgbClr val="1AC8E0"/>
                </a:solidFill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1070C3-AE42-4F0C-95BB-3F95D13B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714500"/>
            <a:ext cx="1885950" cy="5715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14DD8D-7406-4571-AF0D-825919AC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8117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Loan</a:t>
            </a:r>
          </a:p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Servicing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7BC346-C173-4EE7-ADE5-5B60D672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324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138F9F"/>
                </a:solidFill>
              </a:defRPr>
            </a:pPr>
            <a:r>
              <a:rPr sz="600" b="1">
                <a:solidFill>
                  <a:srgbClr val="138F9F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61A32D-A908-45B0-9CD6-12D53068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781300"/>
            <a:ext cx="1885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35DE86-6F27-4F13-A688-A1727CFE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90512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38F9F"/>
                </a:solidFill>
              </a:defRPr>
            </a:pPr>
            <a:r>
              <a:rPr sz="607" b="1">
                <a:solidFill>
                  <a:srgbClr val="138F9F"/>
                </a:solidFill>
              </a:rPr>
              <a:t>16 CAPABILITIES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248A50-71E5-4725-9CD6-B68790A6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834998-3D83-49E4-BEBF-3864D954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62300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Lead creation, update and management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812D67-F3B2-456A-92FD-73A192E8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51200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B7868A-5922-4205-A9EB-6249C9C6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4379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KYC upload and verification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F0F93E-95FA-41B0-B7CC-DBD9A83A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1408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D76B06-289A-4885-8EE0-979211E1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6457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Dedupe, negative-list and AML checks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B3389B-1725-41E4-9B56-330EA696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11616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0B9C56-E3B8-46D8-912F-08A94A3F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8536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Risk categorization and CIF creation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EAA3033-A139-48AD-AF66-340B21CC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41823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2FF59B-6F30-4E78-9DBA-A94DA182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70614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Mobile / email and occupation verification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19BBE4-4B5A-49A2-8D9A-FE4DF8C0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72031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988F49-D536-4C3F-838A-C64DA0A9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2693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Income, bank and nominee capture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55BF18-10B5-40A3-8386-72577DDF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02239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3832DA-F672-44FE-A2A3-BE1EC827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4771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Applicant demographic data entry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38C777-A656-4C6D-8678-82C070D4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353050"/>
            <a:ext cx="173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0B4801-3065-412B-A3D2-7E51E782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4483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529A43-D731-4B16-ABA3-B4357D8C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57850"/>
            <a:ext cx="1733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662CF3-BA85-4428-B15E-01315A54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0547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93" b="1">
                <a:solidFill>
                  <a:srgbClr val="000137"/>
                </a:solidFill>
              </a:defRPr>
            </a:pPr>
            <a:r>
              <a:rPr sz="593" b="1">
                <a:solidFill>
                  <a:srgbClr val="000137"/>
                </a:solidFill>
              </a:rPr>
              <a:t>UIDAI · NSDL · Karza · DigiLocker · Digio · IDfy · vKYC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DF4247-C762-43A7-903B-86B399F3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81300"/>
            <a:ext cx="1885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139D6"/>
          </a:solidFill>
          <a:ln xmlns:a="http://schemas.openxmlformats.org/drawingml/2006/main" w="0">
            <a:solidFill>
              <a:srgbClr val="0139D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E9F571-6AD0-44EB-A786-3337532F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90512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0139D6"/>
                </a:solidFill>
              </a:defRPr>
            </a:pPr>
            <a:r>
              <a:rPr sz="607" b="1">
                <a:solidFill>
                  <a:srgbClr val="0139D6"/>
                </a:solidFill>
              </a:rPr>
              <a:t>8 CAPABILITIES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50A4CE-B934-4CE0-859D-231762B8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F3613E-6D14-4A3D-82DF-9EE2D5BA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6230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Ornament-wise details and weight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FFD838E-A3D2-4402-885A-EBDC8CEF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62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D702754-3FBA-4693-B0AF-05794CA9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14725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Purity testing and live photo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F5B0B1-5C96-4CDB-A5BE-9FBEFB0C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14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0FCB3E-F777-45CA-A30E-7378A26E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86715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Purity conversion to 22K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94FC7C-C2B8-43BD-8330-F39033B3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67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5C70B7-357D-4C4B-AC3C-A973811C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219575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Ornament-wise LTV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CB9A71-7353-400F-8EE5-63B7388C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19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100F984-636C-40F3-83D2-C466E189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7200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Packet management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10E64B-6637-4420-9E27-41C5F390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72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AB8A87B-9686-405B-8316-6E9B8143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24425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IBJA live-rate fetch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5057D01-3548-414F-A9F0-5F043B8C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53050"/>
            <a:ext cx="173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EC60C7B-E1D7-485B-8DE1-71A06A1F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483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66CF09-ADD7-47EF-A0EB-8629F158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57850"/>
            <a:ext cx="1733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40A256-7314-442C-851E-B7BCD8E8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0547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93" b="1">
                <a:solidFill>
                  <a:srgbClr val="000137"/>
                </a:solidFill>
              </a:defRPr>
            </a:pPr>
            <a:r>
              <a:rPr sz="593" b="1">
                <a:solidFill>
                  <a:srgbClr val="000137"/>
                </a:solidFill>
              </a:rPr>
              <a:t>Mettler Toledo · Fischer · IBJA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4E55CC7-36E4-4B66-BAF2-8B9E8F40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81300"/>
            <a:ext cx="1885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2DFDF8-922C-47F3-AD9F-4242D3C1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0512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6F2B8D"/>
                </a:solidFill>
              </a:defRPr>
            </a:pPr>
            <a:r>
              <a:rPr sz="607" b="1">
                <a:solidFill>
                  <a:srgbClr val="6F2B8D"/>
                </a:solidFill>
              </a:rPr>
              <a:t>5 CAPABILITIES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62984E-2211-4E92-AB37-0EB334E7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0C8EFDA-04CF-44D6-AB99-140ACCFD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Loan amount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53FE11-890A-46E7-83DF-5A51B044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283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620201-07CC-46CF-8FB0-987CD304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521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Loan purpose — income / consumption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A7A3A7-4935-489B-B716-01446102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5574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64EBA2A-F82B-4661-BDD1-73124476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0812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Product selection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BE6CE93-E0B5-47C0-A29B-5D688180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786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1C2CBBA-056A-41D5-A8E8-814A8E2A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3103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Scheme selection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ABF5C4-7974-4DE9-A359-E6B40D07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90156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4E99490-A588-44BE-8F57-ECDFAD20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394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Repayment details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4E7CF8-5370-411B-A196-E59FFB40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53050"/>
            <a:ext cx="173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D6FB454-7854-46F6-A458-614D22BA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483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6AAFB62-B836-40DC-81BF-E72D3FB1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1733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4854C4-C8B8-43E0-BAD9-290D6791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70547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93" b="1">
                <a:solidFill>
                  <a:srgbClr val="000137"/>
                </a:solidFill>
              </a:defRPr>
            </a:pPr>
            <a:r>
              <a:rPr sz="593" b="1">
                <a:solidFill>
                  <a:srgbClr val="000137"/>
                </a:solidFill>
              </a:rPr>
              <a:t>FinnOne Neo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12E3988-B9B8-41FD-9CF0-D5769C0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81300"/>
            <a:ext cx="1885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DA1EEB2-2626-4B46-8CFE-83E336ED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0512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0653C7"/>
                </a:solidFill>
              </a:defRPr>
            </a:pPr>
            <a:r>
              <a:rPr sz="607" b="1">
                <a:solidFill>
                  <a:srgbClr val="0653C7"/>
                </a:solidFill>
              </a:rPr>
              <a:t>11 CAPABILITIES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06B439A-0465-4599-8DC4-675777D2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36ECB95-F756-459F-9065-547267BD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6230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Review and edit application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360BEA4-277E-451B-BCC0-F558B521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62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54851A2-617D-4D86-A6AA-096267B2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14725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Credit bureau and RCU checks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8029A81-B302-4BA4-BB64-38A5BE51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14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7F95177-31BC-4BE6-87AB-FC95F852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Sanction authority matrix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34611D9-08B0-4453-A18F-67AEC2D6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380BBDE-A79E-42D2-8AB0-98DB15AE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19575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Provisioning and deviation policies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0AF49B5-05F9-4BF3-AF33-FAD4CE9D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19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86CCC88-FE07-44CF-BD3F-27EE48FC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72000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STP approval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7ECA278-8DF1-46AE-85E2-447889DE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72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42F2AF2-9E69-4703-8F15-A3F7EA21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24425"/>
            <a:ext cx="1600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Approve, send back or reject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6D00FC2-9EC6-4282-936D-68E8113D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173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B90D4F-F260-41AC-AE8F-875940B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483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3E8B548-A5A8-4F04-B243-90E83F8B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57850"/>
            <a:ext cx="1733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8F626F1-2B34-463F-9665-F9852388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70547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93" b="1">
                <a:solidFill>
                  <a:srgbClr val="000137"/>
                </a:solidFill>
              </a:defRPr>
            </a:pPr>
            <a:r>
              <a:rPr sz="593" b="1">
                <a:solidFill>
                  <a:srgbClr val="000137"/>
                </a:solidFill>
              </a:rPr>
              <a:t>Perfios · Cashfree · Equifax · Experian · CRIF · CIBIL · Posidex · Sherlock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C0DB869-4820-46D7-B905-FF96E638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1885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221F9C8-10B7-4A74-8EEE-A2EBA820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0512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AC8E0"/>
                </a:solidFill>
              </a:defRPr>
            </a:pPr>
            <a:r>
              <a:rPr sz="607" b="1">
                <a:solidFill>
                  <a:srgbClr val="1AC8E0"/>
                </a:solidFill>
              </a:rPr>
              <a:t>7 CAPABILITIES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0715D19-C376-41F7-99CA-C8867C4A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11A280B-71AF-4AEA-A562-74D3D1A5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6230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Document generation and pledge form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20E6726-3FB3-4604-9A0E-0263E0D3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283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F2F1194-3189-4AAE-858E-04721476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521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Agreement and appraisal certificate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319E773-A0FF-4F31-A1EC-62CD9CF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574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D9AB88B-256A-42CA-A733-90BEFD4D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812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Agreement e-stamping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54E45AC-0872-4143-B9F8-8E018504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786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5F89421-480C-47D7-A8D5-A74F229D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3103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Document signing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8313095-B902-42C2-B138-072F0AE7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0156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D7A5D8E-CA64-46D8-8438-0088F642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53940"/>
            <a:ext cx="1600200" cy="422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Loan disbursement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6138E91-8BFA-4674-93F5-E3F90347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53050"/>
            <a:ext cx="173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2DE1734-B034-4EF2-BFE9-8A62ECD1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483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08D3D66-BE75-44C2-94A3-421D43FE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657850"/>
            <a:ext cx="1733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76D295A-48F7-4151-B83E-9DDE42E2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70547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93" b="1">
                <a:solidFill>
                  <a:srgbClr val="000137"/>
                </a:solidFill>
              </a:defRPr>
            </a:pPr>
            <a:r>
              <a:rPr sz="593" b="1">
                <a:solidFill>
                  <a:srgbClr val="000137"/>
                </a:solidFill>
              </a:rPr>
              <a:t>ECM · Digio · Leegality · FPT · PayU · Karza · Paynimo · Razorpay · Cashfree · HDFC Bank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1173244-15C5-45FE-A756-B8F6F637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81300"/>
            <a:ext cx="1885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7543E1A-86E7-4E43-BA45-73A33475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0512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7" b="1">
                <a:solidFill>
                  <a:srgbClr val="138F9F"/>
                </a:solidFill>
              </a:defRPr>
            </a:pPr>
            <a:r>
              <a:rPr sz="607" b="1">
                <a:solidFill>
                  <a:srgbClr val="138F9F"/>
                </a:solidFill>
              </a:rPr>
              <a:t>27 CAPABILITIES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5CBBF91-274D-4F5E-A5D2-66026654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209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ED30A21-E504-4B96-9B4B-AAE2578D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162300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Gold Rate Master and loan setup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5A6616E-2683-4F40-ADE0-16943137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51200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0CC47A5-BD64-4CA6-8823-7F8097D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464379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Accrual, jumper and due generation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6BD9865-BF52-4E41-9A2B-0791024B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1408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C996087-AAE6-4BBB-8D96-6BFABBBF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766457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Repayment, charges and foreclosure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A42412F-3E1E-4363-ADA8-23AAA92C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11616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D2DD2E2-F47A-49DD-9FC6-55A0412C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68536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Renewal, top-up, release and closure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162C55A-6683-4F0C-965B-588FD6B5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1823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7492FF7-9587-49B6-B468-3662BD4C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70614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LTV monitoring and revaluation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797FAAC-1B49-42C9-9EF2-3AE31DE6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2031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48DEFDA-354B-403A-A901-52FBFCAC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672693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Collateral view and release order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D9736A38-6034-47A0-B2B1-D74546D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2239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B93C35FB-57E9-4AD1-A385-FD7F3D84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974771"/>
            <a:ext cx="1600200" cy="3020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Loan Viewer, billing and shortfall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03F7AEF-837E-417F-9C93-ECB3C62D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353050"/>
            <a:ext cx="1733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C3D80E0-A603-4FE1-A11E-46B72D53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4483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43C1CCE-5347-4061-8731-BB2D2D08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657850"/>
            <a:ext cx="1733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ABDD46E-AC43-404C-B5B5-69FA5259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05475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593" b="1">
                <a:solidFill>
                  <a:srgbClr val="000137"/>
                </a:solidFill>
              </a:defRPr>
            </a:pPr>
            <a:r>
              <a:rPr sz="593" b="1">
                <a:solidFill>
                  <a:srgbClr val="000137"/>
                </a:solidFill>
              </a:rPr>
              <a:t>Cashfree · Paynimo · Vault · Audit · Gold Collateral Management · Auction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C0B8CFD-3227-4A81-9AEE-73A6608A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3150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Verified customer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B66E98C-9AFD-45D4-8F3C-C95E9314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3150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0139D6"/>
                </a:solidFill>
              </a:defRPr>
            </a:pPr>
            <a:r>
              <a:rPr sz="623" b="1">
                <a:solidFill>
                  <a:srgbClr val="0139D6"/>
                </a:solidFill>
              </a:rPr>
              <a:t>Valued collateral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2659A77-D669-417A-B436-E63A1528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3150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6F2B8D"/>
                </a:solidFill>
              </a:defRPr>
            </a:pPr>
            <a:r>
              <a:rPr sz="623" b="1">
                <a:solidFill>
                  <a:srgbClr val="6F2B8D"/>
                </a:solidFill>
              </a:rPr>
              <a:t>Configured loan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2EA86C9-0B53-48E8-A9CE-5B04FF0B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3150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0653C7"/>
                </a:solidFill>
              </a:defRPr>
            </a:pPr>
            <a:r>
              <a:rPr sz="623" b="1">
                <a:solidFill>
                  <a:srgbClr val="0653C7"/>
                </a:solidFill>
              </a:rPr>
              <a:t>Credit decision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2FB1FC8-5B8B-4BAB-98A6-ED27ED12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150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Funds released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9A8EDE2-C847-4C49-ADD6-86198727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6315075"/>
            <a:ext cx="1885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138F9F"/>
                </a:solidFill>
              </a:defRPr>
            </a:pPr>
            <a:r>
              <a:rPr sz="623" b="1">
                <a:solidFill>
                  <a:srgbClr val="138F9F"/>
                </a:solidFill>
              </a:rPr>
              <a:t>Lifecycle managed</a:t>
            </a:r>
          </a:p>
        </p:txBody>
      </p:sp>
    </p:spTree>
    <p:extLst>
      <p:ext uri="{BB962C8B-B14F-4D97-AF65-F5344CB8AC3E}">
        <p14:creationId xmlns:p14="http://schemas.microsoft.com/office/powerpoint/2010/main" val="906396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95262ab0c4bc2"/>
          <a:stretch xmlns:a="http://schemas.openxmlformats.org/drawingml/2006/main"/>
        </p:blipFill>
        <p:spPr>
          <a:xfrm xmlns:a="http://schemas.openxmlformats.org/drawingml/2006/main">
            <a:off x="247650" y="232265"/>
            <a:ext cx="895350" cy="240320"/>
          </a:xfrm>
          <a:prstGeom xmlns:a="http://schemas.openxmlformats.org/drawingml/2006/main" prst="rect">
            <a:avLst/>
          </a:prstGeom>
        </p:spPr>
      </p:pic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de749ce0840fa"/>
          <a:stretch xmlns:a="http://schemas.openxmlformats.org/drawingml/2006/main"/>
        </p:blipFill>
        <p:spPr>
          <a:xfrm xmlns:a="http://schemas.openxmlformats.org/drawingml/2006/main">
            <a:off x="1314450" y="255333"/>
            <a:ext cx="800100" cy="17513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723B2-C8FA-4A7D-B2BF-B4E9A7D7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·  GOLD LOAN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41663-C3A4-47DC-A2CF-FEC561E2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653C7"/>
                </a:solidFill>
              </a:defRPr>
            </a:pPr>
            <a:r>
              <a:rPr sz="750" b="1">
                <a:solidFill>
                  <a:srgbClr val="0653C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29913-D383-426E-B833-24975E19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28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38F9F"/>
                </a:solidFill>
              </a:defRPr>
            </a:pPr>
            <a:r>
              <a:rPr sz="675" b="0">
                <a:solidFill>
                  <a:srgbClr val="138F9F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67019-1EF0-4138-B78D-E6FA04C6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57225"/>
            <a:ext cx="1714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DA13A-5D63-4F44-AC01-8138513F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8F9F"/>
                </a:solidFill>
              </a:defRPr>
            </a:pPr>
            <a:r>
              <a:rPr sz="750" b="0">
                <a:solidFill>
                  <a:srgbClr val="138F9F"/>
                </a:solidFill>
              </a:rPr>
              <a:t>SERVICING LIFECYCLE · WORKFLOW CONTINUATION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3D5A4-948B-4332-AD70-38A4F02F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38200"/>
            <a:ext cx="11696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137"/>
                </a:solidFill>
              </a:defRPr>
            </a:pPr>
            <a:r>
              <a:rPr sz="2175" b="1">
                <a:solidFill>
                  <a:srgbClr val="000137"/>
                </a:solidFill>
              </a:rPr>
              <a:t>Gold Loan Workflow — Custody, Control &amp; Recovery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69BEC-F9B3-4937-9AD2-244D79C8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228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56189"/>
                </a:solidFill>
              </a:defRPr>
            </a:pPr>
            <a:r>
              <a:rPr sz="975" b="0">
                <a:solidFill>
                  <a:srgbClr val="056189"/>
                </a:solidFill>
              </a:rPr>
              <a:t>The servicing lifecycle extends into secure custody, independent assurance, collateral release and digital recovery.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0A58E-49DD-4A0A-8003-25CF4BDA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504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38F9F"/>
                </a:solidFill>
              </a:defRPr>
            </a:pPr>
            <a:r>
              <a:rPr sz="638" b="1">
                <a:solidFill>
                  <a:srgbClr val="138F9F"/>
                </a:solidFill>
              </a:rPr>
              <a:t>CONTINUES FROM STAGE 06 · LOAN SERVICING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A55C85-3099-4F63-B576-2D9F9F7D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52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58394-62C1-4582-A992-5F4D3878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4954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6189"/>
                </a:solidFill>
              </a:defRPr>
            </a:pPr>
            <a:r>
              <a:rPr sz="638" b="0">
                <a:solidFill>
                  <a:srgbClr val="056189"/>
                </a:solidFill>
              </a:rPr>
              <a:t>Shared capability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88D21-D75A-445F-BD5E-479B2099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552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3EE02-AE49-4743-8E77-83F274D6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4954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56189"/>
                </a:solidFill>
              </a:defRPr>
            </a:pPr>
            <a:r>
              <a:rPr sz="638" b="0">
                <a:solidFill>
                  <a:srgbClr val="056189"/>
                </a:solidFill>
              </a:rPr>
              <a:t>Roadmap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0988B-3167-40D9-9DED-81B6E249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108775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BD9E8"/>
          </a:solidFill>
          <a:ln xmlns:a="http://schemas.openxmlformats.org/drawingml/2006/main" w="0">
            <a:solidFill>
              <a:srgbClr val="CBD9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237FA-3E95-4069-AFB9-344C2357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981200"/>
            <a:ext cx="190500" cy="2190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0EB0F0-0841-4E9F-8346-AAD11B4B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81200"/>
            <a:ext cx="190500" cy="2190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77E49-8D38-4DAF-BB57-C506EDAE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81200"/>
            <a:ext cx="190500" cy="21907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378D7-9EBE-44E7-A992-4D55598E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809750"/>
            <a:ext cx="27432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D24EF9-F9F0-45E6-9E71-F77A332A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8669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6DC04-5596-4958-8811-ED9C0B6E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097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Vault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6B62FD-2E5D-4E55-AEC4-2C3A2DD3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24050"/>
            <a:ext cx="6477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9385E-B034-42DA-BD99-197A0837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52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5A000"/>
                </a:solidFill>
              </a:defRPr>
            </a:pPr>
            <a:r>
              <a:rPr sz="600" b="1">
                <a:solidFill>
                  <a:srgbClr val="F5A000"/>
                </a:solidFill>
              </a:rPr>
              <a:t>ROADMAP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23084-870C-40DF-9594-7D580942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95550"/>
            <a:ext cx="2743200" cy="35433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4B641B-118F-41A7-A250-07E5B015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1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F5A000"/>
                </a:solidFill>
              </a:defRPr>
            </a:pPr>
            <a:r>
              <a:rPr sz="615" b="1">
                <a:solidFill>
                  <a:srgbClr val="F5A000"/>
                </a:solidFill>
              </a:rPr>
              <a:t>16 ROADMAP CAPABILITIES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DCDC62-6700-47D4-AE94-752FABB8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05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BD557F-D20F-41E0-9A0A-AB05B0E8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2857500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Vault creation, management and pledge form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525C9-308D-4550-91BD-6857F67A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8373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826959-1DA0-4EA5-81E8-A3F96083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36106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Key allocation, attendance linking and holiday calendar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9E9B9-834F-4514-8C51-B01E9484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623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0CCEB5-AD2F-4A2B-BA3B-F355D75C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14713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Vault ledger, logging and monitoring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7BDC16-F685-4E60-B742-F13319B0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4094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53D872-870C-499B-B906-7D85575E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93319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Collateral release, gold tagging and tracking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70A772-5801-42AA-9CE5-2BD25619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733FE2-0E6F-4232-9760-5466DB50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971925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Opening trigger, notification and allocation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DCF789-F22F-496E-9B9E-6D93951D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981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57A305-5AE1-4CAD-955D-CC59440F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50531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Temporary Vault In / Out process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0B77FB-8862-4869-9BD7-FD8997A2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5767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25F8A1-354B-45C4-ADEC-8481A405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29138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Real-time Vault notifications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395911-AA30-4035-AE82-BD5B5A59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5536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D84355-CB51-4CB2-830C-4BFCD2F6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807744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Bin-wise details, MIS snapshot and inventory dashboard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BFF4A1-7B0E-4497-864C-D59E3290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72100"/>
            <a:ext cx="247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7B6B21-D278-420B-A7D2-7CC7EFE6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673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38F9F"/>
                </a:solidFill>
              </a:defRPr>
            </a:pPr>
            <a:r>
              <a:rPr sz="600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A2F3C19-186E-44B6-963E-CB0F6466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7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000137"/>
                </a:solidFill>
              </a:defRPr>
            </a:pPr>
            <a:r>
              <a:rPr sz="623" b="1">
                <a:solidFill>
                  <a:srgbClr val="000137"/>
                </a:solidFill>
              </a:rPr>
              <a:t>CAS · ECM · Audit · LMS · Webcam · Packet Management · Attendance Management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E3226C-FCAB-4662-89A4-10C279ED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27432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20FE52-6A61-479B-AC14-F4D941F7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669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08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4A93CF-A8DB-4057-82FC-1FC3D1E5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097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D5F53C-53F7-418E-8D77-150293AB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6477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BC1DE4-F241-439C-9A2C-DCFCD904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52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5A000"/>
                </a:solidFill>
              </a:defRPr>
            </a:pPr>
            <a:r>
              <a:rPr sz="600" b="1">
                <a:solidFill>
                  <a:srgbClr val="F5A000"/>
                </a:solidFill>
              </a:rPr>
              <a:t>ROADMAP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7A3F5B-5091-4286-9CBA-6A384729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2743200" cy="35433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11636A-E6E6-4AF9-8AFE-29AAC3AA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1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F5A000"/>
                </a:solidFill>
              </a:defRPr>
            </a:pPr>
            <a:r>
              <a:rPr sz="615" b="1">
                <a:solidFill>
                  <a:srgbClr val="F5A000"/>
                </a:solidFill>
              </a:rPr>
              <a:t>19 ROADMAP CAPABILITIES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0D7A51-62CC-4DAB-BDEE-7F02469A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905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FF66D8-E81A-475B-A881-9E20C97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57500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Branch Risk Scorecard and auditor allocation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35A68E-1425-4665-BF3D-7B87255E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183731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BBB50F-EF01-4D06-82EB-C11145A3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36106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Audit score, type and sub-type masters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FA567C-0226-46AD-8E8C-2A61D3EB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4623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0DDA90-2AA5-4CF2-8B41-B7F27644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14713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Query / trigger, audit and batch creation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D62B55-EA3B-400B-9D2B-3204E0E2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740944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AA96BC-9584-4C5D-B18C-E0107546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93319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Packet-wise and branch-wise audit workflows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4E87DB-A6A5-4279-B84F-251DE777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BFF54D-23FD-4268-A45E-E0A3CF79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971925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Audit closure, report submission and CAP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38F088-5416-471A-81AE-03290BC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298156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51BC83-9613-43D5-80BF-A5FE07BA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50531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Gold inventory, packet and branch audit reports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1C9653-85C3-494C-80F6-74D09412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5767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880B36-4125-4313-9C72-E3690A73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529138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Audit MIS and persona-driven dashboards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762FB3-7878-4EAF-81B9-2D5F6135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855369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59A1D3-A2BE-4818-AEF5-67048B9F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807744"/>
            <a:ext cx="2362200" cy="2786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Real-time notifications and mAudit mobile app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04882B-9FFE-4F48-9458-5AE19697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72100"/>
            <a:ext cx="247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B1DFB0-1CE1-4413-A760-85BAE82B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4673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38F9F"/>
                </a:solidFill>
              </a:defRPr>
            </a:pPr>
            <a:r>
              <a:rPr sz="600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4B1C924-27A2-4A63-801A-951EA04C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7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000137"/>
                </a:solidFill>
              </a:defRPr>
            </a:pPr>
            <a:r>
              <a:rPr sz="623" b="1">
                <a:solidFill>
                  <a:srgbClr val="000137"/>
                </a:solidFill>
              </a:rPr>
              <a:t>CAS · LMS · ECM · Vault · Webcam · Mettler Toledo · Fischer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A70C8A-6D2E-463D-8052-37D05BCA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7432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AB1D423-EA59-4129-BF2C-6FD71C57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09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AD43B2-96C5-4407-A377-C948526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097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Gold Collateral Management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05230DE-C5D2-4B8C-85EF-CFE788AC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24050"/>
            <a:ext cx="6477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2BBBF16-B51D-44CF-B5C6-7C175806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52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20B887"/>
                </a:solidFill>
              </a:defRPr>
            </a:pPr>
            <a:r>
              <a:rPr sz="600" b="1">
                <a:solidFill>
                  <a:srgbClr val="20B887"/>
                </a:solidFill>
              </a:rPr>
              <a:t>SHARED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2B9B85-CD11-41D5-BF7E-B13F1754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95550"/>
            <a:ext cx="2743200" cy="35433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225A50C-F7AC-4B5E-A0D3-466A4A3F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1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20B887"/>
                </a:solidFill>
              </a:defRPr>
            </a:pPr>
            <a:r>
              <a:rPr sz="615" b="1">
                <a:solidFill>
                  <a:srgbClr val="20B887"/>
                </a:solidFill>
              </a:rPr>
              <a:t>7 SHARED CAPABILITIES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7069B1A-18EA-4FFC-98A1-40428B52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905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5D3BE10-D0D8-4131-923A-14E12F04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57500"/>
            <a:ext cx="23622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Collateral creation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0BAD723-9771-42FC-B680-3F33CBA3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222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0290D5-2F1C-4BB7-8B22-EAEE8C99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175000"/>
            <a:ext cx="23622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Collateral update and numbering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3E97ED6-44ED-4852-96E3-D2F84962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4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B57BD05-7320-46AB-A4A1-05FBB94A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92500"/>
            <a:ext cx="23622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Collateral repository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F17BF8-01C5-4D1C-9913-2ADF6E8C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57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3CD88A8-42F4-461F-9D8E-80AA566C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810000"/>
            <a:ext cx="23622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Repayment and release letter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E82019-743D-40FC-8822-6DD0B619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75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F185A7A-3C31-458C-A870-874A0259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127500"/>
            <a:ext cx="23622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Gold Release Order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75C7B6F-C0B6-45FF-BA90-E2D13A94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92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A0704D3-12ED-441F-B988-C4743EA9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445000"/>
            <a:ext cx="23622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Collateral release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1B10FA5-8569-46B8-9909-B9D4227E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2476500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B9E6DE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5E39F5D-8343-4DEB-955D-1B4A94CF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8632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0" b="1">
                <a:solidFill>
                  <a:srgbClr val="138F9F"/>
                </a:solidFill>
              </a:defRPr>
            </a:pPr>
            <a:r>
              <a:rPr sz="630" b="1">
                <a:solidFill>
                  <a:srgbClr val="138F9F"/>
                </a:solidFill>
              </a:rPr>
              <a:t>Verification controls · OTP validation · Facial recognition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0DC3AFC-B20B-4D46-9E88-5B5BB06A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72100"/>
            <a:ext cx="247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E455132-BACA-4D58-877F-961F6AEC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673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38F9F"/>
                </a:solidFill>
              </a:defRPr>
            </a:pPr>
            <a:r>
              <a:rPr sz="600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F24D4A1-39A3-49B8-9845-D5D4E1DB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7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000137"/>
                </a:solidFill>
              </a:defRPr>
            </a:pPr>
            <a:r>
              <a:rPr sz="623" b="1">
                <a:solidFill>
                  <a:srgbClr val="000137"/>
                </a:solidFill>
              </a:rPr>
              <a:t>FinnOne Neo · Vault · Audit · Webcam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AF34D7B-BACD-42FA-A9F6-47DC35BE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7432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0139D6"/>
          </a:solidFill>
          <a:ln xmlns:a="http://schemas.openxmlformats.org/drawingml/2006/main" w="0">
            <a:solidFill>
              <a:srgbClr val="0139D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D165ED-6DD8-4F7F-BB06-E8A13C8E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669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STAGE 10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48A34A4-9DFD-4445-93C2-868F4203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977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Ornament Auction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3650F49-7455-4206-A041-16AA77BF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24050"/>
            <a:ext cx="64770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0E0BC2F-B8FD-4081-872B-13DE3C3E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952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5A000"/>
                </a:solidFill>
              </a:defRPr>
            </a:pPr>
            <a:r>
              <a:rPr sz="600" b="1">
                <a:solidFill>
                  <a:srgbClr val="F5A000"/>
                </a:solidFill>
              </a:rPr>
              <a:t>ROADMAP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3FB5D6C-901B-4A06-A668-E0B435CC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95550"/>
            <a:ext cx="2743200" cy="3543300"/>
          </a:xfrm>
          <a:prstGeom xmlns:a="http://schemas.openxmlformats.org/drawingml/2006/main" prst="roundRect">
            <a:avLst>
              <a:gd name="adj" fmla="val 3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80289DC-278A-4E0D-8D8A-441991C0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F5A000"/>
                </a:solidFill>
              </a:defRPr>
            </a:pPr>
            <a:r>
              <a:rPr sz="615" b="1">
                <a:solidFill>
                  <a:srgbClr val="F5A000"/>
                </a:solidFill>
              </a:rPr>
              <a:t>4 ROADMAP CAPABILITIES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049337F-FDD8-456C-B7DF-81D3E258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05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0930ADE-443D-4B85-A646-4B39E140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57500"/>
            <a:ext cx="236220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Ornament auction process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FC5229C-EDFA-41D9-BBD5-F5293420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623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7F7B573-1C0C-42E7-B7FF-9FA9D69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414713"/>
            <a:ext cx="236220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Auctioneer empanelment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DBB961B-80E2-42B4-A0AC-9E812078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19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29B746C-8894-4211-9D8C-8DC389AA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971925"/>
            <a:ext cx="236220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Payment gateway integration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18E9E7D-240E-4376-97D5-5ABC8EAB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767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F0181D7-B3B8-4427-8F5B-E6304670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529138"/>
            <a:ext cx="2362200" cy="557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Auction-wise data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2C24D37-DED5-45A8-BAAF-18904700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72100"/>
            <a:ext cx="2476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2EE85F8-B301-47E4-B2B4-4C18348A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673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138F9F"/>
                </a:solidFill>
              </a:defRPr>
            </a:pPr>
            <a:r>
              <a:rPr sz="600" b="1">
                <a:solidFill>
                  <a:srgbClr val="138F9F"/>
                </a:solidFill>
              </a:rPr>
              <a:t>INTEGRATIONS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251A28B-701E-4A6B-8C2A-BEBC4897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76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000137"/>
                </a:solidFill>
              </a:defRPr>
            </a:pPr>
            <a:r>
              <a:rPr sz="623" b="1">
                <a:solidFill>
                  <a:srgbClr val="000137"/>
                </a:solidFill>
              </a:rPr>
              <a:t>Digio · Collections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E6FA65D-1AD7-4E4D-9F1B-415E3F72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2198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38F9F"/>
                </a:solidFill>
              </a:defRPr>
            </a:pPr>
            <a:r>
              <a:rPr sz="638" b="1">
                <a:solidFill>
                  <a:srgbClr val="138F9F"/>
                </a:solidFill>
              </a:rPr>
              <a:t>CUSTODY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8246751-36ED-4B1C-BC7D-78FAC69D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2198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653C7"/>
                </a:solidFill>
              </a:defRPr>
            </a:pPr>
            <a:r>
              <a:rPr sz="638" b="1">
                <a:solidFill>
                  <a:srgbClr val="0653C7"/>
                </a:solidFill>
              </a:rPr>
              <a:t>ASSURANCE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5B6E8A9-B524-4186-9FED-3F9F36EB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2198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6F2B8D"/>
                </a:solidFill>
              </a:defRPr>
            </a:pPr>
            <a:r>
              <a:rPr sz="638" b="1">
                <a:solidFill>
                  <a:srgbClr val="6F2B8D"/>
                </a:solidFill>
              </a:rPr>
              <a:t>COLLATERAL RELEASE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60FB0B8-D5B3-4354-9FCB-9DCF7F84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219825"/>
            <a:ext cx="2743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139D6"/>
                </a:solidFill>
              </a:defRPr>
            </a:pPr>
            <a:r>
              <a:rPr sz="638" b="1">
                <a:solidFill>
                  <a:srgbClr val="0139D6"/>
                </a:solidFill>
              </a:rPr>
              <a:t>RECOVERY</a:t>
            </a:r>
          </a:p>
        </p:txBody>
      </p:sp>
    </p:spTree>
    <p:extLst>
      <p:ext uri="{BB962C8B-B14F-4D97-AF65-F5344CB8AC3E}">
        <p14:creationId xmlns:p14="http://schemas.microsoft.com/office/powerpoint/2010/main" val="1157927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764c16be74e4a"/>
          <a:stretch xmlns:a="http://schemas.openxmlformats.org/drawingml/2006/main"/>
        </p:blipFill>
        <p:spPr>
          <a:xfrm xmlns:a="http://schemas.openxmlformats.org/drawingml/2006/main">
            <a:off x="247650" y="232265"/>
            <a:ext cx="895350" cy="240320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70021cd104be1"/>
          <a:stretch xmlns:a="http://schemas.openxmlformats.org/drawingml/2006/main"/>
        </p:blipFill>
        <p:spPr>
          <a:xfrm xmlns:a="http://schemas.openxmlformats.org/drawingml/2006/main">
            <a:off x="1314450" y="255333"/>
            <a:ext cx="800100" cy="17513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AC5CE-23C2-485C-8062-6D7436B0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·  GOLD LOAN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68E35-A453-4C61-A58B-FF262E0E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653C7"/>
                </a:solidFill>
              </a:defRPr>
            </a:pPr>
            <a:r>
              <a:rPr sz="750" b="1">
                <a:solidFill>
                  <a:srgbClr val="0653C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85AC7-6B07-4709-8B20-7FEA390A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28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38F9F"/>
                </a:solidFill>
              </a:defRPr>
            </a:pPr>
            <a:r>
              <a:rPr sz="675" b="0">
                <a:solidFill>
                  <a:srgbClr val="138F9F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33234-7978-4F6E-B3EF-866BC443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57225"/>
            <a:ext cx="1714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FB857-C580-4E9D-8EB1-1B8D2CE5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8F9F"/>
                </a:solidFill>
              </a:defRPr>
            </a:pPr>
            <a:r>
              <a:rPr sz="750" b="0">
                <a:solidFill>
                  <a:srgbClr val="138F9F"/>
                </a:solidFill>
              </a:rPr>
              <a:t>INTEGRATION ECOSYSTEM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2553F6-3EB6-49D0-8909-A086AA14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38200"/>
            <a:ext cx="11696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137"/>
                </a:solidFill>
              </a:defRPr>
            </a:pPr>
            <a:r>
              <a:rPr sz="2175" b="1">
                <a:solidFill>
                  <a:srgbClr val="000137"/>
                </a:solidFill>
              </a:rPr>
              <a:t>FinnOne Neo® Gold Loan Integration Landscape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86C20-6023-42D6-BCAE-573FD656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228725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56189"/>
                </a:solidFill>
              </a:defRPr>
            </a:pPr>
            <a:r>
              <a:rPr sz="975" b="0">
                <a:solidFill>
                  <a:srgbClr val="056189"/>
                </a:solidFill>
              </a:rPr>
              <a:t>Current and planned integrations support identity, valuation, risk assessment, payout and document management.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B828F-D0BF-4874-ADA1-AB8BB3D2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381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86EA6-520A-44AF-A4C2-DC97831B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323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Available · GA 9.0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96DEE-E462-4AEC-BD27-01E4A73B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381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289ED-49E4-4D90-B54A-7D7548FF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323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Roadmap · GA 9.5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8C0B4-B639-484A-805F-B35439FE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381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730A9-688A-457B-AC71-1D73B451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323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Future roadmap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1C8A6-F76B-4515-9DFD-34BFDE84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286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43142-2F08-48AB-B0DF-7FC38897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669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AAD0B-22D3-44CA-8AC0-8909290B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2286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593BB-C088-4317-8D79-C002C6C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669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10522-FB72-483D-A86B-558E2DCF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52625"/>
            <a:ext cx="2286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1D875-7194-49F4-B6DB-2FAB3FEC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669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540A5-991B-404E-9B47-19A7FC6D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52625"/>
            <a:ext cx="2286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21BFB-14CF-44F5-979B-4B39558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18669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FD0E1"/>
          </a:solidFill>
          <a:ln xmlns:a="http://schemas.openxmlformats.org/drawingml/2006/main" w="0">
            <a:solidFill>
              <a:srgbClr val="BFD0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F35E06-2A0C-4D2A-90E0-53054CA5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714500"/>
            <a:ext cx="21907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595C8"/>
          </a:solidFill>
          <a:ln xmlns:a="http://schemas.openxmlformats.org/drawingml/2006/main" w="0">
            <a:solidFill>
              <a:srgbClr val="1595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B184C-F491-4FAE-8118-B1B95C75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90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KYC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6108F-623A-4002-830B-C486E8E6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343150"/>
            <a:ext cx="2190750" cy="41719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B0D73C-37C3-4E75-A70B-80A66F8D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ID VERIFICATION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98CB5-2286-4D58-BAD8-DEF3E79E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0510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15AF86-DD89-4C4D-918C-C6B13A6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B1E903-7AFE-4DBB-9947-CE4C520C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336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UIDAI / Aadhaar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9B2D23-B106-4A22-8EB5-8AEBA748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0510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156092-0528-4C10-800C-33A1BA9A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5BD2BC-E2F6-474D-95A3-47FBE83A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NSDL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E673E2-84A4-4F37-9821-B4261985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4800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EA3BDD-6CB2-4EA7-B88D-6E774CD2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F6F2EA-8CC6-427A-BEC8-8E43BC58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Karza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3AAC9E-697A-44C0-A7EC-70D4659A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87AAE3-3528-41F7-84F5-0FE78858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1F1F4B-6AE8-4C02-8FAB-CA9DDC3D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765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DigiLocker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A9B883-A7A1-4CC1-A06B-F04F61E4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9090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BCC0C5-1B3E-4239-80E1-BDCF1282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B364A0-32F2-4EB1-809C-46472A6F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Digio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F3330D-8903-4DD6-9CD2-E54D5E2A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2A3669-AD63-43CA-BEFB-96314B1D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F559D7-10A9-42D4-9DD3-12DA5B4F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194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IDfy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74F329-0CDF-4B99-852C-7CF00C5C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290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VKYC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252124-0C5B-4994-8643-C118458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5765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8BA9E6-8F68-4AA4-9991-503E36FA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8F502D-72E1-4794-ABDF-48508490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862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Veri5 Digital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78E07C-732C-471F-80C6-47D63A62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5765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7104A7-126C-47D0-9E8F-55EFD017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DF98B38-EC49-4294-B8FA-EA39DF3E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862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Pixl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F683EB-4B27-4FBC-A7E9-B45DF4C2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0055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0A55C94-B856-481E-B176-108493B7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4D8CDD-9DB5-4E6A-B07F-63295F8D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Signzy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F08E553-2A6B-498D-A13F-D7BD5337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714500"/>
            <a:ext cx="21907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037943E-73DA-4340-A93B-B1E3311B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790700"/>
            <a:ext cx="203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Gold Valuation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DC317D-17CC-4B9F-BBC3-6FA4ECE2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343150"/>
            <a:ext cx="2190750" cy="41719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2FB78D1-CBC5-4916-8A43-5FC821DC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765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WEIGHING SCALE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03BF200-10B0-4D8D-A9F0-89B33A8C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0510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157B3F-191D-453A-A036-D8D8BEF8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5C0E5A-539B-4F52-BA62-F34CB7D0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336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Mettler Toledo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74ED80-E1AB-488E-9BEC-A14A7EA7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0510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F5440F2-2092-4D39-AD0B-2D3846E2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FC54EA-26C1-4949-9F23-BA1888D0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336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Essae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6025B4-147D-4F14-BBB7-69142607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432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PURITY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1FAA66-B6C5-4423-A86B-3399D52B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7185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F352DEE-2C1C-426F-A301-8F1C1EB9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1382DC-6B12-4535-A2FC-23D0CAC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04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Fischer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022E6D-CAEF-460A-BE00-4F0BBB82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7185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41A02D-D040-47BE-951C-BF7B622F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CC1046D-1291-44BC-9EF7-ADD69FD7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004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Maxsell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B772174-0270-440A-A5C3-0958BA42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100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GOLD VALUATION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601FBD-A8A2-431F-8CC5-16254F91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38600"/>
            <a:ext cx="9144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2720F08-5C84-4CE8-A7A4-11388757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133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0FB338A-01CE-4F8C-A5BE-AC785DCA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6717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IBJA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6FCEBEC-0264-4FA2-A421-0CA80855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24765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0FC2F5-8F15-40CA-A07E-6F477E4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907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Credit Assessment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BA658BF-8775-4F60-8244-9B0F6A01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2476500" cy="4171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408AA20-B0C4-414A-A424-D94453F0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7650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ACCOUNT VERIFICATION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DDE2CA8-A642-44D1-A167-077C46AD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70510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1BEDA0A-030B-4C8A-AF2D-B915D539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52E7CB5-6178-4A07-BED3-45001663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3367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Perfios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0DEDE8D-6B67-4AE0-9D11-D35E3965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0510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762C127-76AA-4309-A615-FE63EE89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1F7D867-E9C5-4368-BC49-1073224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3367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Cashfree Payments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8578496-2CA0-4D86-A6A7-ED6C7B95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432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CREDIT BUREAU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26C3EC4-F7E1-4973-A6BA-015058E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718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56D618B-C443-4A46-898A-E1101289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CC40711-C296-4DDE-B7EA-4400415C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004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Equifax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2CD983E-C1C1-473A-B80D-8B74328A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718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71CB78-037B-4248-9575-AED48CA4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467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995E4A8-2DA2-4D84-A230-892DC905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4004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Experian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D8C7367-534F-40FE-AAA4-058E8EA9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147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19E4127-B6E8-4221-A1EF-4CAD12E5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7943A34-EA89-4C43-A80F-8F0268F1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433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CRIF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DBFD685-93D5-49B9-9B61-CFEFAAF7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147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7100B29-7F1A-4377-8253-0BC9BBE1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4C504B5-5FFC-4A6F-A621-EF350A84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7433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TransUnion CIBIL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AE16580-386E-44C4-A18A-30D3DC94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576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F7759BB-6B00-4820-BD9F-CDEE42F7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CD3FDD9-4D04-405E-8C7F-6E7242FA6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862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Posidex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FB524D4-F2DE-45FA-B414-2C881B5A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49580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FRAUD / RISK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9C219FB-93C0-475A-A35E-582202E6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72440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BBDF23F-A78B-4346-9B24-226D53C6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1316909-F158-4284-94B0-287E70DF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5297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Experian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7A40544-9A37-4CE6-9F58-FB3914D9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2440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E8EEC6B-2C4D-4E97-8D7E-95C76DCF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819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754ADCD-9CEC-4E5F-A78D-EFCCBAB6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5297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Sherlock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7A1D57-709E-460F-8CAC-BFF6ED3D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14500"/>
            <a:ext cx="24765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5A6E511-C606-4D04-914F-12BCC201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Disbursal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F8A2D81-F316-455E-BD99-90E43CAD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2476500" cy="417195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E752AB9-47AB-427F-B6F1-DF278237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E-SIGNATURE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0BFAB2E-8C6E-4C6F-BE98-BFBDC2C4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70510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8D583B8-A372-4BFC-9F83-EF9E6546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F2C38B9-94BF-4C0F-8FC7-86ACF015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3367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Digio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26CB711-9566-41B7-9DE6-F71D799A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0510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7C5A0F9-FF79-480F-95B5-0359EE2F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704DAD2-5217-41DE-BC87-86A8CF7C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3367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Leegality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7DFAC2-A4F8-47C4-BAFE-51287A0A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4800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70A5AD5-06B3-49F4-A5AD-AEA3CD26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DB78FD0-B4D4-485A-85BB-7C5043C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07657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FPT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45905FC-3293-4331-A1B2-D5FE066B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86150"/>
            <a:ext cx="2209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DISBURSAL / PENNY DROP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99D399E-AC84-4328-B58D-4BF7E6E4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50B963E-DAB1-4639-818A-642D9C21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1CBB24E-3FFA-45E8-A8A4-4EA6F2E8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433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PayU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07F0569-30A4-46B0-B548-F413D96C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147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280ED3E0-4968-4830-BE6F-0C06AC03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10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48DF7DB-110F-45F8-8E0A-78A1BF47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433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Karza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3E7CE1E-185C-4F18-B893-8B621CF1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576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400DE96-C71A-4041-9681-B30EAAC8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9F53F6A-9C81-46D3-9A84-2BEB705E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862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Paynimo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E347860-D867-48BC-B570-15D2BD47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0576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63015EA-25A5-444D-8E6E-B5C3ADCA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3DE4F3B-2A2C-4B18-949C-3F6A14D4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0862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Razorpay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CD61CFC-7DA5-4BE2-9601-7B7B1801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3D50F6D-5014-4A25-BFA6-F6C07838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71E7E59-A6CD-4236-AE58-A62FAFD0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291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Cashfree Payments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5AA6DEB-33CE-4C11-9DF7-26CF38C3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400550"/>
            <a:ext cx="1057275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2700E7A-3D85-4127-ADAE-6DC0BB07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95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FB281DB-D0BE-4E98-8921-ADB09E15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29125"/>
            <a:ext cx="790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HDFC Bank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4ECBEC1-9411-42B0-87FF-01BF35EA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714500"/>
            <a:ext cx="190500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9214F"/>
          </a:solidFill>
          <a:ln xmlns:a="http://schemas.openxmlformats.org/drawingml/2006/main" w="0">
            <a:solidFill>
              <a:srgbClr val="49214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B53F765-AA11-42CD-8F3E-25511678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7907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DMS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CAA255C-865C-4587-8764-1D6CCB8E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43150"/>
            <a:ext cx="1905000" cy="41719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17B65AA-7212-4547-AC63-56510D0F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76500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DOCUMENT MANAGEMENT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B52AEF5-DEF6-40D3-9472-6DCDBC37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705100"/>
            <a:ext cx="16383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C0CC278-AAFA-4453-87D5-312B0923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00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BACC3B92-F7FD-48AA-9847-FF5FEDC7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336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IBM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31BD1E5-DA19-44E4-8ED9-FF2C7E8A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48000"/>
            <a:ext cx="163830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C699F788-C9A3-4793-AD42-43F4D003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143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87"/>
          </a:solidFill>
          <a:ln xmlns:a="http://schemas.openxmlformats.org/drawingml/2006/main" w="0">
            <a:solidFill>
              <a:srgbClr val="20B887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1647E5F-DD4C-4425-9488-C6B094C2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7657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000137"/>
                </a:solidFill>
              </a:defRPr>
            </a:pPr>
            <a:r>
              <a:rPr sz="713" b="1">
                <a:solidFill>
                  <a:srgbClr val="000137"/>
                </a:solidFill>
              </a:rPr>
              <a:t>Omnidocs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2F42EB1-A4CC-41F2-A036-68F70BE5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591300"/>
            <a:ext cx="822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38F9F"/>
                </a:solidFill>
              </a:defRPr>
            </a:pPr>
            <a:r>
              <a:rPr sz="825" b="0">
                <a:solidFill>
                  <a:srgbClr val="138F9F"/>
                </a:solidFill>
              </a:rPr>
              <a:t>Integration coverage spans the complete secured-lending journey — from customer identity through collateral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819549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f1622ccce4eb2"/>
          <a:stretch xmlns:a="http://schemas.openxmlformats.org/drawingml/2006/main"/>
        </p:blipFill>
        <p:spPr>
          <a:xfrm xmlns:a="http://schemas.openxmlformats.org/drawingml/2006/main">
            <a:off x="247650" y="232265"/>
            <a:ext cx="895350" cy="24032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146f4980c4815"/>
          <a:stretch xmlns:a="http://schemas.openxmlformats.org/drawingml/2006/main"/>
        </p:blipFill>
        <p:spPr>
          <a:xfrm xmlns:a="http://schemas.openxmlformats.org/drawingml/2006/main">
            <a:off x="1314450" y="255333"/>
            <a:ext cx="800100" cy="17513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56C46-070E-4E6D-B9C9-8C93F84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·  GOLD LOAN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15DCD-AB84-417D-8F7A-A3751159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653C7"/>
                </a:solidFill>
              </a:defRPr>
            </a:pPr>
            <a:r>
              <a:rPr sz="750" b="1">
                <a:solidFill>
                  <a:srgbClr val="0653C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6AF96-3DD1-4345-8C41-44782F2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28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38F9F"/>
                </a:solidFill>
              </a:defRPr>
            </a:pPr>
            <a:r>
              <a:rPr sz="675" b="0">
                <a:solidFill>
                  <a:srgbClr val="138F9F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E3E1A8-2E4F-499A-9A8F-A959D778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57225"/>
            <a:ext cx="1714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B41A3-BAD8-423E-9F84-60EB07C0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8F9F"/>
                </a:solidFill>
              </a:defRPr>
            </a:pPr>
            <a:r>
              <a:rPr sz="750" b="0">
                <a:solidFill>
                  <a:srgbClr val="138F9F"/>
                </a:solidFill>
              </a:rPr>
              <a:t>RELEASE CAPABILITY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5F795-4B35-4A64-AF20-E0E8CF8E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38200"/>
            <a:ext cx="11696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137"/>
                </a:solidFill>
              </a:defRPr>
            </a:pPr>
            <a:r>
              <a:rPr sz="2175" b="1">
                <a:solidFill>
                  <a:srgbClr val="000137"/>
                </a:solidFill>
              </a:rPr>
              <a:t>GA 8.5 &amp; GA 9.0 Strengthened the Gold Loan Stack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4DE15-3364-4A38-AC93-4053070D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228725"/>
            <a:ext cx="1123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56189"/>
                </a:solidFill>
              </a:defRPr>
            </a:pPr>
            <a:r>
              <a:rPr sz="975" b="0">
                <a:solidFill>
                  <a:srgbClr val="056189"/>
                </a:solidFill>
              </a:rPr>
              <a:t>Seven delivered capabilities reinforce CAS origination and valuation while extending LMS repayment differentiation.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2969B-0918-4127-867C-5D66175C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85925"/>
            <a:ext cx="1866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E651E-036C-437D-B251-20B657E4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8592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AFFADF-8672-44B9-B4D0-CC2CE605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90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53C7"/>
                </a:solidFill>
              </a:defRPr>
            </a:pPr>
            <a:r>
              <a:rPr sz="1875" b="1">
                <a:solidFill>
                  <a:srgbClr val="0653C7"/>
                </a:solidFill>
              </a:rPr>
              <a:t>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EABB8-3C3C-43E8-A5F1-888352E5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137"/>
                </a:solidFill>
              </a:defRPr>
            </a:pPr>
            <a:r>
              <a:rPr sz="825" b="1">
                <a:solidFill>
                  <a:srgbClr val="000137"/>
                </a:solidFill>
              </a:rPr>
              <a:t>Capabilities delivered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E3462-7391-4A31-BD5C-A1FADCC3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85925"/>
            <a:ext cx="1866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1249C-4815-4A0A-A1F2-CF485891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68592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57C10-0E80-4B1F-8E11-AAA6E406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62125"/>
            <a:ext cx="590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AC8E0"/>
                </a:solidFill>
              </a:defRPr>
            </a:pPr>
            <a:r>
              <a:rPr sz="1875" b="1">
                <a:solidFill>
                  <a:srgbClr val="1AC8E0"/>
                </a:solidFill>
              </a:rPr>
              <a:t>06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69ED9-7A36-4549-9CD8-A3127164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09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137"/>
                </a:solidFill>
              </a:defRPr>
            </a:pPr>
            <a:r>
              <a:rPr sz="825" b="1">
                <a:solidFill>
                  <a:srgbClr val="000137"/>
                </a:solidFill>
              </a:rPr>
              <a:t>CAS enhancements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8D4B6-F42C-4B08-9918-3A85B443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85925"/>
            <a:ext cx="18669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E74901-D51D-40F3-ACC3-03260EFF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8592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9F6C5-FFAB-42CE-AB23-10212CB1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62125"/>
            <a:ext cx="590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F2B8D"/>
                </a:solidFill>
              </a:defRPr>
            </a:pPr>
            <a:r>
              <a:rPr sz="1875" b="1">
                <a:solidFill>
                  <a:srgbClr val="6F2B8D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1FC8DE-365B-4A94-A98C-DFA1C86B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09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137"/>
                </a:solidFill>
              </a:defRPr>
            </a:pPr>
            <a:r>
              <a:rPr sz="825" b="1">
                <a:solidFill>
                  <a:srgbClr val="000137"/>
                </a:solidFill>
              </a:rPr>
              <a:t>LMS enhancement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90F204-7CA3-4FA5-BFF4-C1A3027F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85925"/>
            <a:ext cx="54483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0FC14-313E-4F59-A10D-00932045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LEADERSHIP TAKEAWAY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F2811-F020-41AF-A7D5-94C2C00E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5067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0137"/>
                </a:solidFill>
              </a:defRPr>
            </a:pPr>
            <a:r>
              <a:rPr sz="975" b="1">
                <a:solidFill>
                  <a:srgbClr val="000137"/>
                </a:solidFill>
              </a:rPr>
              <a:t>CAS establishes the data and valuation foundation; LMS converts it into differentiated repayment servicing.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968A85-ED58-4798-8356-E640AD6F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00525"/>
            <a:ext cx="14763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D8E8"/>
          </a:solidFill>
          <a:ln xmlns:a="http://schemas.openxmlformats.org/drawingml/2006/main" w="0">
            <a:solidFill>
              <a:srgbClr val="C8D8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EB8E3-0DA9-486A-AFD4-19A6EB59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95750"/>
            <a:ext cx="2667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8D8E8"/>
          </a:solidFill>
          <a:ln xmlns:a="http://schemas.openxmlformats.org/drawingml/2006/main" w="0">
            <a:solidFill>
              <a:srgbClr val="C8D8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F7678E-7C97-47C2-9C96-EDF53D64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67000"/>
            <a:ext cx="609600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4FD72C-82CB-442D-AC0C-FF7499A4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667000"/>
            <a:ext cx="6096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B9234D-2013-4E24-899E-79AB09E4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8384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C8E0"/>
                </a:solidFill>
              </a:defRPr>
            </a:pPr>
            <a:r>
              <a:rPr sz="1800" b="1">
                <a:solidFill>
                  <a:srgbClr val="1AC8E0"/>
                </a:solidFill>
              </a:rPr>
              <a:t>CAS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61294A-1ED6-4E5C-BE2F-8A81F71F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137"/>
                </a:solidFill>
              </a:defRPr>
            </a:pPr>
            <a:r>
              <a:rPr sz="1050" b="1">
                <a:solidFill>
                  <a:srgbClr val="000137"/>
                </a:solidFill>
              </a:rPr>
              <a:t>Origination, collateral data &amp; valuation controls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D5E67D-9446-45E5-86E5-D273E2C5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333750"/>
            <a:ext cx="2686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B7A256-0466-4410-9138-2C554106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2247C8-A80A-4D8D-AE71-50ACBDB0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8C74B3-D2FC-4A98-9106-373087BF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1947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137"/>
                </a:solidFill>
              </a:defRPr>
            </a:pPr>
            <a:r>
              <a:rPr sz="900" b="1">
                <a:solidFill>
                  <a:srgbClr val="000137"/>
                </a:solidFill>
              </a:rPr>
              <a:t>Rebate / Penalty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D4D516-605E-4EC2-AE07-D2DAED1A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290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56189"/>
                </a:solidFill>
              </a:defRPr>
            </a:pPr>
            <a:r>
              <a:rPr sz="713" b="0">
                <a:solidFill>
                  <a:srgbClr val="056189"/>
                </a:solidFill>
              </a:rPr>
              <a:t>Rebate and penalty capture within CAS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50597D-AFFB-4F88-AA62-B62445E2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333750"/>
            <a:ext cx="2686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DBBE32-584C-4A84-BE2D-B623C30C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5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B9BF1F-B72D-4A3C-830F-9A27CA3B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A53B86-892B-4132-AD7C-FCC2970D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1947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137"/>
                </a:solidFill>
              </a:defRPr>
            </a:pPr>
            <a:r>
              <a:rPr sz="900" b="1">
                <a:solidFill>
                  <a:srgbClr val="000137"/>
                </a:solidFill>
              </a:rPr>
              <a:t>LTV with Interest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9A2290-1F91-4312-BD82-83AB9FF8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290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56189"/>
                </a:solidFill>
              </a:defRPr>
            </a:pPr>
            <a:r>
              <a:rPr sz="713" b="0">
                <a:solidFill>
                  <a:srgbClr val="056189"/>
                </a:solidFill>
              </a:rPr>
              <a:t>Interest field added to strengthen LTV assessment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5C1A42-B564-4FD6-9B7F-83A53EF2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52900"/>
            <a:ext cx="2686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2A5245-311F-4981-8FDB-F67A7929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24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EA30C4-F561-4576-B32D-110B43B3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62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89C734-34C3-49E7-AEF9-C955902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386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137"/>
                </a:solidFill>
              </a:defRPr>
            </a:pPr>
            <a:r>
              <a:rPr sz="900" b="1">
                <a:solidFill>
                  <a:srgbClr val="000137"/>
                </a:solidFill>
              </a:rPr>
              <a:t>Web Camera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CF3227-A444-4732-9388-F9213F5C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56189"/>
                </a:solidFill>
              </a:defRPr>
            </a:pPr>
            <a:r>
              <a:rPr sz="713" b="0">
                <a:solidFill>
                  <a:srgbClr val="056189"/>
                </a:solidFill>
              </a:rPr>
              <a:t>Image capture incorporated into the collateral journey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BF715D-CFE3-4189-BC16-F1F3172E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152900"/>
            <a:ext cx="2686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6A6E4D-7DF3-487F-8511-170A2AC8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24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0CAFE4B-3656-49F1-B9F2-DFD9C164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62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IBJA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A0AFD3-7554-4859-ACE2-A80D7413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3862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137"/>
                </a:solidFill>
              </a:defRPr>
            </a:pPr>
            <a:r>
              <a:rPr sz="900" b="1">
                <a:solidFill>
                  <a:srgbClr val="000137"/>
                </a:solidFill>
              </a:rPr>
              <a:t>IBJA Integration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8B0716-CDF3-4770-A057-BDCDB41F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4817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56189"/>
                </a:solidFill>
              </a:defRPr>
            </a:pPr>
            <a:r>
              <a:rPr sz="713" b="0">
                <a:solidFill>
                  <a:srgbClr val="056189"/>
                </a:solidFill>
              </a:rPr>
              <a:t>Benchmark gold-rate connectivity enabled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541704-6BEF-4EE0-B923-C22DE0B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72050"/>
            <a:ext cx="2686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B138DD-CDB1-4928-9FEB-C1A828F6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6CB85FA-1F34-4B7B-874D-C8589FB4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81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ƒx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5E54E21-4A5D-479F-848E-75CDCF9C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5777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137"/>
                </a:solidFill>
              </a:defRPr>
            </a:pPr>
            <a:r>
              <a:rPr sz="900" b="1">
                <a:solidFill>
                  <a:srgbClr val="000137"/>
                </a:solidFill>
              </a:rPr>
              <a:t>Gold Rate Logic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21B137F-EB8E-4978-9D4B-0B6355EC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56189"/>
                </a:solidFill>
              </a:defRPr>
            </a:pPr>
            <a:r>
              <a:rPr sz="713" b="0">
                <a:solidFill>
                  <a:srgbClr val="056189"/>
                </a:solidFill>
              </a:rPr>
              <a:t>Automated rate-calculation logic for gold valuation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3215B1-EFB3-4B3C-8FDA-D318C9A3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72050"/>
            <a:ext cx="26860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DD3E3D-3095-484D-960B-EFDBDE68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43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F2F8E8-9A4C-4199-98D2-F8FCC30E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</a:defRPr>
            </a:pPr>
            <a:r>
              <a:rPr sz="600" b="1">
                <a:solidFill>
                  <a:srgbClr val="FFFFFF"/>
                </a:solidFill>
              </a:rPr>
              <a:t>22K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E8C601D-4A9E-4EEA-9176-4B50D4AA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57775"/>
            <a:ext cx="1943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137"/>
                </a:solidFill>
              </a:defRPr>
            </a:pPr>
            <a:r>
              <a:rPr sz="900" b="1">
                <a:solidFill>
                  <a:srgbClr val="000137"/>
                </a:solidFill>
              </a:rPr>
              <a:t>Pure Weight · 22K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258B9BD-E58F-408F-BF4F-ED15E9F8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67325"/>
            <a:ext cx="194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056189"/>
                </a:solidFill>
              </a:defRPr>
            </a:pPr>
            <a:r>
              <a:rPr sz="713" b="0">
                <a:solidFill>
                  <a:srgbClr val="056189"/>
                </a:solidFill>
              </a:rPr>
              <a:t>Pure weight calculated for each ornament at 22K purity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9E6164C-CD23-4E16-9032-B5799437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504825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E3CC17D-895E-4566-BBCE-ECFF2E1A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67000"/>
            <a:ext cx="5048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4906134-4F9A-411E-B2D8-DF65507E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845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2B8D"/>
                </a:solidFill>
              </a:defRPr>
            </a:pPr>
            <a:r>
              <a:rPr sz="1800" b="1">
                <a:solidFill>
                  <a:srgbClr val="6F2B8D"/>
                </a:solidFill>
              </a:rPr>
              <a:t>LMS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C8D098-AB0A-415D-AB69-EF7A86D0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0137"/>
                </a:solidFill>
              </a:defRPr>
            </a:pPr>
            <a:r>
              <a:rPr sz="1050" b="1">
                <a:solidFill>
                  <a:srgbClr val="000137"/>
                </a:solidFill>
              </a:rPr>
              <a:t>Repayment lifecycle &amp; customer servicing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C07C82-7B70-4197-9D6F-712EF0B7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0425"/>
            <a:ext cx="4476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1994119-7932-4708-A8EE-461ACFF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67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03F241E-DA94-4B57-9AD6-C929407A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528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↻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4E4B15-2CD9-4907-941F-FDF4C56C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62350"/>
            <a:ext cx="3105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137"/>
                </a:solidFill>
              </a:defRPr>
            </a:pPr>
            <a:r>
              <a:rPr sz="1350" b="1">
                <a:solidFill>
                  <a:srgbClr val="000137"/>
                </a:solidFill>
              </a:rPr>
              <a:t>Interest Roll-up with Rebate Structure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2E9252-FFF4-4743-B496-A04FCC9A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48125"/>
            <a:ext cx="3105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56189"/>
                </a:solidFill>
              </a:defRPr>
            </a:pPr>
            <a:r>
              <a:rPr sz="900" b="0">
                <a:solidFill>
                  <a:srgbClr val="056189"/>
                </a:solidFill>
              </a:rPr>
              <a:t>Extends LMS repayment configuration to support interest roll-up combined with a rebate structure.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95613D6-7E3A-4580-9E1D-3EAA9C46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91125"/>
            <a:ext cx="4476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70DB03D-9AB7-4243-92E9-00EE40AA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7685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38F9F"/>
                </a:solidFill>
              </a:defRPr>
            </a:pPr>
            <a:r>
              <a:rPr sz="675" b="1">
                <a:solidFill>
                  <a:srgbClr val="138F9F"/>
                </a:solidFill>
              </a:rPr>
              <a:t>BUSINESS VALUE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3D9F543-E308-49FE-BFB0-DF1D69B7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38750"/>
            <a:ext cx="2914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0137"/>
                </a:solidFill>
              </a:defRPr>
            </a:pPr>
            <a:r>
              <a:rPr sz="825" b="1">
                <a:solidFill>
                  <a:srgbClr val="000137"/>
                </a:solidFill>
              </a:rPr>
              <a:t>A more flexible and differentiated Gold Loan repayment proposition.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6AECA1-BD84-4905-A653-3BFA6D7E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324600"/>
            <a:ext cx="807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Release scope shown as a combined GA 8.5 and GA 9.0 capability portfolio; feature-level release mapping was not provided.</a:t>
            </a:r>
          </a:p>
        </p:txBody>
      </p:sp>
    </p:spTree>
    <p:extLst>
      <p:ext uri="{BB962C8B-B14F-4D97-AF65-F5344CB8AC3E}">
        <p14:creationId xmlns:p14="http://schemas.microsoft.com/office/powerpoint/2010/main" val="18026770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3183404b04cd0"/>
          <a:stretch xmlns:a="http://schemas.openxmlformats.org/drawingml/2006/main"/>
        </p:blipFill>
        <p:spPr>
          <a:xfrm xmlns:a="http://schemas.openxmlformats.org/drawingml/2006/main">
            <a:off x="247650" y="232265"/>
            <a:ext cx="895350" cy="240320"/>
          </a:xfrm>
          <a:prstGeom xmlns:a="http://schemas.openxmlformats.org/drawingml/2006/main" prst="rect">
            <a:avLst/>
          </a:prstGeom>
        </p:spPr>
      </p:pic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b5af4939a4653"/>
          <a:stretch xmlns:a="http://schemas.openxmlformats.org/drawingml/2006/main"/>
        </p:blipFill>
        <p:spPr>
          <a:xfrm xmlns:a="http://schemas.openxmlformats.org/drawingml/2006/main">
            <a:off x="1314450" y="255333"/>
            <a:ext cx="800100" cy="17513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971E5-5C4F-4329-BF9A-7422460E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056189"/>
                </a:solidFill>
              </a:defRPr>
            </a:pPr>
            <a:r>
              <a:rPr sz="675" b="0">
                <a:solidFill>
                  <a:srgbClr val="056189"/>
                </a:solidFill>
              </a:rPr>
              <a:t>·  GOLD LOAN SUITE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ABF1C-282E-4AAC-AA50-C175BBAD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286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653C7"/>
                </a:solidFill>
              </a:defRPr>
            </a:pPr>
            <a:r>
              <a:rPr sz="750" b="1">
                <a:solidFill>
                  <a:srgbClr val="0653C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52F63-6693-470D-9DD9-A9779091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228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38F9F"/>
                </a:solidFill>
              </a:defRPr>
            </a:pPr>
            <a:r>
              <a:rPr sz="675" b="0">
                <a:solidFill>
                  <a:srgbClr val="138F9F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86055-5E1E-4779-B856-8CC7547C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57225"/>
            <a:ext cx="1714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B857B-077B-4E32-95E0-48E9BF08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38F9F"/>
                </a:solidFill>
              </a:defRPr>
            </a:pPr>
            <a:r>
              <a:rPr sz="750" b="0">
                <a:solidFill>
                  <a:srgbClr val="138F9F"/>
                </a:solidFill>
              </a:rPr>
              <a:t>FUTURE ROADMAP · BOARD 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7F096-00A8-4283-AEFC-B898B7F2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838200"/>
            <a:ext cx="11696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137"/>
                </a:solidFill>
              </a:defRPr>
            </a:pPr>
            <a:r>
              <a:rPr sz="2175" b="1">
                <a:solidFill>
                  <a:srgbClr val="000137"/>
                </a:solidFill>
              </a:rPr>
              <a:t>1,550 SP Roadmap Expands the Gold Loan Platform End to 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1ACED-F37A-4324-8095-CC7025E0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228725"/>
            <a:ext cx="1143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56189"/>
                </a:solidFill>
              </a:defRPr>
            </a:pPr>
            <a:r>
              <a:rPr sz="975" b="0">
                <a:solidFill>
                  <a:srgbClr val="056189"/>
                </a:solidFill>
              </a:rPr>
              <a:t>Investment prioritizes servicing, assurance and auction capabilities while completing custody and origination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118C5-5BF4-430B-B0A8-27DF8A56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600200"/>
            <a:ext cx="27241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00137"/>
          </a:solidFill>
          <a:ln xmlns:a="http://schemas.openxmlformats.org/drawingml/2006/main" w="0">
            <a:solidFill>
              <a:srgbClr val="00013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3E765-26BA-40D9-A719-FB8305FB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764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1,550 SP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74635-C75F-427B-9F3C-9D3D024D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097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TOTAL ROADMAP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7B4A5-4FCC-404F-885A-0F8E925E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00200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5C46C-F912-4CDB-9528-9C8E1808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53C7"/>
                </a:solidFill>
              </a:defRPr>
            </a:pPr>
            <a:r>
              <a:rPr sz="1800" b="1">
                <a:solidFill>
                  <a:srgbClr val="0653C7"/>
                </a:solidFill>
              </a:rPr>
              <a:t>79%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EC7B6-D044-4BD5-AC61-7539ABE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049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137"/>
                </a:solidFill>
              </a:defRPr>
            </a:pPr>
            <a:r>
              <a:rPr sz="900" b="1">
                <a:solidFill>
                  <a:srgbClr val="000137"/>
                </a:solidFill>
              </a:rPr>
              <a:t>of effort scales the core operating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E4A4D-DBFC-4416-85C8-D683F0A6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907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189"/>
                </a:solidFill>
              </a:defRPr>
            </a:pPr>
            <a:r>
              <a:rPr sz="675" b="1">
                <a:solidFill>
                  <a:srgbClr val="056189"/>
                </a:solidFill>
              </a:rPr>
              <a:t>LMS · Audit · Auction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EB0BB-2931-4BE9-B545-9EF72152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00200"/>
            <a:ext cx="44577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F6FB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F3B16-0B79-439C-85A2-CFCB11BC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764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8F9F"/>
                </a:solidFill>
              </a:defRPr>
            </a:pPr>
            <a:r>
              <a:rPr sz="1800" b="1">
                <a:solidFill>
                  <a:srgbClr val="138F9F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19834B-BF84-4795-B26A-E1D3571C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04975"/>
            <a:ext cx="3467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0137"/>
                </a:solidFill>
              </a:defRPr>
            </a:pPr>
            <a:r>
              <a:rPr sz="900" b="1">
                <a:solidFill>
                  <a:srgbClr val="000137"/>
                </a:solidFill>
              </a:rPr>
              <a:t>integrated modules across the lifecycle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E857A-9A34-46AC-A1E1-488A98DE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90725"/>
            <a:ext cx="403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056189"/>
                </a:solidFill>
              </a:defRPr>
            </a:pPr>
            <a:r>
              <a:rPr sz="675" b="1">
                <a:solidFill>
                  <a:srgbClr val="056189"/>
                </a:solidFill>
              </a:rPr>
              <a:t>Origination → Servicing → Control → Custody →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F2592-4EE4-4ABA-AA7A-112F398E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419350"/>
            <a:ext cx="232410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FD2BB-B0FE-4FB7-B2A4-D475E846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8602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BBAACE-48A8-4D61-B6B3-E083059C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05075"/>
            <a:ext cx="5143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5329FB-E4E4-4133-B9CF-019FE383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3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F5A000"/>
                </a:solidFill>
              </a:defRPr>
            </a:pPr>
            <a:r>
              <a:rPr sz="653" b="1">
                <a:solidFill>
                  <a:srgbClr val="F5A000"/>
                </a:solidFill>
              </a:rPr>
              <a:t>380 SP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5EBD33-31FF-4702-96D7-752FEC42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33700"/>
            <a:ext cx="2324100" cy="2971800"/>
          </a:xfrm>
          <a:prstGeom xmlns:a="http://schemas.openxmlformats.org/drawingml/2006/main" prst="roundRect">
            <a:avLst>
              <a:gd name="adj" fmla="val 40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9E55C-3D4D-4B42-AEF8-05BE200B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943225"/>
            <a:ext cx="381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000"/>
          </a:solidFill>
          <a:ln xmlns:a="http://schemas.openxmlformats.org/drawingml/2006/main" w="0">
            <a:solidFill>
              <a:srgbClr val="F5A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CB1DFE-8473-44C3-A7FC-A68A0EED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908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F5A000"/>
                </a:solidFill>
              </a:defRPr>
            </a:pPr>
            <a:r>
              <a:rPr sz="593" b="1">
                <a:solidFill>
                  <a:srgbClr val="F5A000"/>
                </a:solidFill>
              </a:rPr>
              <a:t>GOVERNANCE &amp; SETUP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7912F8-43F2-4AE1-964F-396018F1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48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F913CF-B2C7-4D84-9B3F-87A094E6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200400"/>
            <a:ext cx="1962150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Auctioneer master and empanelment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78AF3-B612-40F1-941A-B489197B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73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16314C-503D-4EA0-B411-CCAE95A3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425825"/>
            <a:ext cx="1962150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Auction initiation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8C494E-6A66-4727-B4BD-24772914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98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FB9415-1495-4994-9383-E17DC7E0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651250"/>
            <a:ext cx="1962150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Auction creation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5F1E3-1A40-4722-B23D-2C87F57C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24300"/>
            <a:ext cx="2095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512EE-455B-4CE1-AF9E-B1BEE7C1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3933825"/>
            <a:ext cx="381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AA66F3-4AAE-4FE6-9FFB-E892C962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814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6F2B8D"/>
                </a:solidFill>
              </a:defRPr>
            </a:pPr>
            <a:r>
              <a:rPr sz="593" b="1">
                <a:solidFill>
                  <a:srgbClr val="6F2B8D"/>
                </a:solidFill>
              </a:rPr>
              <a:t>DIGITAL AUCTION EXECUTION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017D3A-4955-436C-916C-645E7E1A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38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C96DE6-CEAA-4524-BC45-7AD88D11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191000"/>
            <a:ext cx="1962150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Packet bundling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B8163E-398D-4A9E-8752-94222CDB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640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7A2919-A034-4241-84B6-0BA55287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16425"/>
            <a:ext cx="1962150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Auction portal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8BF9F41-B1FC-4F4F-8A49-62B0ACFE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89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E00485-5710-4A0E-96CA-E0AE231E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641850"/>
            <a:ext cx="1962150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Bid management and approval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EFE757-03D6-4604-BD47-9F12269E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914900"/>
            <a:ext cx="20955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D292D4F-12E9-4F44-BBCC-A2BAD37F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4924425"/>
            <a:ext cx="381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21B91F-B865-45F1-B384-2C9A5E02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72050"/>
            <a:ext cx="2076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INTEGRATION &amp; ACCOUNTING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40CC9E-06B1-4727-8DEB-8868FD5E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292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FBFA0A-262E-4911-BACC-FBF2F8B4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181600"/>
            <a:ext cx="19621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LMS and payment gateway integration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DB316B-E5AC-4F4D-A5D8-A5B02250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673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A49BE7-7BEB-4EFA-8CBF-A5F61520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5519738"/>
            <a:ext cx="19621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Auctioneer- and loan-level accounting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53EA77-02C3-48BF-96FC-33CE4BD9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19350"/>
            <a:ext cx="247650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279E40-B97F-426F-8D06-96A03BA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860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LMS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EB5E50-06F6-4EAF-845C-E0B8E04E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5143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78C36E-AAAF-4490-A4CE-4658B230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3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6F2B8D"/>
                </a:solidFill>
              </a:defRPr>
            </a:pPr>
            <a:r>
              <a:rPr sz="653" b="1">
                <a:solidFill>
                  <a:srgbClr val="6F2B8D"/>
                </a:solidFill>
              </a:rPr>
              <a:t>450 SP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6672BCE-2128-4A8D-A9AB-6BEB278E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33700"/>
            <a:ext cx="2476500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70562D8-6232-4BEA-8391-B0C74ACF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4322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6191C8-FCE4-4CBE-B763-EB719BF3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99085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6F2B8D"/>
                </a:solidFill>
              </a:defRPr>
            </a:pPr>
            <a:r>
              <a:rPr sz="593" b="1">
                <a:solidFill>
                  <a:srgbClr val="6F2B8D"/>
                </a:solidFill>
              </a:rPr>
              <a:t>REPAYMENT WITH REBATE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87B0F2-4120-43C9-81CD-64C6B26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48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F043A6-3050-4D71-9E09-8613F833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00400"/>
            <a:ext cx="2114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Interest roll-up with Total Due and rebate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28BACDC-0274-4DBE-B5CC-53715C5F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909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A89FC5-0A72-4105-B80E-A16E0F6A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43275"/>
            <a:ext cx="2114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Monthly / quarterly / half-yearly bullet schedules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55324A-4C70-47E1-AE18-04BEAC4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533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0FBEBE-5501-4BE7-BD73-A0AB9B2C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486150"/>
            <a:ext cx="2114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Structured repayment schedule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AF79CD2-98E5-4F94-8764-F9C1E7DD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22479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9EFEAC-F456-4B73-BD89-F538C1F1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8617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67E9364-534C-4C73-BCF5-846A5C82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3380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653C7"/>
                </a:solidFill>
              </a:defRPr>
            </a:pPr>
            <a:r>
              <a:rPr sz="593" b="1">
                <a:solidFill>
                  <a:srgbClr val="0653C7"/>
                </a:solidFill>
              </a:rPr>
              <a:t>REVALUATION &amp; LTV CONTROL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C441EF0-2A41-4C89-90E6-236322AD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90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0145C15-013F-4CD2-8478-BF6BDC39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43350"/>
            <a:ext cx="2114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Gold Loan revaluation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C032757-A637-478B-9F66-7187D4C5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13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973529-5BD0-485C-97EA-75087707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86225"/>
            <a:ext cx="2114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LTV monitoring dashboards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E6EB2C-DCAC-4FBB-AF9E-E917759F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276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AEFA0A4-E035-4C42-A0B6-522E2CBA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229100"/>
            <a:ext cx="2114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Margin-breach process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DF62ED-4136-4B98-B598-CC43A04D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19600"/>
            <a:ext cx="22479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BA0A0F0-E203-44A2-87AE-E6D19DB93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2912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BA72AC-5ECB-498E-8D2D-26D979AF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47675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RELEASE &amp; EXCEPTIONS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FA1D0D-4A27-4A7E-B226-E6795A68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733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E4F6504-DA7B-4FB6-A8AA-AE3A9CF7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86300"/>
            <a:ext cx="2114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OTP / facial recognition / image capture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46038CB-DEC9-439A-A452-6CF5282C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8768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681AFB9-264B-4A89-B060-DC2BA901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829175"/>
            <a:ext cx="2114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Authorized third-party redemption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A347A05-910D-407B-A019-F67F48EE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19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21A305-1387-476D-B267-654E64A2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72050"/>
            <a:ext cx="2114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Borrower death and police seizure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B9DA23F-1462-4703-87E9-67A3691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62550"/>
            <a:ext cx="22479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86761D7-B233-4C46-90F3-C48CE245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7207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FCF4CE0-C6DD-4182-9392-36CDA2A2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19700"/>
            <a:ext cx="2228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AC8E0"/>
                </a:solidFill>
              </a:defRPr>
            </a:pPr>
            <a:r>
              <a:rPr sz="593" b="1">
                <a:solidFill>
                  <a:srgbClr val="1AC8E0"/>
                </a:solidFill>
              </a:rPr>
              <a:t>CROSS-PLATFORM ENHANCEMENTS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E819F59-D36B-4B19-B9C0-22290BF5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476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F5B810-B6A2-4ED2-AFA2-9B0A279D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429250"/>
            <a:ext cx="2114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Audit, Vault and Auction-related enhancements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3C9F2C6-CE27-4999-A8C3-D7327E45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19350"/>
            <a:ext cx="215265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6DC4787-CC9A-461B-9BE1-A8AC7BD1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860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686AD95-9676-4206-97B3-D09BAA40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05075"/>
            <a:ext cx="5143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27C69F2-9AF9-448D-9CB8-C3B47AC5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3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0653C7"/>
                </a:solidFill>
              </a:defRPr>
            </a:pPr>
            <a:r>
              <a:rPr sz="653" b="1">
                <a:solidFill>
                  <a:srgbClr val="0653C7"/>
                </a:solidFill>
              </a:rPr>
              <a:t>400 SP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3AF3E6C-8631-487C-AA40-6F0F38A4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33700"/>
            <a:ext cx="2152650" cy="297180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B854C87-FE43-408E-9E3E-9C73D027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43225"/>
            <a:ext cx="381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5E6A4A5-1383-49FA-834C-1D10F57C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90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653C7"/>
                </a:solidFill>
              </a:defRPr>
            </a:pPr>
            <a:r>
              <a:rPr sz="593" b="1">
                <a:solidFill>
                  <a:srgbClr val="0653C7"/>
                </a:solidFill>
              </a:rPr>
              <a:t>RISK-BASED INITIATION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0EE239F-E7DE-4EB3-B647-A21DCF36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248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9870369-D37F-4829-BF9A-B2E319A3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00400"/>
            <a:ext cx="17907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Branch Risk Matrix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4C12FA-DB98-4467-B53C-9CF0377F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861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E9627D4-E073-4876-B828-C7830A7A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538538"/>
            <a:ext cx="17907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Sampling Matrix and audit triggers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0800556-03DE-4128-B7D0-E26D083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924300"/>
            <a:ext cx="19240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15B383F-F0BE-4514-B076-0EC357AB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33825"/>
            <a:ext cx="381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879CE27-1314-448E-B1E6-DDB02C8A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814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6F2B8D"/>
                </a:solidFill>
              </a:defRPr>
            </a:pPr>
            <a:r>
              <a:rPr sz="593" b="1">
                <a:solidFill>
                  <a:srgbClr val="6F2B8D"/>
                </a:solidFill>
              </a:rPr>
              <a:t>EXECUTION &amp; CLOSURE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F01FC4A-B8C9-410A-A6F7-94DA562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238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B08781E-177F-4AA8-82F7-068238EA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191000"/>
            <a:ext cx="17907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Audit execution and mAudit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FFF50BD-61C4-4094-AC51-BDCB2D40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5767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AD0E9FD-78FD-4A8A-928F-E49FE0D3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529138"/>
            <a:ext cx="179070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Audit closure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9870C9F-AB72-4000-A4DB-975A01FB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14900"/>
            <a:ext cx="19240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86A7E35-C0E1-437A-8AEF-73105339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24425"/>
            <a:ext cx="381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B9F264D-CDB8-4E57-B206-AC4AC756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720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AC8E0"/>
                </a:solidFill>
              </a:defRPr>
            </a:pPr>
            <a:r>
              <a:rPr sz="593" b="1">
                <a:solidFill>
                  <a:srgbClr val="1AC8E0"/>
                </a:solidFill>
              </a:rPr>
              <a:t>OVERSIGHT &amp; REMEDIATION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7FF4FEE-27AC-40D4-A15A-AB4FA0EB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2292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A6161D4-72B4-44D9-A90A-DA164D8E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181600"/>
            <a:ext cx="1790700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Dashboards and Corrective Action Plan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AAC0498-8900-4617-8D2B-16B5DAED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546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7215EF0-D81A-4B8E-A988-A829E74B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407025"/>
            <a:ext cx="1790700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Reports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B9D30DF-D0DE-4633-8A4B-4A558186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680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94D8CD6-E2CF-4FCB-B4DC-59FD5E37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632450"/>
            <a:ext cx="1790700" cy="22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Webcam, weighing scale, XRF and Neo Suite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8F6E0ED-DCBB-4070-8FCB-23A02211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19350"/>
            <a:ext cx="215265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31A64B6-4411-4A99-8473-FCEE3BD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860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VAULT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1A1E219-9758-45B3-BB72-AB86C4BA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05075"/>
            <a:ext cx="5143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B6FFEBC-6EBC-4360-BBE4-08B77682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3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138F9F"/>
                </a:solidFill>
              </a:defRPr>
            </a:pPr>
            <a:r>
              <a:rPr sz="653" b="1">
                <a:solidFill>
                  <a:srgbClr val="138F9F"/>
                </a:solidFill>
              </a:rPr>
              <a:t>250 SP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2A1F7E4-EAC5-47B8-8DE3-278D153C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33700"/>
            <a:ext cx="2152650" cy="2971800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2ED97DA-7BA2-4205-A123-3562AEC7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37FC12B-F770-458C-8EA3-AFC7CFBD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SETUP &amp; ACCESS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7CE2F1F-2818-4616-AEB8-3FD81E42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48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0CD6ACD-64F5-4AA3-A985-1FCBF3F3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200400"/>
            <a:ext cx="17907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Vault creation and key management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82559A0-6548-4D2E-94C3-BB646535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4623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21D94F5-7181-49A3-98EE-5773028D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414713"/>
            <a:ext cx="17907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Vault opening controls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7D8C519-5C8C-48CA-9147-B5A4510A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19240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DE89DDF-5049-44D1-A368-1E7997D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8617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2B8D"/>
          </a:solidFill>
          <a:ln xmlns:a="http://schemas.openxmlformats.org/drawingml/2006/main" w="0">
            <a:solidFill>
              <a:srgbClr val="6F2B8D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BFA89B1-4235-4CD7-AB7D-AC3455A0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33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6F2B8D"/>
                </a:solidFill>
              </a:defRPr>
            </a:pPr>
            <a:r>
              <a:rPr sz="593" b="1">
                <a:solidFill>
                  <a:srgbClr val="6F2B8D"/>
                </a:solidFill>
              </a:rPr>
              <a:t>CUSTODY &amp; MOVEMENT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83C143B-95B4-4EC0-AAAE-78FEDD1A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990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7EAE655-1B74-4927-8E02-193E5E06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43350"/>
            <a:ext cx="17907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Logging, monitoring and collateral release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F51DA8F-E713-4C2D-94B5-B0713047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2052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1267140-BB16-4328-AFD6-2DA2F22A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157663"/>
            <a:ext cx="17907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Temporary Vault Out / Vault In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AE7B9AB-CDD2-486A-8173-E655C3B9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19600"/>
            <a:ext cx="19240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3D66667-88F8-498D-86DC-5EB120DD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2912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EA82B6D-E995-4E25-B5B5-452D17BC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AC8E0"/>
                </a:solidFill>
              </a:defRPr>
            </a:pPr>
            <a:r>
              <a:rPr sz="593" b="1">
                <a:solidFill>
                  <a:srgbClr val="1AC8E0"/>
                </a:solidFill>
              </a:rPr>
              <a:t>INTEGRATED OPERATIONS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105E512-A119-4372-9772-77E3CFCD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7339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24C610B-B287-4FA0-B934-BE8C24FB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686300"/>
            <a:ext cx="17907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Webcam and packet management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9B81E93-F434-403A-8149-F09D3D46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94823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79E3418-FD89-4061-B403-CBE5F464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900613"/>
            <a:ext cx="17907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Neo Suite integration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DBAB00C-AE0A-4408-A0DF-2C541379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62550"/>
            <a:ext cx="19240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A4FCEB8-74F3-4462-80F2-FFA63FC8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72075"/>
            <a:ext cx="381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D7EB8B7B-8F16-4FE2-8DCD-150C6B0A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VISIBILITY &amp; REPORTING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EC5FB2F-3CDE-432A-B811-EDEB9B1B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476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3B39BFD-07A9-48A6-944B-23D1BD09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429250"/>
            <a:ext cx="17907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Inventory snapshot and real-time dashboards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C0E3D01-5106-4492-AE39-16CC7F9D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691188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15F8441-DBA3-44AC-9ED7-822C99E3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43563"/>
            <a:ext cx="1790700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Reports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7CF9205-0204-4CFD-9708-9BD61477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19350"/>
            <a:ext cx="2209800" cy="438150"/>
          </a:xfrm>
          <a:prstGeom xmlns:a="http://schemas.openxmlformats.org/drawingml/2006/main" prst="roundRect">
            <a:avLst>
              <a:gd name="adj" fmla="val 28261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E5A9BA2-8989-4D2C-AC10-D382C04C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86025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14CAA8E-E6AA-4526-9DFA-BC012FCD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05075"/>
            <a:ext cx="514350" cy="2667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1B3D56B-466E-4CAA-822E-AD981BA5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53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53" b="1">
                <a:solidFill>
                  <a:srgbClr val="1AC8E0"/>
                </a:solidFill>
              </a:defRPr>
            </a:pPr>
            <a:r>
              <a:rPr sz="653" b="1">
                <a:solidFill>
                  <a:srgbClr val="1AC8E0"/>
                </a:solidFill>
              </a:rPr>
              <a:t>70 SP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07539A3-914D-4F21-B42D-F2C12F88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33700"/>
            <a:ext cx="2209800" cy="29718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9F2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28E063B-460A-41B7-A8B8-EB58E71F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43225"/>
            <a:ext cx="381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53C7"/>
          </a:solidFill>
          <a:ln xmlns:a="http://schemas.openxmlformats.org/drawingml/2006/main" w="0">
            <a:solidFill>
              <a:srgbClr val="0653C7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111BBA9-FF04-44D8-98CE-8290A5D9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908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0653C7"/>
                </a:solidFill>
              </a:defRPr>
            </a:pPr>
            <a:r>
              <a:rPr sz="593" b="1">
                <a:solidFill>
                  <a:srgbClr val="0653C7"/>
                </a:solidFill>
              </a:rPr>
              <a:t>PRODUCT CONFIGURATION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D7E1CDC-EA94-459B-BE60-9ADECFF2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2480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D33F489-3C87-4E68-BB27-173CEFBE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200400"/>
            <a:ext cx="18478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Repayment Master enhancements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4A1653D-E77A-4998-A7C6-EDE7C46E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5861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65189022-FBEC-40F5-A6B4-A021BC64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538538"/>
            <a:ext cx="18478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Quarterly / half-yearly bullet changes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A10FA8B-D289-4127-A463-4A276F43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924300"/>
            <a:ext cx="1981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2F28125-91B9-49E9-A403-C300394C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33825"/>
            <a:ext cx="381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AC8E0"/>
          </a:solidFill>
          <a:ln xmlns:a="http://schemas.openxmlformats.org/drawingml/2006/main" w="0">
            <a:solidFill>
              <a:srgbClr val="1AC8E0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CE9EBCC-9F9D-477E-8D32-18124F6A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814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AC8E0"/>
                </a:solidFill>
              </a:defRPr>
            </a:pPr>
            <a:r>
              <a:rPr sz="593" b="1">
                <a:solidFill>
                  <a:srgbClr val="1AC8E0"/>
                </a:solidFill>
              </a:rPr>
              <a:t>CUSTOMER &amp; RATE DATA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C538F7F-415B-48D1-8626-AC459610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238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A78CE575-550D-475F-B85F-56E8C99C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191000"/>
            <a:ext cx="18478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Nominee details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28BFC1E-EF8F-44B6-B5B9-3F40E6D0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45767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E28DED3-FACD-40EB-AE77-18BDA370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529138"/>
            <a:ext cx="18478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Gold Rate Master synchronization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C242ECC-1579-4F68-BA8F-33B966B8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14900"/>
            <a:ext cx="1981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F2"/>
          </a:solidFill>
          <a:ln xmlns:a="http://schemas.openxmlformats.org/drawingml/2006/main" w="0">
            <a:solidFill>
              <a:srgbClr val="E1E9F2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CB913B5-94DC-4760-9506-E83F846C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24425"/>
            <a:ext cx="381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F9F"/>
          </a:solidFill>
          <a:ln xmlns:a="http://schemas.openxmlformats.org/drawingml/2006/main" w="0">
            <a:solidFill>
              <a:srgbClr val="138F9F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CEFC75D-B96D-45D6-94EF-785529CB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720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93" b="1">
                <a:solidFill>
                  <a:srgbClr val="138F9F"/>
                </a:solidFill>
              </a:defRPr>
            </a:pPr>
            <a:r>
              <a:rPr sz="593" b="1">
                <a:solidFill>
                  <a:srgbClr val="138F9F"/>
                </a:solidFill>
              </a:rPr>
              <a:t>CONTROL INTEGRATION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A83BAA9D-67E5-438C-9965-CCFF97B0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2292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913A6436-1827-4B3B-849A-5AA76BDC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181600"/>
            <a:ext cx="18478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Vault and Audit integration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68AB4B8C-1CF4-4FED-A36A-F578D46A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5567363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solidFill>
              <a:srgbClr val="287BC1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D33E2F6-D821-4D19-859E-780A61EF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5519738"/>
            <a:ext cx="1847850" cy="338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000137"/>
                </a:solidFill>
              </a:defRPr>
            </a:pPr>
            <a:r>
              <a:rPr sz="638" b="0">
                <a:solidFill>
                  <a:srgbClr val="000137"/>
                </a:solidFill>
              </a:rPr>
              <a:t>Vault-level CMS changes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AC44909-16CB-485A-B7CE-A8561847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6038850"/>
            <a:ext cx="116967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00137"/>
          </a:solidFill>
          <a:ln xmlns:a="http://schemas.openxmlformats.org/drawingml/2006/main" w="0">
            <a:solidFill>
              <a:srgbClr val="000137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28643E7-36BF-4657-9CEF-F02B44CD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341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AC8E0"/>
                </a:solidFill>
              </a:defRPr>
            </a:pPr>
            <a:r>
              <a:rPr sz="675" b="1">
                <a:solidFill>
                  <a:srgbClr val="1AC8E0"/>
                </a:solidFill>
              </a:rPr>
              <a:t>BOARD OUTCOME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686578B-CC75-422E-B4D4-C5631BCB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76950"/>
            <a:ext cx="998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 differentiated Gold Loan platform with controlled collateral custody, real-time assurance and digital recovery.</a:t>
            </a:r>
          </a:p>
        </p:txBody>
      </p:sp>
    </p:spTree>
    <p:extLst>
      <p:ext uri="{BB962C8B-B14F-4D97-AF65-F5344CB8AC3E}">
        <p14:creationId xmlns:p14="http://schemas.microsoft.com/office/powerpoint/2010/main" val="127863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2026-08-18T18:37:20.3560000Z</dcterms:created>
  <dcterms:modified xsi:type="dcterms:W3CDTF">2026-08-18T18:37:20.3560000Z</dcterms:modified>
</coreProperties>
</file>